
<file path=[Content_Types].xml><?xml version="1.0" encoding="utf-8"?>
<Types xmlns="http://schemas.openxmlformats.org/package/2006/content-types">
  <Default Extension="png" ContentType="image/png"/>
  <Default Extension="tmp"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4"/>
  </p:notesMasterIdLst>
  <p:handoutMasterIdLst>
    <p:handoutMasterId r:id="rId45"/>
  </p:handoutMasterIdLst>
  <p:sldIdLst>
    <p:sldId id="256" r:id="rId2"/>
    <p:sldId id="257" r:id="rId3"/>
    <p:sldId id="258" r:id="rId4"/>
    <p:sldId id="263" r:id="rId5"/>
    <p:sldId id="269" r:id="rId6"/>
    <p:sldId id="292" r:id="rId7"/>
    <p:sldId id="312" r:id="rId8"/>
    <p:sldId id="265" r:id="rId9"/>
    <p:sldId id="290" r:id="rId10"/>
    <p:sldId id="288" r:id="rId11"/>
    <p:sldId id="286" r:id="rId12"/>
    <p:sldId id="284" r:id="rId13"/>
    <p:sldId id="259" r:id="rId14"/>
    <p:sldId id="266" r:id="rId15"/>
    <p:sldId id="267" r:id="rId16"/>
    <p:sldId id="270" r:id="rId17"/>
    <p:sldId id="271" r:id="rId18"/>
    <p:sldId id="296" r:id="rId19"/>
    <p:sldId id="272" r:id="rId20"/>
    <p:sldId id="297" r:id="rId21"/>
    <p:sldId id="309" r:id="rId22"/>
    <p:sldId id="310" r:id="rId23"/>
    <p:sldId id="298" r:id="rId24"/>
    <p:sldId id="268" r:id="rId25"/>
    <p:sldId id="279" r:id="rId26"/>
    <p:sldId id="300" r:id="rId27"/>
    <p:sldId id="301" r:id="rId28"/>
    <p:sldId id="307" r:id="rId29"/>
    <p:sldId id="317" r:id="rId30"/>
    <p:sldId id="318" r:id="rId31"/>
    <p:sldId id="299" r:id="rId32"/>
    <p:sldId id="306" r:id="rId33"/>
    <p:sldId id="302" r:id="rId34"/>
    <p:sldId id="303" r:id="rId35"/>
    <p:sldId id="313" r:id="rId36"/>
    <p:sldId id="304" r:id="rId37"/>
    <p:sldId id="305" r:id="rId38"/>
    <p:sldId id="260" r:id="rId39"/>
    <p:sldId id="314" r:id="rId40"/>
    <p:sldId id="315" r:id="rId41"/>
    <p:sldId id="261" r:id="rId42"/>
    <p:sldId id="308" r:id="rId4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33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890" autoAdjust="0"/>
    <p:restoredTop sz="91402" autoAdjust="0"/>
  </p:normalViewPr>
  <p:slideViewPr>
    <p:cSldViewPr>
      <p:cViewPr>
        <p:scale>
          <a:sx n="80" d="100"/>
          <a:sy n="80" d="100"/>
        </p:scale>
        <p:origin x="-1123" y="-58"/>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xmlns="" id="{E62EA5C9-275E-64F5-9E2E-D7984592466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a:extLst>
              <a:ext uri="{FF2B5EF4-FFF2-40B4-BE49-F238E27FC236}">
                <a16:creationId xmlns:a16="http://schemas.microsoft.com/office/drawing/2014/main" xmlns="" id="{752FA14E-890A-CAD0-83DB-7B8500344847}"/>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794AAED-BCDA-4CAB-81D6-9A35E3830A18}" type="datetimeFigureOut">
              <a:rPr lang="en-IN" smtClean="0"/>
              <a:t>13-05-2024</a:t>
            </a:fld>
            <a:endParaRPr lang="en-IN"/>
          </a:p>
        </p:txBody>
      </p:sp>
      <p:sp>
        <p:nvSpPr>
          <p:cNvPr id="4" name="Footer Placeholder 3">
            <a:extLst>
              <a:ext uri="{FF2B5EF4-FFF2-40B4-BE49-F238E27FC236}">
                <a16:creationId xmlns:a16="http://schemas.microsoft.com/office/drawing/2014/main" xmlns="" id="{9E73267F-DDE9-F2E1-84A5-6E5DF80EB602}"/>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r>
              <a:rPr lang="en-IN"/>
              <a:t>Slide Number :</a:t>
            </a:r>
          </a:p>
        </p:txBody>
      </p:sp>
      <p:sp>
        <p:nvSpPr>
          <p:cNvPr id="5" name="Slide Number Placeholder 4">
            <a:extLst>
              <a:ext uri="{FF2B5EF4-FFF2-40B4-BE49-F238E27FC236}">
                <a16:creationId xmlns:a16="http://schemas.microsoft.com/office/drawing/2014/main" xmlns="" id="{08D0D91C-4D7E-4341-3777-9BF828FDC002}"/>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8BDB8B2-DEE9-4088-B0EC-96993C051F07}" type="slidenum">
              <a:rPr lang="en-IN" smtClean="0"/>
              <a:t>‹#›</a:t>
            </a:fld>
            <a:endParaRPr lang="en-IN"/>
          </a:p>
        </p:txBody>
      </p:sp>
    </p:spTree>
    <p:extLst>
      <p:ext uri="{BB962C8B-B14F-4D97-AF65-F5344CB8AC3E}">
        <p14:creationId xmlns:p14="http://schemas.microsoft.com/office/powerpoint/2010/main" val="87051566"/>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C942AD9-36DE-4DD0-AF0A-E211DB78D0B5}" type="datetimeFigureOut">
              <a:rPr lang="en-US" smtClean="0"/>
              <a:t>5/13/2024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r>
              <a:rPr lang="en-US"/>
              <a:t>Slide Number :</a:t>
            </a:r>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B916266-2922-41AE-BB9A-0E75A4DF5522}" type="slidenum">
              <a:rPr lang="en-US" smtClean="0"/>
              <a:t>‹#›</a:t>
            </a:fld>
            <a:endParaRPr lang="en-US"/>
          </a:p>
        </p:txBody>
      </p:sp>
    </p:spTree>
    <p:extLst>
      <p:ext uri="{BB962C8B-B14F-4D97-AF65-F5344CB8AC3E}">
        <p14:creationId xmlns:p14="http://schemas.microsoft.com/office/powerpoint/2010/main" val="707632451"/>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FA7A2D1A-2C65-4083-8A8B-64DF1A4341AB}" type="datetime1">
              <a:rPr lang="en-US" smtClean="0"/>
              <a:t>5/13/2024</a:t>
            </a:fld>
            <a:endParaRPr lang="en-US"/>
          </a:p>
        </p:txBody>
      </p:sp>
      <p:sp>
        <p:nvSpPr>
          <p:cNvPr id="5" name="Footer Placeholder 4"/>
          <p:cNvSpPr>
            <a:spLocks noGrp="1"/>
          </p:cNvSpPr>
          <p:nvPr>
            <p:ph type="ftr" sz="quarter" idx="11"/>
          </p:nvPr>
        </p:nvSpPr>
        <p:spPr/>
        <p:txBody>
          <a:bodyPr/>
          <a:lstStyle/>
          <a:p>
            <a:r>
              <a:rPr lang="en-US"/>
              <a:t>DEPARTMENT OF COMPUTER SCIENCE AND ENGINEERING – CYBER SECURITY</a:t>
            </a:r>
            <a:endParaRPr lang="en-US" dirty="0"/>
          </a:p>
        </p:txBody>
      </p:sp>
      <p:sp>
        <p:nvSpPr>
          <p:cNvPr id="6" name="Slide Number Placeholder 5"/>
          <p:cNvSpPr>
            <a:spLocks noGrp="1"/>
          </p:cNvSpPr>
          <p:nvPr>
            <p:ph type="sldNum" sz="quarter" idx="12"/>
          </p:nvPr>
        </p:nvSpPr>
        <p:spPr/>
        <p:txBody>
          <a:bodyPr/>
          <a:lstStyle/>
          <a:p>
            <a:fld id="{BECDEB80-DBCE-406A-80BF-FEBEE692EE79}" type="slidenum">
              <a:rPr lang="en-US" smtClean="0"/>
              <a:t>‹#›</a:t>
            </a:fld>
            <a:endParaRPr lang="en-US"/>
          </a:p>
        </p:txBody>
      </p:sp>
    </p:spTree>
    <p:extLst>
      <p:ext uri="{BB962C8B-B14F-4D97-AF65-F5344CB8AC3E}">
        <p14:creationId xmlns:p14="http://schemas.microsoft.com/office/powerpoint/2010/main" val="7019604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29615A-0383-4A50-9FA6-92B32855006A}" type="datetime1">
              <a:rPr lang="en-US" smtClean="0"/>
              <a:t>5/13/2024</a:t>
            </a:fld>
            <a:endParaRPr lang="en-US"/>
          </a:p>
        </p:txBody>
      </p:sp>
      <p:sp>
        <p:nvSpPr>
          <p:cNvPr id="5" name="Footer Placeholder 4"/>
          <p:cNvSpPr>
            <a:spLocks noGrp="1"/>
          </p:cNvSpPr>
          <p:nvPr>
            <p:ph type="ftr" sz="quarter" idx="11"/>
          </p:nvPr>
        </p:nvSpPr>
        <p:spPr/>
        <p:txBody>
          <a:bodyPr/>
          <a:lstStyle/>
          <a:p>
            <a:r>
              <a:rPr lang="en-US"/>
              <a:t>DEPARTMENT OF COMPUTER SCIENCE AND ENGINEERING – CYBER SECURITY</a:t>
            </a:r>
            <a:endParaRPr lang="en-US" dirty="0"/>
          </a:p>
        </p:txBody>
      </p:sp>
      <p:sp>
        <p:nvSpPr>
          <p:cNvPr id="6" name="Slide Number Placeholder 5"/>
          <p:cNvSpPr>
            <a:spLocks noGrp="1"/>
          </p:cNvSpPr>
          <p:nvPr>
            <p:ph type="sldNum" sz="quarter" idx="12"/>
          </p:nvPr>
        </p:nvSpPr>
        <p:spPr/>
        <p:txBody>
          <a:bodyPr/>
          <a:lstStyle/>
          <a:p>
            <a:fld id="{BECDEB80-DBCE-406A-80BF-FEBEE692EE79}" type="slidenum">
              <a:rPr lang="en-US" smtClean="0"/>
              <a:t>‹#›</a:t>
            </a:fld>
            <a:endParaRPr lang="en-US"/>
          </a:p>
        </p:txBody>
      </p:sp>
    </p:spTree>
    <p:extLst>
      <p:ext uri="{BB962C8B-B14F-4D97-AF65-F5344CB8AC3E}">
        <p14:creationId xmlns:p14="http://schemas.microsoft.com/office/powerpoint/2010/main" val="34668799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FABA9F0-BF12-46C6-9813-4B23CA16719D}" type="datetime1">
              <a:rPr lang="en-US" smtClean="0"/>
              <a:t>5/13/2024</a:t>
            </a:fld>
            <a:endParaRPr lang="en-US"/>
          </a:p>
        </p:txBody>
      </p:sp>
      <p:sp>
        <p:nvSpPr>
          <p:cNvPr id="5" name="Footer Placeholder 4"/>
          <p:cNvSpPr>
            <a:spLocks noGrp="1"/>
          </p:cNvSpPr>
          <p:nvPr>
            <p:ph type="ftr" sz="quarter" idx="11"/>
          </p:nvPr>
        </p:nvSpPr>
        <p:spPr/>
        <p:txBody>
          <a:bodyPr/>
          <a:lstStyle/>
          <a:p>
            <a:r>
              <a:rPr lang="en-US"/>
              <a:t>DEPARTMENT OF COMPUTER SCIENCE AND ENGINEERING – CYBER SECURITY</a:t>
            </a:r>
            <a:endParaRPr lang="en-US" dirty="0"/>
          </a:p>
        </p:txBody>
      </p:sp>
      <p:sp>
        <p:nvSpPr>
          <p:cNvPr id="6" name="Slide Number Placeholder 5"/>
          <p:cNvSpPr>
            <a:spLocks noGrp="1"/>
          </p:cNvSpPr>
          <p:nvPr>
            <p:ph type="sldNum" sz="quarter" idx="12"/>
          </p:nvPr>
        </p:nvSpPr>
        <p:spPr/>
        <p:txBody>
          <a:bodyPr/>
          <a:lstStyle/>
          <a:p>
            <a:fld id="{BECDEB80-DBCE-406A-80BF-FEBEE692EE79}" type="slidenum">
              <a:rPr lang="en-US" smtClean="0"/>
              <a:t>‹#›</a:t>
            </a:fld>
            <a:endParaRPr lang="en-US"/>
          </a:p>
        </p:txBody>
      </p:sp>
    </p:spTree>
    <p:extLst>
      <p:ext uri="{BB962C8B-B14F-4D97-AF65-F5344CB8AC3E}">
        <p14:creationId xmlns:p14="http://schemas.microsoft.com/office/powerpoint/2010/main" val="14648728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E5F4EC73-E284-4C6D-9845-B248D501B6AC}" type="datetime1">
              <a:rPr lang="en-US" smtClean="0"/>
              <a:t>5/13/2024</a:t>
            </a:fld>
            <a:endParaRPr lang="en-US"/>
          </a:p>
        </p:txBody>
      </p:sp>
      <p:sp>
        <p:nvSpPr>
          <p:cNvPr id="6" name="Footer Placeholder 5"/>
          <p:cNvSpPr>
            <a:spLocks noGrp="1"/>
          </p:cNvSpPr>
          <p:nvPr>
            <p:ph type="ftr" sz="quarter" idx="11"/>
          </p:nvPr>
        </p:nvSpPr>
        <p:spPr/>
        <p:txBody>
          <a:bodyPr/>
          <a:lstStyle/>
          <a:p>
            <a:r>
              <a:rPr lang="en-US"/>
              <a:t>DEPARTMENT OF COMPUTER SCIENCE AND ENGINEERING – CYBER SECURITY</a:t>
            </a:r>
            <a:endParaRPr lang="en-US" dirty="0"/>
          </a:p>
        </p:txBody>
      </p:sp>
      <p:sp>
        <p:nvSpPr>
          <p:cNvPr id="7" name="Slide Number Placeholder 6"/>
          <p:cNvSpPr>
            <a:spLocks noGrp="1"/>
          </p:cNvSpPr>
          <p:nvPr>
            <p:ph type="sldNum" sz="quarter" idx="12"/>
          </p:nvPr>
        </p:nvSpPr>
        <p:spPr/>
        <p:txBody>
          <a:bodyPr/>
          <a:lstStyle/>
          <a:p>
            <a:fld id="{BECDEB80-DBCE-406A-80BF-FEBEE692EE79}" type="slidenum">
              <a:rPr lang="en-US" smtClean="0"/>
              <a:t>‹#›</a:t>
            </a:fld>
            <a:endParaRPr lang="en-US"/>
          </a:p>
        </p:txBody>
      </p:sp>
    </p:spTree>
    <p:extLst>
      <p:ext uri="{BB962C8B-B14F-4D97-AF65-F5344CB8AC3E}">
        <p14:creationId xmlns:p14="http://schemas.microsoft.com/office/powerpoint/2010/main" val="12607575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B93C5C1C-10A3-43B2-9386-6F1249139F68}" type="datetime1">
              <a:rPr lang="en-US" smtClean="0"/>
              <a:t>5/13/2024</a:t>
            </a:fld>
            <a:endParaRPr lang="en-US"/>
          </a:p>
        </p:txBody>
      </p:sp>
      <p:sp>
        <p:nvSpPr>
          <p:cNvPr id="8" name="Footer Placeholder 7"/>
          <p:cNvSpPr>
            <a:spLocks noGrp="1"/>
          </p:cNvSpPr>
          <p:nvPr>
            <p:ph type="ftr" sz="quarter" idx="11"/>
          </p:nvPr>
        </p:nvSpPr>
        <p:spPr/>
        <p:txBody>
          <a:bodyPr/>
          <a:lstStyle/>
          <a:p>
            <a:r>
              <a:rPr lang="en-US"/>
              <a:t>DEPARTMENT OF COMPUTER SCIENCE AND ENGINEERING – CYBER SECURITY</a:t>
            </a:r>
            <a:endParaRPr lang="en-US" dirty="0"/>
          </a:p>
        </p:txBody>
      </p:sp>
      <p:sp>
        <p:nvSpPr>
          <p:cNvPr id="9" name="Slide Number Placeholder 8"/>
          <p:cNvSpPr>
            <a:spLocks noGrp="1"/>
          </p:cNvSpPr>
          <p:nvPr>
            <p:ph type="sldNum" sz="quarter" idx="12"/>
          </p:nvPr>
        </p:nvSpPr>
        <p:spPr/>
        <p:txBody>
          <a:bodyPr/>
          <a:lstStyle/>
          <a:p>
            <a:fld id="{BECDEB80-DBCE-406A-80BF-FEBEE692EE79}" type="slidenum">
              <a:rPr lang="en-US" smtClean="0"/>
              <a:t>‹#›</a:t>
            </a:fld>
            <a:endParaRPr lang="en-US"/>
          </a:p>
        </p:txBody>
      </p:sp>
    </p:spTree>
    <p:extLst>
      <p:ext uri="{BB962C8B-B14F-4D97-AF65-F5344CB8AC3E}">
        <p14:creationId xmlns:p14="http://schemas.microsoft.com/office/powerpoint/2010/main" val="37474945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7BA201B-EEB4-4695-83BF-292CC8531C96}" type="datetime1">
              <a:rPr lang="en-US" smtClean="0"/>
              <a:t>5/13/2024</a:t>
            </a:fld>
            <a:endParaRPr lang="en-US"/>
          </a:p>
        </p:txBody>
      </p:sp>
      <p:sp>
        <p:nvSpPr>
          <p:cNvPr id="4" name="Footer Placeholder 3"/>
          <p:cNvSpPr>
            <a:spLocks noGrp="1"/>
          </p:cNvSpPr>
          <p:nvPr>
            <p:ph type="ftr" sz="quarter" idx="11"/>
          </p:nvPr>
        </p:nvSpPr>
        <p:spPr/>
        <p:txBody>
          <a:bodyPr/>
          <a:lstStyle/>
          <a:p>
            <a:r>
              <a:rPr lang="en-US"/>
              <a:t>DEPARTMENT OF COMPUTER SCIENCE AND ENGINEERING – CYBER SECURITY</a:t>
            </a:r>
            <a:endParaRPr lang="en-US" dirty="0"/>
          </a:p>
        </p:txBody>
      </p:sp>
      <p:sp>
        <p:nvSpPr>
          <p:cNvPr id="5" name="Slide Number Placeholder 4"/>
          <p:cNvSpPr>
            <a:spLocks noGrp="1"/>
          </p:cNvSpPr>
          <p:nvPr>
            <p:ph type="sldNum" sz="quarter" idx="12"/>
          </p:nvPr>
        </p:nvSpPr>
        <p:spPr/>
        <p:txBody>
          <a:bodyPr/>
          <a:lstStyle/>
          <a:p>
            <a:fld id="{BECDEB80-DBCE-406A-80BF-FEBEE692EE79}" type="slidenum">
              <a:rPr lang="en-US" smtClean="0"/>
              <a:t>‹#›</a:t>
            </a:fld>
            <a:endParaRPr lang="en-US"/>
          </a:p>
        </p:txBody>
      </p:sp>
    </p:spTree>
    <p:extLst>
      <p:ext uri="{BB962C8B-B14F-4D97-AF65-F5344CB8AC3E}">
        <p14:creationId xmlns:p14="http://schemas.microsoft.com/office/powerpoint/2010/main" val="38138544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A804749-8A64-4FD6-B1B5-5EC48EA1F324}" type="datetime1">
              <a:rPr lang="en-US" smtClean="0"/>
              <a:t>5/13/2024</a:t>
            </a:fld>
            <a:endParaRPr lang="en-US"/>
          </a:p>
        </p:txBody>
      </p:sp>
      <p:sp>
        <p:nvSpPr>
          <p:cNvPr id="3" name="Footer Placeholder 2"/>
          <p:cNvSpPr>
            <a:spLocks noGrp="1"/>
          </p:cNvSpPr>
          <p:nvPr>
            <p:ph type="ftr" sz="quarter" idx="11"/>
          </p:nvPr>
        </p:nvSpPr>
        <p:spPr/>
        <p:txBody>
          <a:bodyPr/>
          <a:lstStyle/>
          <a:p>
            <a:r>
              <a:rPr lang="en-US"/>
              <a:t>DEPARTMENT OF COMPUTER SCIENCE AND ENGINEERING – CYBER SECURITY</a:t>
            </a:r>
            <a:endParaRPr lang="en-US" dirty="0"/>
          </a:p>
        </p:txBody>
      </p:sp>
      <p:sp>
        <p:nvSpPr>
          <p:cNvPr id="4" name="Slide Number Placeholder 3"/>
          <p:cNvSpPr>
            <a:spLocks noGrp="1"/>
          </p:cNvSpPr>
          <p:nvPr>
            <p:ph type="sldNum" sz="quarter" idx="12"/>
          </p:nvPr>
        </p:nvSpPr>
        <p:spPr/>
        <p:txBody>
          <a:bodyPr/>
          <a:lstStyle/>
          <a:p>
            <a:fld id="{BECDEB80-DBCE-406A-80BF-FEBEE692EE79}" type="slidenum">
              <a:rPr lang="en-US" smtClean="0"/>
              <a:t>‹#›</a:t>
            </a:fld>
            <a:endParaRPr lang="en-US"/>
          </a:p>
        </p:txBody>
      </p:sp>
    </p:spTree>
    <p:extLst>
      <p:ext uri="{BB962C8B-B14F-4D97-AF65-F5344CB8AC3E}">
        <p14:creationId xmlns:p14="http://schemas.microsoft.com/office/powerpoint/2010/main" val="11473043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70E176B-6148-4C9D-9E88-FC7B7B34CA04}" type="datetime1">
              <a:rPr lang="en-US" smtClean="0"/>
              <a:t>5/13/2024</a:t>
            </a:fld>
            <a:endParaRPr lang="en-US"/>
          </a:p>
        </p:txBody>
      </p:sp>
      <p:sp>
        <p:nvSpPr>
          <p:cNvPr id="6" name="Footer Placeholder 5"/>
          <p:cNvSpPr>
            <a:spLocks noGrp="1"/>
          </p:cNvSpPr>
          <p:nvPr>
            <p:ph type="ftr" sz="quarter" idx="11"/>
          </p:nvPr>
        </p:nvSpPr>
        <p:spPr/>
        <p:txBody>
          <a:bodyPr/>
          <a:lstStyle/>
          <a:p>
            <a:r>
              <a:rPr lang="en-US"/>
              <a:t>DEPARTMENT OF COMPUTER SCIENCE AND ENGINEERING – CYBER SECURITY</a:t>
            </a:r>
            <a:endParaRPr lang="en-US" dirty="0"/>
          </a:p>
        </p:txBody>
      </p:sp>
      <p:sp>
        <p:nvSpPr>
          <p:cNvPr id="7" name="Slide Number Placeholder 6"/>
          <p:cNvSpPr>
            <a:spLocks noGrp="1"/>
          </p:cNvSpPr>
          <p:nvPr>
            <p:ph type="sldNum" sz="quarter" idx="12"/>
          </p:nvPr>
        </p:nvSpPr>
        <p:spPr/>
        <p:txBody>
          <a:bodyPr/>
          <a:lstStyle/>
          <a:p>
            <a:fld id="{BECDEB80-DBCE-406A-80BF-FEBEE692EE79}" type="slidenum">
              <a:rPr lang="en-US" smtClean="0"/>
              <a:t>‹#›</a:t>
            </a:fld>
            <a:endParaRPr lang="en-US"/>
          </a:p>
        </p:txBody>
      </p:sp>
    </p:spTree>
    <p:extLst>
      <p:ext uri="{BB962C8B-B14F-4D97-AF65-F5344CB8AC3E}">
        <p14:creationId xmlns:p14="http://schemas.microsoft.com/office/powerpoint/2010/main" val="27984048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7FE7C20-CC16-4B5C-84DD-15213736DD86}" type="datetime1">
              <a:rPr lang="en-US" smtClean="0"/>
              <a:t>5/13/2024</a:t>
            </a:fld>
            <a:endParaRPr lang="en-US"/>
          </a:p>
        </p:txBody>
      </p:sp>
      <p:sp>
        <p:nvSpPr>
          <p:cNvPr id="6" name="Footer Placeholder 5"/>
          <p:cNvSpPr>
            <a:spLocks noGrp="1"/>
          </p:cNvSpPr>
          <p:nvPr>
            <p:ph type="ftr" sz="quarter" idx="11"/>
          </p:nvPr>
        </p:nvSpPr>
        <p:spPr/>
        <p:txBody>
          <a:bodyPr/>
          <a:lstStyle/>
          <a:p>
            <a:r>
              <a:rPr lang="en-US"/>
              <a:t>DEPARTMENT OF COMPUTER SCIENCE AND ENGINEERING – CYBER SECURITY</a:t>
            </a:r>
            <a:endParaRPr lang="en-US" dirty="0"/>
          </a:p>
        </p:txBody>
      </p:sp>
      <p:sp>
        <p:nvSpPr>
          <p:cNvPr id="7" name="Slide Number Placeholder 6"/>
          <p:cNvSpPr>
            <a:spLocks noGrp="1"/>
          </p:cNvSpPr>
          <p:nvPr>
            <p:ph type="sldNum" sz="quarter" idx="12"/>
          </p:nvPr>
        </p:nvSpPr>
        <p:spPr/>
        <p:txBody>
          <a:bodyPr/>
          <a:lstStyle/>
          <a:p>
            <a:fld id="{BECDEB80-DBCE-406A-80BF-FEBEE692EE79}" type="slidenum">
              <a:rPr lang="en-US" smtClean="0"/>
              <a:t>‹#›</a:t>
            </a:fld>
            <a:endParaRPr lang="en-US"/>
          </a:p>
        </p:txBody>
      </p:sp>
    </p:spTree>
    <p:extLst>
      <p:ext uri="{BB962C8B-B14F-4D97-AF65-F5344CB8AC3E}">
        <p14:creationId xmlns:p14="http://schemas.microsoft.com/office/powerpoint/2010/main" val="2167702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FE3351-6043-405E-AA40-BDE98D9DBDE0}" type="datetime1">
              <a:rPr lang="en-US" smtClean="0"/>
              <a:t>5/13/2024</a:t>
            </a:fld>
            <a:endParaRPr lang="en-US"/>
          </a:p>
        </p:txBody>
      </p:sp>
      <p:sp>
        <p:nvSpPr>
          <p:cNvPr id="5" name="Footer Placeholder 4"/>
          <p:cNvSpPr>
            <a:spLocks noGrp="1"/>
          </p:cNvSpPr>
          <p:nvPr>
            <p:ph type="ftr" sz="quarter" idx="11"/>
          </p:nvPr>
        </p:nvSpPr>
        <p:spPr/>
        <p:txBody>
          <a:bodyPr/>
          <a:lstStyle/>
          <a:p>
            <a:r>
              <a:rPr lang="en-US"/>
              <a:t>DEPARTMENT OF COMPUTER SCIENCE AND ENGINEERING – CYBER SECURITY</a:t>
            </a:r>
            <a:endParaRPr lang="en-US" dirty="0"/>
          </a:p>
        </p:txBody>
      </p:sp>
      <p:sp>
        <p:nvSpPr>
          <p:cNvPr id="6" name="Slide Number Placeholder 5"/>
          <p:cNvSpPr>
            <a:spLocks noGrp="1"/>
          </p:cNvSpPr>
          <p:nvPr>
            <p:ph type="sldNum" sz="quarter" idx="12"/>
          </p:nvPr>
        </p:nvSpPr>
        <p:spPr/>
        <p:txBody>
          <a:bodyPr/>
          <a:lstStyle/>
          <a:p>
            <a:fld id="{BECDEB80-DBCE-406A-80BF-FEBEE692EE79}" type="slidenum">
              <a:rPr lang="en-US" smtClean="0"/>
              <a:t>‹#›</a:t>
            </a:fld>
            <a:endParaRPr lang="en-US"/>
          </a:p>
        </p:txBody>
      </p:sp>
    </p:spTree>
    <p:extLst>
      <p:ext uri="{BB962C8B-B14F-4D97-AF65-F5344CB8AC3E}">
        <p14:creationId xmlns:p14="http://schemas.microsoft.com/office/powerpoint/2010/main" val="3845219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52B446-EA88-40B6-A844-40EEBEB4DE43}" type="datetime1">
              <a:rPr lang="en-US" smtClean="0"/>
              <a:t>5/13/2024</a:t>
            </a:fld>
            <a:endParaRPr lang="en-US"/>
          </a:p>
        </p:txBody>
      </p:sp>
      <p:sp>
        <p:nvSpPr>
          <p:cNvPr id="5" name="Footer Placeholder 4"/>
          <p:cNvSpPr>
            <a:spLocks noGrp="1"/>
          </p:cNvSpPr>
          <p:nvPr>
            <p:ph type="ftr" sz="quarter" idx="11"/>
          </p:nvPr>
        </p:nvSpPr>
        <p:spPr/>
        <p:txBody>
          <a:bodyPr/>
          <a:lstStyle/>
          <a:p>
            <a:r>
              <a:rPr lang="en-US"/>
              <a:t>DEPARTMENT OF COMPUTER SCIENCE AND ENGINEERING – CYBER SECURITY</a:t>
            </a:r>
            <a:endParaRPr lang="en-US" dirty="0"/>
          </a:p>
        </p:txBody>
      </p:sp>
      <p:sp>
        <p:nvSpPr>
          <p:cNvPr id="6" name="Slide Number Placeholder 5"/>
          <p:cNvSpPr>
            <a:spLocks noGrp="1"/>
          </p:cNvSpPr>
          <p:nvPr>
            <p:ph type="sldNum" sz="quarter" idx="12"/>
          </p:nvPr>
        </p:nvSpPr>
        <p:spPr/>
        <p:txBody>
          <a:bodyPr/>
          <a:lstStyle/>
          <a:p>
            <a:fld id="{BECDEB80-DBCE-406A-80BF-FEBEE692EE79}" type="slidenum">
              <a:rPr lang="en-US" smtClean="0"/>
              <a:t>‹#›</a:t>
            </a:fld>
            <a:endParaRPr lang="en-US"/>
          </a:p>
        </p:txBody>
      </p:sp>
    </p:spTree>
    <p:extLst>
      <p:ext uri="{BB962C8B-B14F-4D97-AF65-F5344CB8AC3E}">
        <p14:creationId xmlns:p14="http://schemas.microsoft.com/office/powerpoint/2010/main" val="13981107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E68754B-2BDD-441F-A8E5-F79DD798BB5D}" type="datetime1">
              <a:rPr lang="en-US" smtClean="0"/>
              <a:t>5/13/2024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DEPARTMENT OF COMPUTER SCIENCE AND ENGINEERING – CYBER SECURITY</a:t>
            </a:r>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ECDEB80-DBCE-406A-80BF-FEBEE692EE79}" type="slidenum">
              <a:rPr lang="en-US" smtClean="0"/>
              <a:t>‹#›</a:t>
            </a:fld>
            <a:endParaRPr lang="en-US"/>
          </a:p>
        </p:txBody>
      </p:sp>
    </p:spTree>
    <p:extLst>
      <p:ext uri="{BB962C8B-B14F-4D97-AF65-F5344CB8AC3E}">
        <p14:creationId xmlns:p14="http://schemas.microsoft.com/office/powerpoint/2010/main" val="294162563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3" Type="http://schemas.openxmlformats.org/officeDocument/2006/relationships/image" Target="../media/image6.tmp"/><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tmp"/></Relationships>
</file>

<file path=ppt/slides/_rels/slide35.xml.rels><?xml version="1.0" encoding="UTF-8" standalone="yes"?>
<Relationships xmlns="http://schemas.openxmlformats.org/package/2006/relationships"><Relationship Id="rId3" Type="http://schemas.openxmlformats.org/officeDocument/2006/relationships/image" Target="../media/image9.tmp"/><Relationship Id="rId2" Type="http://schemas.openxmlformats.org/officeDocument/2006/relationships/image" Target="../media/image8.tmp"/><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hyperlink" Target="https://www2.deloitte.com/content/dam/Deloitte/de/Documents/risk/" TargetMode="Externa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590800" y="117107"/>
            <a:ext cx="6248400" cy="1330326"/>
          </a:xfrm>
        </p:spPr>
        <p:txBody>
          <a:bodyPr>
            <a:noAutofit/>
          </a:bodyPr>
          <a:lstStyle/>
          <a:p>
            <a:r>
              <a:rPr lang="en-US" sz="1800" b="1" dirty="0">
                <a:latin typeface="Times New Roman" panose="02020603050405020304" pitchFamily="18" charset="0"/>
                <a:cs typeface="Times New Roman" panose="02020603050405020304" pitchFamily="18" charset="0"/>
              </a:rPr>
              <a:t>SRM INSTITUTE OF SCIENCE AND TECHNOLOGY</a:t>
            </a:r>
            <a:br>
              <a:rPr lang="en-US" sz="1800" b="1" dirty="0">
                <a:latin typeface="Times New Roman" panose="02020603050405020304" pitchFamily="18" charset="0"/>
                <a:cs typeface="Times New Roman" panose="02020603050405020304" pitchFamily="18" charset="0"/>
              </a:rPr>
            </a:br>
            <a:r>
              <a:rPr lang="en-US" sz="1800" b="1" dirty="0" err="1">
                <a:latin typeface="Times New Roman" panose="02020603050405020304" pitchFamily="18" charset="0"/>
                <a:cs typeface="Times New Roman" panose="02020603050405020304" pitchFamily="18" charset="0"/>
              </a:rPr>
              <a:t>Ramapuram</a:t>
            </a:r>
            <a:r>
              <a:rPr lang="en-US" sz="1800" b="1" dirty="0">
                <a:latin typeface="Times New Roman" panose="02020603050405020304" pitchFamily="18" charset="0"/>
                <a:cs typeface="Times New Roman" panose="02020603050405020304" pitchFamily="18" charset="0"/>
              </a:rPr>
              <a:t>, Chennai – 600 089</a:t>
            </a:r>
            <a:br>
              <a:rPr lang="en-US" sz="1800" b="1" dirty="0">
                <a:latin typeface="Times New Roman" panose="02020603050405020304" pitchFamily="18" charset="0"/>
                <a:cs typeface="Times New Roman" panose="02020603050405020304" pitchFamily="18" charset="0"/>
              </a:rPr>
            </a:br>
            <a:r>
              <a:rPr lang="en-US" sz="1600" b="1" dirty="0">
                <a:latin typeface="Times New Roman" panose="02020603050405020304" pitchFamily="18" charset="0"/>
                <a:cs typeface="Times New Roman" panose="02020603050405020304" pitchFamily="18" charset="0"/>
              </a:rPr>
              <a:t>DEPARTMENT OF COMPUTER SCIENCE AND ENGINEERING – CYBER SECURITY</a:t>
            </a:r>
            <a:endParaRPr lang="en-US" sz="1800" dirty="0">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381000" y="1477752"/>
            <a:ext cx="8382000" cy="1713095"/>
          </a:xfrm>
        </p:spPr>
        <p:txBody>
          <a:bodyPr>
            <a:noAutofit/>
          </a:bodyPr>
          <a:lstStyle/>
          <a:p>
            <a:r>
              <a:rPr lang="en-IN" sz="2800" b="1" dirty="0">
                <a:solidFill>
                  <a:schemeClr val="tx1"/>
                </a:solidFill>
                <a:latin typeface="Times New Roman" panose="02020603050405020304" pitchFamily="18" charset="0"/>
                <a:cs typeface="Times New Roman" panose="02020603050405020304" pitchFamily="18" charset="0"/>
              </a:rPr>
              <a:t>18CSP109L-PROJECT </a:t>
            </a:r>
            <a:endParaRPr lang="en-US" sz="2800" b="1" dirty="0">
              <a:solidFill>
                <a:schemeClr val="tx1"/>
              </a:solidFill>
              <a:latin typeface="Times New Roman" panose="02020603050405020304" pitchFamily="18" charset="0"/>
              <a:cs typeface="Times New Roman" panose="02020603050405020304" pitchFamily="18" charset="0"/>
            </a:endParaRPr>
          </a:p>
          <a:p>
            <a:r>
              <a:rPr lang="en-US" sz="2400" b="1" dirty="0">
                <a:solidFill>
                  <a:schemeClr val="tx1"/>
                </a:solidFill>
                <a:latin typeface="Times New Roman" panose="02020603050405020304" pitchFamily="18" charset="0"/>
                <a:cs typeface="Times New Roman" panose="02020603050405020304" pitchFamily="18" charset="0"/>
              </a:rPr>
              <a:t>ENHANCING THE PREDICTION OF DDoS ATTACK IN IoT NETWORK USING CONTEXT CORRELATION AWARE MODEL </a:t>
            </a:r>
          </a:p>
        </p:txBody>
      </p:sp>
      <p:pic>
        <p:nvPicPr>
          <p:cNvPr id="4"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 y="81329"/>
            <a:ext cx="2695575" cy="1190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Subtitle 2"/>
          <p:cNvSpPr txBox="1">
            <a:spLocks/>
          </p:cNvSpPr>
          <p:nvPr/>
        </p:nvSpPr>
        <p:spPr>
          <a:xfrm>
            <a:off x="1426445" y="3190847"/>
            <a:ext cx="6400800" cy="838200"/>
          </a:xfrm>
          <a:prstGeom prst="rect">
            <a:avLst/>
          </a:prstGeom>
        </p:spPr>
        <p:txBody>
          <a:bodyPr vert="horz" lIns="91440" tIns="45720" rIns="91440" bIns="45720" rtlCol="0">
            <a:norm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r>
              <a:rPr lang="en-US" sz="2800" b="1" dirty="0">
                <a:solidFill>
                  <a:schemeClr val="tx1"/>
                </a:solidFill>
                <a:latin typeface="Times New Roman" panose="02020603050405020304" pitchFamily="18" charset="0"/>
                <a:cs typeface="Times New Roman" panose="02020603050405020304" pitchFamily="18" charset="0"/>
              </a:rPr>
              <a:t>BATCH NUMBER : CSB21</a:t>
            </a:r>
          </a:p>
        </p:txBody>
      </p:sp>
      <p:graphicFrame>
        <p:nvGraphicFramePr>
          <p:cNvPr id="6" name="Table 5"/>
          <p:cNvGraphicFramePr>
            <a:graphicFrameLocks noGrp="1"/>
          </p:cNvGraphicFramePr>
          <p:nvPr>
            <p:extLst>
              <p:ext uri="{D42A27DB-BD31-4B8C-83A1-F6EECF244321}">
                <p14:modId xmlns:p14="http://schemas.microsoft.com/office/powerpoint/2010/main" val="3666817210"/>
              </p:ext>
            </p:extLst>
          </p:nvPr>
        </p:nvGraphicFramePr>
        <p:xfrm>
          <a:off x="419100" y="3729739"/>
          <a:ext cx="8305800" cy="2133600"/>
        </p:xfrm>
        <a:graphic>
          <a:graphicData uri="http://schemas.openxmlformats.org/drawingml/2006/table">
            <a:tbl>
              <a:tblPr firstRow="1" bandRow="1">
                <a:tableStyleId>{BDBED569-4797-4DF1-A0F4-6AAB3CD982D8}</a:tableStyleId>
              </a:tblPr>
              <a:tblGrid>
                <a:gridCol w="4305300">
                  <a:extLst>
                    <a:ext uri="{9D8B030D-6E8A-4147-A177-3AD203B41FA5}">
                      <a16:colId xmlns:a16="http://schemas.microsoft.com/office/drawing/2014/main" xmlns="" val="20000"/>
                    </a:ext>
                  </a:extLst>
                </a:gridCol>
                <a:gridCol w="4000500">
                  <a:extLst>
                    <a:ext uri="{9D8B030D-6E8A-4147-A177-3AD203B41FA5}">
                      <a16:colId xmlns:a16="http://schemas.microsoft.com/office/drawing/2014/main" xmlns="" val="20001"/>
                    </a:ext>
                  </a:extLst>
                </a:gridCol>
              </a:tblGrid>
              <a:tr h="383741">
                <a:tc>
                  <a:txBody>
                    <a:bodyPr/>
                    <a:lstStyle/>
                    <a:p>
                      <a:r>
                        <a:rPr lang="en-US" dirty="0">
                          <a:latin typeface="Times New Roman" panose="02020603050405020304" pitchFamily="18" charset="0"/>
                          <a:cs typeface="Times New Roman" panose="02020603050405020304" pitchFamily="18" charset="0"/>
                        </a:rPr>
                        <a:t>Team Members </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latin typeface="Times New Roman" panose="02020603050405020304" pitchFamily="18" charset="0"/>
                          <a:cs typeface="Times New Roman" panose="02020603050405020304" pitchFamily="18" charset="0"/>
                        </a:rPr>
                        <a:t>Supervisor</a:t>
                      </a:r>
                    </a:p>
                  </a:txBody>
                  <a:tcPr/>
                </a:tc>
                <a:extLst>
                  <a:ext uri="{0D108BD9-81ED-4DB2-BD59-A6C34878D82A}">
                    <a16:rowId xmlns:a16="http://schemas.microsoft.com/office/drawing/2014/main" xmlns="" val="10000"/>
                  </a:ext>
                </a:extLst>
              </a:tr>
              <a:tr h="1749859">
                <a:tc>
                  <a:txBody>
                    <a:bodyPr/>
                    <a:lstStyle/>
                    <a:p>
                      <a:r>
                        <a:rPr lang="en-US" sz="1600" dirty="0">
                          <a:latin typeface="Times New Roman" panose="02020603050405020304" pitchFamily="18" charset="0"/>
                          <a:cs typeface="Times New Roman" panose="02020603050405020304" pitchFamily="18" charset="0"/>
                        </a:rPr>
                        <a:t>Swati Kumari (RA2011030020002)</a:t>
                      </a:r>
                    </a:p>
                    <a:p>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Racharla Rakesh Babu (RA2011030020006)</a:t>
                      </a:r>
                    </a:p>
                    <a:p>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Hitesh </a:t>
                      </a:r>
                      <a:r>
                        <a:rPr lang="en-US" sz="1600" dirty="0" err="1">
                          <a:latin typeface="Times New Roman" panose="02020603050405020304" pitchFamily="18" charset="0"/>
                          <a:cs typeface="Times New Roman" panose="02020603050405020304" pitchFamily="18" charset="0"/>
                        </a:rPr>
                        <a:t>Borha</a:t>
                      </a:r>
                      <a:r>
                        <a:rPr lang="en-US" sz="1600" dirty="0">
                          <a:latin typeface="Times New Roman" panose="02020603050405020304" pitchFamily="18" charset="0"/>
                          <a:cs typeface="Times New Roman" panose="02020603050405020304" pitchFamily="18" charset="0"/>
                        </a:rPr>
                        <a:t> (RA2011030020081)</a:t>
                      </a:r>
                    </a:p>
                    <a:p>
                      <a:endParaRPr lang="en-US" dirty="0">
                        <a:latin typeface="Times New Roman" panose="02020603050405020304" pitchFamily="18" charset="0"/>
                        <a:cs typeface="Times New Roman" panose="02020603050405020304" pitchFamily="18"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dirty="0">
                          <a:latin typeface="Times New Roman" panose="02020603050405020304" pitchFamily="18" charset="0"/>
                          <a:cs typeface="Times New Roman" panose="02020603050405020304" pitchFamily="18" charset="0"/>
                        </a:rPr>
                        <a:t>Dr. S. </a:t>
                      </a:r>
                      <a:r>
                        <a:rPr lang="en-US" sz="1600" dirty="0" err="1">
                          <a:latin typeface="Times New Roman" panose="02020603050405020304" pitchFamily="18" charset="0"/>
                          <a:cs typeface="Times New Roman" panose="02020603050405020304" pitchFamily="18" charset="0"/>
                        </a:rPr>
                        <a:t>Sathya</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Priya</a:t>
                      </a:r>
                      <a:r>
                        <a:rPr lang="en-US" sz="1600" dirty="0">
                          <a:latin typeface="Times New Roman" panose="02020603050405020304" pitchFamily="18" charset="0"/>
                          <a:cs typeface="Times New Roman" panose="02020603050405020304" pitchFamily="18" charset="0"/>
                        </a:rPr>
                        <a:t>, Associate</a:t>
                      </a:r>
                      <a:r>
                        <a:rPr lang="en-US" sz="1600" baseline="0" dirty="0">
                          <a:latin typeface="Times New Roman" panose="02020603050405020304" pitchFamily="18" charset="0"/>
                          <a:cs typeface="Times New Roman" panose="02020603050405020304" pitchFamily="18" charset="0"/>
                        </a:rPr>
                        <a:t> </a:t>
                      </a:r>
                      <a:r>
                        <a:rPr lang="en-US" sz="1600" dirty="0">
                          <a:latin typeface="Times New Roman" panose="02020603050405020304" pitchFamily="18" charset="0"/>
                          <a:cs typeface="Times New Roman" panose="02020603050405020304" pitchFamily="18" charset="0"/>
                        </a:rPr>
                        <a:t>Professor/CSE</a:t>
                      </a:r>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xmlns="" val="10001"/>
                  </a:ext>
                </a:extLst>
              </a:tr>
            </a:tbl>
          </a:graphicData>
        </a:graphic>
      </p:graphicFrame>
      <p:sp>
        <p:nvSpPr>
          <p:cNvPr id="11" name="Date Placeholder 10">
            <a:extLst>
              <a:ext uri="{FF2B5EF4-FFF2-40B4-BE49-F238E27FC236}">
                <a16:creationId xmlns:a16="http://schemas.microsoft.com/office/drawing/2014/main" xmlns="" id="{DD17F242-0208-26D3-892A-4956A4C449B4}"/>
              </a:ext>
            </a:extLst>
          </p:cNvPr>
          <p:cNvSpPr>
            <a:spLocks noGrp="1"/>
          </p:cNvSpPr>
          <p:nvPr>
            <p:ph type="dt" sz="half" idx="10"/>
          </p:nvPr>
        </p:nvSpPr>
        <p:spPr/>
        <p:txBody>
          <a:bodyPr/>
          <a:lstStyle/>
          <a:p>
            <a:r>
              <a:rPr lang="en-US" dirty="0"/>
              <a:t>Date : </a:t>
            </a:r>
            <a:fld id="{D24AF1BB-3572-4291-BD2D-6011C7D5FE4C}" type="datetime1">
              <a:rPr lang="en-US" smtClean="0"/>
              <a:t>5/13/2024</a:t>
            </a:fld>
            <a:endParaRPr lang="en-US" dirty="0"/>
          </a:p>
        </p:txBody>
      </p:sp>
      <p:sp>
        <p:nvSpPr>
          <p:cNvPr id="12" name="Footer Placeholder 11">
            <a:extLst>
              <a:ext uri="{FF2B5EF4-FFF2-40B4-BE49-F238E27FC236}">
                <a16:creationId xmlns:a16="http://schemas.microsoft.com/office/drawing/2014/main" xmlns="" id="{9A701D61-7BB3-B5B1-8E38-3BD353F1968F}"/>
              </a:ext>
            </a:extLst>
          </p:cNvPr>
          <p:cNvSpPr>
            <a:spLocks noGrp="1"/>
          </p:cNvSpPr>
          <p:nvPr>
            <p:ph type="ftr" sz="quarter" idx="11"/>
          </p:nvPr>
        </p:nvSpPr>
        <p:spPr/>
        <p:txBody>
          <a:bodyPr/>
          <a:lstStyle/>
          <a:p>
            <a:r>
              <a:rPr lang="en-US"/>
              <a:t>DEPARTMENT OF COMPUTER SCIENCE AND ENGINEERING – CYBER SECURITY</a:t>
            </a:r>
            <a:endParaRPr lang="en-US" dirty="0"/>
          </a:p>
        </p:txBody>
      </p:sp>
      <p:sp>
        <p:nvSpPr>
          <p:cNvPr id="13" name="Slide Number Placeholder 12">
            <a:extLst>
              <a:ext uri="{FF2B5EF4-FFF2-40B4-BE49-F238E27FC236}">
                <a16:creationId xmlns:a16="http://schemas.microsoft.com/office/drawing/2014/main" xmlns="" id="{9E3C4AFF-8DA8-032D-AD6E-7AA1D3C022C9}"/>
              </a:ext>
            </a:extLst>
          </p:cNvPr>
          <p:cNvSpPr>
            <a:spLocks noGrp="1"/>
          </p:cNvSpPr>
          <p:nvPr>
            <p:ph type="sldNum" sz="quarter" idx="12"/>
          </p:nvPr>
        </p:nvSpPr>
        <p:spPr/>
        <p:txBody>
          <a:bodyPr/>
          <a:lstStyle/>
          <a:p>
            <a:r>
              <a:rPr lang="en-US" dirty="0"/>
              <a:t>Slide Number: </a:t>
            </a:r>
            <a:fld id="{BECDEB80-DBCE-406A-80BF-FEBEE692EE79}" type="slidenum">
              <a:rPr lang="en-US" smtClean="0"/>
              <a:t>1</a:t>
            </a:fld>
            <a:endParaRPr lang="en-US" dirty="0"/>
          </a:p>
        </p:txBody>
      </p:sp>
    </p:spTree>
    <p:extLst>
      <p:ext uri="{BB962C8B-B14F-4D97-AF65-F5344CB8AC3E}">
        <p14:creationId xmlns:p14="http://schemas.microsoft.com/office/powerpoint/2010/main" val="26844262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227012"/>
            <a:ext cx="8229600" cy="731838"/>
          </a:xfrm>
        </p:spPr>
        <p:txBody>
          <a:bodyPr>
            <a:normAutofit fontScale="90000"/>
          </a:bodyPr>
          <a:lstStyle/>
          <a:p>
            <a:r>
              <a:rPr lang="en-US" b="1" dirty="0">
                <a:latin typeface="Times New Roman" panose="02020603050405020304" pitchFamily="18" charset="0"/>
                <a:cs typeface="Times New Roman" panose="02020603050405020304" pitchFamily="18" charset="0"/>
              </a:rPr>
              <a:t>Agenda</a:t>
            </a:r>
          </a:p>
        </p:txBody>
      </p:sp>
      <p:sp>
        <p:nvSpPr>
          <p:cNvPr id="3" name="Content Placeholder 2"/>
          <p:cNvSpPr>
            <a:spLocks noGrp="1"/>
          </p:cNvSpPr>
          <p:nvPr>
            <p:ph idx="1"/>
          </p:nvPr>
        </p:nvSpPr>
        <p:spPr>
          <a:xfrm>
            <a:off x="432955" y="1028122"/>
            <a:ext cx="8458200" cy="5328227"/>
          </a:xfrm>
        </p:spPr>
        <p:txBody>
          <a:bodyPr>
            <a:noAutofit/>
          </a:bodyPr>
          <a:lstStyle/>
          <a:p>
            <a:pPr fontAlgn="base">
              <a:spcBef>
                <a:spcPts val="0"/>
              </a:spcBef>
            </a:pPr>
            <a:r>
              <a:rPr lang="en-US" sz="1000" dirty="0">
                <a:solidFill>
                  <a:srgbClr val="000000"/>
                </a:solidFill>
                <a:latin typeface="Times New Roman" panose="02020603050405020304" pitchFamily="18" charset="0"/>
                <a:cs typeface="Times New Roman" panose="02020603050405020304" pitchFamily="18" charset="0"/>
              </a:rPr>
              <a:t>Abstract</a:t>
            </a:r>
          </a:p>
          <a:p>
            <a:pPr fontAlgn="base">
              <a:spcBef>
                <a:spcPts val="1000"/>
              </a:spcBef>
            </a:pPr>
            <a:r>
              <a:rPr lang="en-US" sz="1000" dirty="0">
                <a:solidFill>
                  <a:srgbClr val="000000"/>
                </a:solidFill>
                <a:latin typeface="Times New Roman" panose="02020603050405020304" pitchFamily="18" charset="0"/>
                <a:cs typeface="Times New Roman" panose="02020603050405020304" pitchFamily="18" charset="0"/>
              </a:rPr>
              <a:t>Scope and Motivation</a:t>
            </a:r>
          </a:p>
          <a:p>
            <a:pPr fontAlgn="base">
              <a:spcBef>
                <a:spcPts val="1000"/>
              </a:spcBef>
            </a:pPr>
            <a:r>
              <a:rPr lang="en-US" sz="1000" dirty="0">
                <a:solidFill>
                  <a:srgbClr val="000000"/>
                </a:solidFill>
                <a:latin typeface="Times New Roman" panose="02020603050405020304" pitchFamily="18" charset="0"/>
                <a:cs typeface="Times New Roman" panose="02020603050405020304" pitchFamily="18" charset="0"/>
              </a:rPr>
              <a:t>Introduction</a:t>
            </a:r>
          </a:p>
          <a:p>
            <a:pPr fontAlgn="base">
              <a:spcBef>
                <a:spcPts val="1000"/>
              </a:spcBef>
            </a:pPr>
            <a:r>
              <a:rPr lang="en-US" sz="1000" dirty="0">
                <a:solidFill>
                  <a:srgbClr val="000000"/>
                </a:solidFill>
                <a:latin typeface="Times New Roman" panose="02020603050405020304" pitchFamily="18" charset="0"/>
                <a:cs typeface="Times New Roman" panose="02020603050405020304" pitchFamily="18" charset="0"/>
              </a:rPr>
              <a:t>Literature Survey </a:t>
            </a:r>
          </a:p>
          <a:p>
            <a:pPr fontAlgn="base">
              <a:spcBef>
                <a:spcPts val="1000"/>
              </a:spcBef>
            </a:pPr>
            <a:r>
              <a:rPr lang="en-US" sz="1000" dirty="0">
                <a:solidFill>
                  <a:srgbClr val="000000"/>
                </a:solidFill>
                <a:latin typeface="Times New Roman" panose="02020603050405020304" pitchFamily="18" charset="0"/>
                <a:cs typeface="Times New Roman" panose="02020603050405020304" pitchFamily="18" charset="0"/>
              </a:rPr>
              <a:t>Objective</a:t>
            </a:r>
          </a:p>
          <a:p>
            <a:pPr fontAlgn="base">
              <a:spcBef>
                <a:spcPts val="1000"/>
              </a:spcBef>
            </a:pPr>
            <a:r>
              <a:rPr lang="en-US" sz="1000" dirty="0">
                <a:solidFill>
                  <a:srgbClr val="000000"/>
                </a:solidFill>
                <a:latin typeface="Times New Roman" panose="02020603050405020304" pitchFamily="18" charset="0"/>
                <a:cs typeface="Times New Roman" panose="02020603050405020304" pitchFamily="18" charset="0"/>
              </a:rPr>
              <a:t>Problem Statement</a:t>
            </a:r>
          </a:p>
          <a:p>
            <a:pPr fontAlgn="base">
              <a:spcBef>
                <a:spcPts val="1000"/>
              </a:spcBef>
            </a:pPr>
            <a:r>
              <a:rPr lang="en-US" sz="1000" dirty="0">
                <a:solidFill>
                  <a:srgbClr val="000000"/>
                </a:solidFill>
                <a:latin typeface="Times New Roman" panose="02020603050405020304" pitchFamily="18" charset="0"/>
                <a:cs typeface="Times New Roman" panose="02020603050405020304" pitchFamily="18" charset="0"/>
              </a:rPr>
              <a:t>Proposed Work</a:t>
            </a:r>
          </a:p>
          <a:p>
            <a:pPr lvl="1" fontAlgn="base">
              <a:spcBef>
                <a:spcPts val="1000"/>
              </a:spcBef>
              <a:buFont typeface="Arial" panose="020B0604020202020204" pitchFamily="34" charset="0"/>
              <a:buChar char="•"/>
            </a:pPr>
            <a:r>
              <a:rPr lang="en-US" sz="1000" dirty="0">
                <a:solidFill>
                  <a:srgbClr val="000000"/>
                </a:solidFill>
                <a:latin typeface="Times New Roman" panose="02020603050405020304" pitchFamily="18" charset="0"/>
                <a:cs typeface="Times New Roman" panose="02020603050405020304" pitchFamily="18" charset="0"/>
              </a:rPr>
              <a:t>Architecture Diagram</a:t>
            </a:r>
          </a:p>
          <a:p>
            <a:pPr lvl="1" fontAlgn="base">
              <a:spcBef>
                <a:spcPts val="1000"/>
              </a:spcBef>
              <a:buFont typeface="Arial" panose="020B0604020202020204" pitchFamily="34" charset="0"/>
              <a:buChar char="•"/>
            </a:pPr>
            <a:r>
              <a:rPr lang="en-US" sz="1000" dirty="0">
                <a:solidFill>
                  <a:srgbClr val="000000"/>
                </a:solidFill>
                <a:latin typeface="Times New Roman" panose="02020603050405020304" pitchFamily="18" charset="0"/>
                <a:cs typeface="Times New Roman" panose="02020603050405020304" pitchFamily="18" charset="0"/>
              </a:rPr>
              <a:t>Modules</a:t>
            </a:r>
          </a:p>
          <a:p>
            <a:pPr lvl="1" fontAlgn="base">
              <a:spcBef>
                <a:spcPts val="1000"/>
              </a:spcBef>
              <a:buFont typeface="Arial" panose="020B0604020202020204" pitchFamily="34" charset="0"/>
              <a:buChar char="•"/>
            </a:pPr>
            <a:r>
              <a:rPr lang="en-US" sz="1000" dirty="0">
                <a:solidFill>
                  <a:srgbClr val="000000"/>
                </a:solidFill>
                <a:latin typeface="Times New Roman" panose="02020603050405020304" pitchFamily="18" charset="0"/>
                <a:cs typeface="Times New Roman" panose="02020603050405020304" pitchFamily="18" charset="0"/>
              </a:rPr>
              <a:t>Module Description</a:t>
            </a:r>
          </a:p>
          <a:p>
            <a:pPr fontAlgn="base">
              <a:spcBef>
                <a:spcPts val="1000"/>
              </a:spcBef>
            </a:pPr>
            <a:r>
              <a:rPr lang="en-US" sz="1000" dirty="0">
                <a:solidFill>
                  <a:srgbClr val="000000"/>
                </a:solidFill>
                <a:latin typeface="Times New Roman" panose="02020603050405020304" pitchFamily="18" charset="0"/>
                <a:cs typeface="Times New Roman" panose="02020603050405020304" pitchFamily="18" charset="0"/>
              </a:rPr>
              <a:t>Software &amp; Hardware Requirements</a:t>
            </a:r>
          </a:p>
          <a:p>
            <a:pPr fontAlgn="base">
              <a:spcBef>
                <a:spcPts val="1000"/>
              </a:spcBef>
            </a:pPr>
            <a:r>
              <a:rPr lang="en-US" sz="1000" dirty="0">
                <a:solidFill>
                  <a:srgbClr val="000000"/>
                </a:solidFill>
                <a:latin typeface="Times New Roman" panose="02020603050405020304" pitchFamily="18" charset="0"/>
                <a:cs typeface="Times New Roman" panose="02020603050405020304" pitchFamily="18" charset="0"/>
              </a:rPr>
              <a:t>Implementation</a:t>
            </a:r>
          </a:p>
          <a:p>
            <a:pPr lvl="1" fontAlgn="base">
              <a:spcBef>
                <a:spcPts val="1000"/>
              </a:spcBef>
              <a:buFont typeface="Arial" panose="020B0604020202020204" pitchFamily="34" charset="0"/>
              <a:buChar char="•"/>
            </a:pPr>
            <a:r>
              <a:rPr lang="en-US" sz="1000" dirty="0">
                <a:solidFill>
                  <a:srgbClr val="000000"/>
                </a:solidFill>
                <a:latin typeface="Times New Roman" panose="02020603050405020304" pitchFamily="18" charset="0"/>
                <a:cs typeface="Times New Roman" panose="02020603050405020304" pitchFamily="18" charset="0"/>
              </a:rPr>
              <a:t>Algorithm</a:t>
            </a:r>
          </a:p>
          <a:p>
            <a:pPr lvl="1" fontAlgn="base">
              <a:spcBef>
                <a:spcPts val="1000"/>
              </a:spcBef>
              <a:buFont typeface="Arial" panose="020B0604020202020204" pitchFamily="34" charset="0"/>
              <a:buChar char="•"/>
            </a:pPr>
            <a:r>
              <a:rPr lang="en-US" sz="1000" dirty="0">
                <a:solidFill>
                  <a:srgbClr val="000000"/>
                </a:solidFill>
                <a:latin typeface="Times New Roman" panose="02020603050405020304" pitchFamily="18" charset="0"/>
                <a:cs typeface="Times New Roman" panose="02020603050405020304" pitchFamily="18" charset="0"/>
              </a:rPr>
              <a:t>Dataset</a:t>
            </a:r>
          </a:p>
          <a:p>
            <a:pPr fontAlgn="base">
              <a:spcBef>
                <a:spcPts val="1000"/>
              </a:spcBef>
            </a:pPr>
            <a:r>
              <a:rPr lang="en-US" sz="1000" dirty="0">
                <a:solidFill>
                  <a:srgbClr val="000000"/>
                </a:solidFill>
                <a:latin typeface="Times New Roman" panose="02020603050405020304" pitchFamily="18" charset="0"/>
                <a:cs typeface="Times New Roman" panose="02020603050405020304" pitchFamily="18" charset="0"/>
              </a:rPr>
              <a:t>Results and Discussion</a:t>
            </a:r>
          </a:p>
          <a:p>
            <a:pPr fontAlgn="base">
              <a:spcBef>
                <a:spcPts val="1000"/>
              </a:spcBef>
            </a:pPr>
            <a:r>
              <a:rPr lang="en-US" sz="1000" dirty="0">
                <a:solidFill>
                  <a:srgbClr val="000000"/>
                </a:solidFill>
                <a:latin typeface="Times New Roman" panose="02020603050405020304" pitchFamily="18" charset="0"/>
                <a:cs typeface="Times New Roman" panose="02020603050405020304" pitchFamily="18" charset="0"/>
              </a:rPr>
              <a:t>Conclusion</a:t>
            </a:r>
          </a:p>
          <a:p>
            <a:pPr fontAlgn="base">
              <a:spcBef>
                <a:spcPts val="1000"/>
              </a:spcBef>
            </a:pPr>
            <a:r>
              <a:rPr lang="en-US" sz="1000" dirty="0">
                <a:solidFill>
                  <a:srgbClr val="000000"/>
                </a:solidFill>
                <a:latin typeface="Times New Roman" panose="02020603050405020304" pitchFamily="18" charset="0"/>
                <a:cs typeface="Times New Roman" panose="02020603050405020304" pitchFamily="18" charset="0"/>
              </a:rPr>
              <a:t>Future Work</a:t>
            </a:r>
          </a:p>
          <a:p>
            <a:pPr fontAlgn="base">
              <a:spcBef>
                <a:spcPts val="1000"/>
              </a:spcBef>
            </a:pPr>
            <a:r>
              <a:rPr lang="en-US" sz="1000" dirty="0">
                <a:solidFill>
                  <a:srgbClr val="000000"/>
                </a:solidFill>
                <a:latin typeface="Times New Roman" panose="02020603050405020304" pitchFamily="18" charset="0"/>
                <a:cs typeface="Times New Roman" panose="02020603050405020304" pitchFamily="18" charset="0"/>
              </a:rPr>
              <a:t>References </a:t>
            </a:r>
          </a:p>
          <a:p>
            <a:pPr fontAlgn="base">
              <a:spcBef>
                <a:spcPts val="1000"/>
              </a:spcBef>
            </a:pPr>
            <a:r>
              <a:rPr lang="en-US" sz="1000" dirty="0" smtClean="0">
                <a:solidFill>
                  <a:srgbClr val="000000"/>
                </a:solidFill>
                <a:latin typeface="Times New Roman" panose="02020603050405020304" pitchFamily="18" charset="0"/>
                <a:cs typeface="Times New Roman" panose="02020603050405020304" pitchFamily="18" charset="0"/>
              </a:rPr>
              <a:t>Proof of  Publication</a:t>
            </a:r>
            <a:endParaRPr lang="en-US" sz="1000" dirty="0">
              <a:solidFill>
                <a:srgbClr val="000000"/>
              </a:solidFill>
              <a:latin typeface="Times New Roman" panose="02020603050405020304" pitchFamily="18" charset="0"/>
              <a:cs typeface="Times New Roman" panose="02020603050405020304" pitchFamily="18" charset="0"/>
            </a:endParaRPr>
          </a:p>
        </p:txBody>
      </p:sp>
      <p:sp>
        <p:nvSpPr>
          <p:cNvPr id="8" name="Footer Placeholder 3"/>
          <p:cNvSpPr>
            <a:spLocks noGrp="1"/>
          </p:cNvSpPr>
          <p:nvPr>
            <p:ph type="ftr" sz="quarter" idx="11"/>
          </p:nvPr>
        </p:nvSpPr>
        <p:spPr>
          <a:xfrm>
            <a:off x="3124200" y="6356350"/>
            <a:ext cx="2895600" cy="365125"/>
          </a:xfrm>
        </p:spPr>
        <p:txBody>
          <a:bodyPr/>
          <a:lstStyle/>
          <a:p>
            <a:r>
              <a:rPr lang="en-US"/>
              <a:t>DEPARTMENT OF COMPUTER SCIENCE AND ENGINEERING – CYBER SECURITY</a:t>
            </a:r>
            <a:endParaRPr lang="en-US" dirty="0"/>
          </a:p>
        </p:txBody>
      </p:sp>
      <p:sp>
        <p:nvSpPr>
          <p:cNvPr id="7" name="Date Placeholder 6">
            <a:extLst>
              <a:ext uri="{FF2B5EF4-FFF2-40B4-BE49-F238E27FC236}">
                <a16:creationId xmlns:a16="http://schemas.microsoft.com/office/drawing/2014/main" xmlns="" id="{9CCC07ED-8EB5-DD7A-5CF4-306A6C7FB813}"/>
              </a:ext>
            </a:extLst>
          </p:cNvPr>
          <p:cNvSpPr>
            <a:spLocks noGrp="1"/>
          </p:cNvSpPr>
          <p:nvPr>
            <p:ph type="dt" sz="half" idx="10"/>
          </p:nvPr>
        </p:nvSpPr>
        <p:spPr/>
        <p:txBody>
          <a:bodyPr/>
          <a:lstStyle/>
          <a:p>
            <a:r>
              <a:rPr lang="en-US" dirty="0"/>
              <a:t>Date : </a:t>
            </a:r>
            <a:fld id="{A59853EB-C4C8-435F-B4A8-1B6CAC6DAA6B}" type="datetime1">
              <a:rPr lang="en-US" smtClean="0"/>
              <a:t>5/13/2024</a:t>
            </a:fld>
            <a:endParaRPr lang="en-US" dirty="0"/>
          </a:p>
        </p:txBody>
      </p:sp>
      <p:sp>
        <p:nvSpPr>
          <p:cNvPr id="9" name="Slide Number Placeholder 8">
            <a:extLst>
              <a:ext uri="{FF2B5EF4-FFF2-40B4-BE49-F238E27FC236}">
                <a16:creationId xmlns:a16="http://schemas.microsoft.com/office/drawing/2014/main" xmlns="" id="{F87E7204-5321-9D64-B9DF-99AEE234AE81}"/>
              </a:ext>
            </a:extLst>
          </p:cNvPr>
          <p:cNvSpPr>
            <a:spLocks noGrp="1"/>
          </p:cNvSpPr>
          <p:nvPr>
            <p:ph type="sldNum" sz="quarter" idx="12"/>
          </p:nvPr>
        </p:nvSpPr>
        <p:spPr/>
        <p:txBody>
          <a:bodyPr/>
          <a:lstStyle/>
          <a:p>
            <a:r>
              <a:rPr lang="en-US" dirty="0"/>
              <a:t>Slide Number: </a:t>
            </a:r>
            <a:fld id="{BECDEB80-DBCE-406A-80BF-FEBEE692EE79}" type="slidenum">
              <a:rPr lang="en-US" smtClean="0"/>
              <a:t>2</a:t>
            </a:fld>
            <a:endParaRPr lang="en-US" dirty="0"/>
          </a:p>
        </p:txBody>
      </p:sp>
    </p:spTree>
    <p:extLst>
      <p:ext uri="{BB962C8B-B14F-4D97-AF65-F5344CB8AC3E}">
        <p14:creationId xmlns:p14="http://schemas.microsoft.com/office/powerpoint/2010/main" val="42358304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136525"/>
            <a:ext cx="7924800" cy="852586"/>
          </a:xfrm>
        </p:spPr>
        <p:txBody>
          <a:bodyPr>
            <a:normAutofit/>
          </a:bodyPr>
          <a:lstStyle/>
          <a:p>
            <a:r>
              <a:rPr lang="en-US" b="1" dirty="0">
                <a:latin typeface="Times New Roman" panose="02020603050405020304" pitchFamily="18" charset="0"/>
                <a:cs typeface="Times New Roman" panose="02020603050405020304" pitchFamily="18" charset="0"/>
              </a:rPr>
              <a:t>Abstract</a:t>
            </a:r>
          </a:p>
        </p:txBody>
      </p:sp>
      <p:sp>
        <p:nvSpPr>
          <p:cNvPr id="5" name="TextBox 4">
            <a:extLst>
              <a:ext uri="{FF2B5EF4-FFF2-40B4-BE49-F238E27FC236}">
                <a16:creationId xmlns:a16="http://schemas.microsoft.com/office/drawing/2014/main" xmlns="" id="{8593DBDA-BBED-9222-78DF-64158395DA82}"/>
              </a:ext>
            </a:extLst>
          </p:cNvPr>
          <p:cNvSpPr txBox="1"/>
          <p:nvPr/>
        </p:nvSpPr>
        <p:spPr>
          <a:xfrm>
            <a:off x="762000" y="1170509"/>
            <a:ext cx="7924800" cy="4278094"/>
          </a:xfrm>
          <a:prstGeom prst="rect">
            <a:avLst/>
          </a:prstGeom>
          <a:noFill/>
        </p:spPr>
        <p:txBody>
          <a:bodyPr wrap="square" rtlCol="0">
            <a:spAutoFit/>
          </a:bodyPr>
          <a:lstStyle/>
          <a:p>
            <a:pPr algn="just"/>
            <a:r>
              <a:rPr lang="en-US" sz="1600" dirty="0">
                <a:latin typeface="Times New Roman" panose="02020603050405020304" pitchFamily="18" charset="0"/>
                <a:cs typeface="Times New Roman" panose="02020603050405020304" pitchFamily="18" charset="0"/>
              </a:rPr>
              <a:t>With the widespread integration of Internet of Things (IoT) devices into various domains, ensuring their security has become paramount. Unfortunately, this surge in connectivity has also opened avenues for malicious activities such as Distributed Denial of Service (DDoS) attacks targeting IoT networks. These attacks can disrupt critical services and compromise sensitive data. In response to this growing threat, various methods have been developed to detect and mitigate such attacks. Existing approaches typically rely on signature-based detection, anomaly detection, or machine learning algorithms to identify suspicious activities within IoT networks. However, these methods often struggle to adapt to the dynamic and heterogeneous nature of IoT environments. Moreover, they may generate a high rate of false positives or fail to detect sophisticated attacks. To address these limitations, we propose a novel Context Correlation-Aware Model for enhancing the prediction of DDoS attacks in IoT networks. Our approach leverages contextual information and correlations between different IoT devices and their behaviors to improve the accuracy and efficiency of attack detection. By considering the unique characteristics and relationships within IoT ecosystems, our model aims to provide more robust protection against emerging threats. Through extensive experimentation and evaluation, we demonstrate the effectiveness and scalability of our proposed method in safeguarding IoT networks against DDoS attacks.</a:t>
            </a:r>
            <a:endParaRPr lang="en-IN" sz="1600" dirty="0">
              <a:latin typeface="Times New Roman" panose="02020603050405020304" pitchFamily="18" charset="0"/>
              <a:cs typeface="Times New Roman" panose="02020603050405020304" pitchFamily="18" charset="0"/>
            </a:endParaRPr>
          </a:p>
        </p:txBody>
      </p:sp>
      <p:sp>
        <p:nvSpPr>
          <p:cNvPr id="6" name="Footer Placeholder 3"/>
          <p:cNvSpPr>
            <a:spLocks noGrp="1"/>
          </p:cNvSpPr>
          <p:nvPr>
            <p:ph type="ftr" sz="quarter" idx="11"/>
          </p:nvPr>
        </p:nvSpPr>
        <p:spPr>
          <a:xfrm>
            <a:off x="3124200" y="6356350"/>
            <a:ext cx="2895600" cy="365125"/>
          </a:xfrm>
        </p:spPr>
        <p:txBody>
          <a:bodyPr/>
          <a:lstStyle/>
          <a:p>
            <a:r>
              <a:rPr lang="en-US"/>
              <a:t>DEPARTMENT OF COMPUTER SCIENCE AND ENGINEERING – CYBER SECURITY</a:t>
            </a:r>
            <a:endParaRPr lang="en-US" dirty="0"/>
          </a:p>
        </p:txBody>
      </p:sp>
      <p:sp>
        <p:nvSpPr>
          <p:cNvPr id="8" name="Date Placeholder 7">
            <a:extLst>
              <a:ext uri="{FF2B5EF4-FFF2-40B4-BE49-F238E27FC236}">
                <a16:creationId xmlns:a16="http://schemas.microsoft.com/office/drawing/2014/main" xmlns="" id="{9359DE1E-77C7-61AF-9BA3-67D2D850FF06}"/>
              </a:ext>
            </a:extLst>
          </p:cNvPr>
          <p:cNvSpPr>
            <a:spLocks noGrp="1"/>
          </p:cNvSpPr>
          <p:nvPr>
            <p:ph type="dt" sz="half" idx="10"/>
          </p:nvPr>
        </p:nvSpPr>
        <p:spPr/>
        <p:txBody>
          <a:bodyPr/>
          <a:lstStyle/>
          <a:p>
            <a:r>
              <a:rPr lang="en-US" dirty="0"/>
              <a:t>Date : </a:t>
            </a:r>
            <a:fld id="{D0070B20-3DAF-4A2A-BED7-E7254910411E}" type="datetime1">
              <a:rPr lang="en-US" smtClean="0"/>
              <a:t>5/13/2024</a:t>
            </a:fld>
            <a:endParaRPr lang="en-US" dirty="0"/>
          </a:p>
        </p:txBody>
      </p:sp>
      <p:sp>
        <p:nvSpPr>
          <p:cNvPr id="9" name="Slide Number Placeholder 8">
            <a:extLst>
              <a:ext uri="{FF2B5EF4-FFF2-40B4-BE49-F238E27FC236}">
                <a16:creationId xmlns:a16="http://schemas.microsoft.com/office/drawing/2014/main" xmlns="" id="{5849B332-1937-DE15-7185-C67E3536B450}"/>
              </a:ext>
            </a:extLst>
          </p:cNvPr>
          <p:cNvSpPr>
            <a:spLocks noGrp="1"/>
          </p:cNvSpPr>
          <p:nvPr>
            <p:ph type="sldNum" sz="quarter" idx="12"/>
          </p:nvPr>
        </p:nvSpPr>
        <p:spPr/>
        <p:txBody>
          <a:bodyPr/>
          <a:lstStyle/>
          <a:p>
            <a:r>
              <a:rPr lang="en-US" dirty="0"/>
              <a:t>Slide Number:  </a:t>
            </a:r>
            <a:fld id="{BECDEB80-DBCE-406A-80BF-FEBEE692EE79}" type="slidenum">
              <a:rPr lang="en-US" smtClean="0"/>
              <a:t>3</a:t>
            </a:fld>
            <a:endParaRPr lang="en-US" dirty="0"/>
          </a:p>
        </p:txBody>
      </p:sp>
    </p:spTree>
    <p:extLst>
      <p:ext uri="{BB962C8B-B14F-4D97-AF65-F5344CB8AC3E}">
        <p14:creationId xmlns:p14="http://schemas.microsoft.com/office/powerpoint/2010/main" val="4688122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32DEE3B-EF69-0977-AFB9-235BDA5C72E9}"/>
              </a:ext>
            </a:extLst>
          </p:cNvPr>
          <p:cNvSpPr>
            <a:spLocks noGrp="1"/>
          </p:cNvSpPr>
          <p:nvPr>
            <p:ph type="title"/>
          </p:nvPr>
        </p:nvSpPr>
        <p:spPr>
          <a:xfrm>
            <a:off x="457200" y="76200"/>
            <a:ext cx="8229600" cy="1165390"/>
          </a:xfrm>
        </p:spPr>
        <p:txBody>
          <a:bodyPr/>
          <a:lstStyle/>
          <a:p>
            <a:r>
              <a:rPr lang="en-US" b="1" dirty="0">
                <a:latin typeface="Times New Roman" panose="02020603050405020304" pitchFamily="18" charset="0"/>
                <a:cs typeface="Times New Roman" panose="02020603050405020304" pitchFamily="18" charset="0"/>
              </a:rPr>
              <a:t>Scope</a:t>
            </a:r>
            <a:endParaRPr lang="en-IN" b="1"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xmlns="" id="{22F3EFAF-E775-3889-34A8-A2760A7A8976}"/>
              </a:ext>
            </a:extLst>
          </p:cNvPr>
          <p:cNvSpPr txBox="1"/>
          <p:nvPr/>
        </p:nvSpPr>
        <p:spPr>
          <a:xfrm>
            <a:off x="762000" y="1341404"/>
            <a:ext cx="7848600" cy="4801314"/>
          </a:xfrm>
          <a:prstGeom prst="rect">
            <a:avLst/>
          </a:prstGeom>
          <a:noFill/>
        </p:spPr>
        <p:txBody>
          <a:bodyPr wrap="square" rtlCol="0">
            <a:spAutoFit/>
          </a:bodyPr>
          <a:lstStyle/>
          <a:p>
            <a:pPr marL="342900" indent="-342900"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It aims to propose a trust-based approach for mitigating DoS attacks to enhance the security and reliability of IoT systems.</a:t>
            </a:r>
          </a:p>
          <a:p>
            <a:pPr algn="just"/>
            <a:endParaRPr lang="en-US" sz="16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 To utilize Random Forest algorithm for classification tasks and context correlation algorithms to refine detection accuracy by analyzing relationships between network parameters.</a:t>
            </a:r>
          </a:p>
          <a:p>
            <a:pPr algn="just"/>
            <a:endParaRPr lang="en-US" sz="16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To analyze the impact of the proposed approach on the performance of the IoT environment and explore potential challenges, limitations associated with the implementation. </a:t>
            </a:r>
          </a:p>
          <a:p>
            <a:pPr marL="342900" indent="-342900" algn="just">
              <a:buFont typeface="Arial" panose="020B0604020202020204" pitchFamily="34" charset="0"/>
              <a:buChar char="•"/>
            </a:pPr>
            <a:endParaRPr lang="en-US" sz="16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This makes machine learning models adaptable to evolving attack patterns through continuous monitoring and updating, ensuring effectiveness against emerging DDoS vectors.</a:t>
            </a:r>
          </a:p>
          <a:p>
            <a:pPr algn="just"/>
            <a:endParaRPr lang="en-US" sz="16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The outcomes of the research is used to enhance the security measures in RPL-based IoT environments and provide more robust defense mechanism against DoS attacks.</a:t>
            </a:r>
          </a:p>
          <a:p>
            <a:pPr marL="285750" indent="-285750" algn="just">
              <a:buFont typeface="Arial" panose="020B0604020202020204" pitchFamily="34" charset="0"/>
              <a:buChar char="•"/>
            </a:pPr>
            <a:endParaRPr lang="en-US" sz="16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p:txBody>
      </p:sp>
      <p:sp>
        <p:nvSpPr>
          <p:cNvPr id="6" name="Footer Placeholder 3"/>
          <p:cNvSpPr>
            <a:spLocks noGrp="1"/>
          </p:cNvSpPr>
          <p:nvPr>
            <p:ph type="ftr" sz="quarter" idx="11"/>
          </p:nvPr>
        </p:nvSpPr>
        <p:spPr>
          <a:xfrm>
            <a:off x="3124200" y="6356350"/>
            <a:ext cx="2895600" cy="365125"/>
          </a:xfrm>
        </p:spPr>
        <p:txBody>
          <a:bodyPr/>
          <a:lstStyle/>
          <a:p>
            <a:r>
              <a:rPr lang="en-US"/>
              <a:t>DEPARTMENT OF COMPUTER SCIENCE AND ENGINEERING – CYBER SECURITY</a:t>
            </a:r>
            <a:endParaRPr lang="en-US" dirty="0"/>
          </a:p>
        </p:txBody>
      </p:sp>
      <p:sp>
        <p:nvSpPr>
          <p:cNvPr id="8" name="Date Placeholder 7">
            <a:extLst>
              <a:ext uri="{FF2B5EF4-FFF2-40B4-BE49-F238E27FC236}">
                <a16:creationId xmlns:a16="http://schemas.microsoft.com/office/drawing/2014/main" xmlns="" id="{6F3ABE36-FB9C-0119-A21B-0CC4622720A8}"/>
              </a:ext>
            </a:extLst>
          </p:cNvPr>
          <p:cNvSpPr>
            <a:spLocks noGrp="1"/>
          </p:cNvSpPr>
          <p:nvPr>
            <p:ph type="dt" sz="half" idx="10"/>
          </p:nvPr>
        </p:nvSpPr>
        <p:spPr/>
        <p:txBody>
          <a:bodyPr/>
          <a:lstStyle/>
          <a:p>
            <a:r>
              <a:rPr lang="en-US" dirty="0"/>
              <a:t>Date : </a:t>
            </a:r>
            <a:fld id="{FD444AA6-5BFA-4C39-9205-34C594AF761A}" type="datetime1">
              <a:rPr lang="en-US" smtClean="0"/>
              <a:t>5/13/2024</a:t>
            </a:fld>
            <a:endParaRPr lang="en-US" dirty="0"/>
          </a:p>
        </p:txBody>
      </p:sp>
      <p:sp>
        <p:nvSpPr>
          <p:cNvPr id="9" name="Slide Number Placeholder 8">
            <a:extLst>
              <a:ext uri="{FF2B5EF4-FFF2-40B4-BE49-F238E27FC236}">
                <a16:creationId xmlns:a16="http://schemas.microsoft.com/office/drawing/2014/main" xmlns="" id="{B5F71E8C-64AE-F80A-4EC5-3ED06F142111}"/>
              </a:ext>
            </a:extLst>
          </p:cNvPr>
          <p:cNvSpPr>
            <a:spLocks noGrp="1"/>
          </p:cNvSpPr>
          <p:nvPr>
            <p:ph type="sldNum" sz="quarter" idx="12"/>
          </p:nvPr>
        </p:nvSpPr>
        <p:spPr/>
        <p:txBody>
          <a:bodyPr/>
          <a:lstStyle/>
          <a:p>
            <a:r>
              <a:rPr lang="en-US" dirty="0"/>
              <a:t>Slide Number: </a:t>
            </a:r>
            <a:fld id="{BECDEB80-DBCE-406A-80BF-FEBEE692EE79}" type="slidenum">
              <a:rPr lang="en-US" smtClean="0"/>
              <a:t>4</a:t>
            </a:fld>
            <a:endParaRPr lang="en-US" dirty="0"/>
          </a:p>
        </p:txBody>
      </p:sp>
    </p:spTree>
    <p:extLst>
      <p:ext uri="{BB962C8B-B14F-4D97-AF65-F5344CB8AC3E}">
        <p14:creationId xmlns:p14="http://schemas.microsoft.com/office/powerpoint/2010/main" val="17969134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AD4554E1-70E9-A9BA-49CC-7F9976F430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EAEC6DCB-FE70-DC91-464A-EDB78EE3B140}"/>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Motivation</a:t>
            </a:r>
            <a:endParaRPr lang="en-IN" b="1"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xmlns="" id="{876BAFC3-9822-F323-337E-E33FA7D1BB1C}"/>
              </a:ext>
            </a:extLst>
          </p:cNvPr>
          <p:cNvSpPr txBox="1"/>
          <p:nvPr/>
        </p:nvSpPr>
        <p:spPr>
          <a:xfrm>
            <a:off x="838199" y="1404500"/>
            <a:ext cx="7696201" cy="4801314"/>
          </a:xfrm>
          <a:prstGeom prst="rect">
            <a:avLst/>
          </a:prstGeom>
          <a:noFill/>
        </p:spPr>
        <p:txBody>
          <a:bodyPr wrap="square" rtlCol="0">
            <a:spAutoFit/>
          </a:bodyPr>
          <a:lstStyle/>
          <a:p>
            <a:pPr marL="285750" indent="-285750"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Distributed Denial of Service (DDoS) </a:t>
            </a:r>
            <a:r>
              <a:rPr lang="en-US" sz="1600" i="0" dirty="0">
                <a:effectLst/>
                <a:latin typeface="Times New Roman" panose="02020603050405020304" pitchFamily="18" charset="0"/>
                <a:cs typeface="Times New Roman" panose="02020603050405020304" pitchFamily="18" charset="0"/>
              </a:rPr>
              <a:t>attacks are the second most damaging cyberattacks in the ranking published by </a:t>
            </a:r>
            <a:r>
              <a:rPr lang="en-US" sz="1600" i="0" dirty="0" err="1">
                <a:effectLst/>
                <a:latin typeface="Times New Roman" panose="02020603050405020304" pitchFamily="18" charset="0"/>
                <a:cs typeface="Times New Roman" panose="02020603050405020304" pitchFamily="18" charset="0"/>
              </a:rPr>
              <a:t>Bitkom</a:t>
            </a:r>
            <a:r>
              <a:rPr lang="en-US" sz="1600" i="0" dirty="0">
                <a:effectLst/>
                <a:latin typeface="Times New Roman" panose="02020603050405020304" pitchFamily="18" charset="0"/>
                <a:cs typeface="Times New Roman" panose="02020603050405020304" pitchFamily="18" charset="0"/>
              </a:rPr>
              <a:t> – </a:t>
            </a:r>
            <a:r>
              <a:rPr lang="en-US" sz="1600" dirty="0">
                <a:latin typeface="Times New Roman" panose="02020603050405020304" pitchFamily="18" charset="0"/>
                <a:cs typeface="Times New Roman" panose="02020603050405020304" pitchFamily="18" charset="0"/>
              </a:rPr>
              <a:t>At 27 percent of total cybersecurity attacks. </a:t>
            </a:r>
          </a:p>
          <a:p>
            <a:pPr marL="539750"/>
            <a:r>
              <a:rPr lang="en-US" sz="1600" dirty="0">
                <a:latin typeface="Times New Roman" panose="02020603050405020304" pitchFamily="18" charset="0"/>
                <a:cs typeface="Times New Roman" panose="02020603050405020304" pitchFamily="18" charset="0"/>
              </a:rPr>
              <a:t>(Source URL:https://www2.deloitte.com/content/dam/Deloitte/de/Documents/risk/</a:t>
            </a:r>
          </a:p>
          <a:p>
            <a:pPr marL="539750"/>
            <a:r>
              <a:rPr lang="en-US" sz="1600" dirty="0">
                <a:latin typeface="Times New Roman" panose="02020603050405020304" pitchFamily="18" charset="0"/>
                <a:cs typeface="Times New Roman" panose="02020603050405020304" pitchFamily="18" charset="0"/>
              </a:rPr>
              <a:t>Deloitte-DDoS-Cyber-Risk.pdf</a:t>
            </a:r>
            <a:r>
              <a:rPr lang="en-IN" sz="1600" dirty="0">
                <a:latin typeface="Times New Roman" panose="02020603050405020304" pitchFamily="18" charset="0"/>
                <a:cs typeface="Times New Roman" panose="02020603050405020304" pitchFamily="18" charset="0"/>
              </a:rPr>
              <a:t>)</a:t>
            </a:r>
            <a:endParaRPr lang="en-US" sz="16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endParaRPr lang="en-US" sz="16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1600" i="0" dirty="0">
                <a:effectLst/>
                <a:latin typeface="Times New Roman" panose="02020603050405020304" pitchFamily="18" charset="0"/>
                <a:cs typeface="Times New Roman" panose="02020603050405020304" pitchFamily="18" charset="0"/>
              </a:rPr>
              <a:t>DDoS attacks continue to be a prevalent threat in the cybersecurity landscape. </a:t>
            </a:r>
          </a:p>
          <a:p>
            <a:pPr marL="285750" indent="-285750" algn="just">
              <a:buFont typeface="Arial" panose="020B0604020202020204" pitchFamily="34" charset="0"/>
              <a:buChar char="•"/>
            </a:pPr>
            <a:endParaRPr lang="en-US" sz="16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1600" i="0" dirty="0">
                <a:effectLst/>
                <a:latin typeface="Times New Roman" panose="02020603050405020304" pitchFamily="18" charset="0"/>
                <a:cs typeface="Times New Roman" panose="02020603050405020304" pitchFamily="18" charset="0"/>
              </a:rPr>
              <a:t>With the proliferation of Internet-connected devices and the increasing sophistication of attackers, the threat of DDoS attacks is ever-present.</a:t>
            </a:r>
            <a:endParaRPr lang="en-US" sz="1600" dirty="0">
              <a:latin typeface="Times New Roman" panose="02020603050405020304" pitchFamily="18" charset="0"/>
              <a:cs typeface="Times New Roman" panose="02020603050405020304" pitchFamily="18" charset="0"/>
            </a:endParaRPr>
          </a:p>
          <a:p>
            <a:pPr algn="just"/>
            <a:endParaRPr lang="en-US" sz="1600" i="0" dirty="0">
              <a:effectLst/>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1600" i="0" dirty="0">
                <a:effectLst/>
                <a:latin typeface="Times New Roman" panose="02020603050405020304" pitchFamily="18" charset="0"/>
                <a:cs typeface="Times New Roman" panose="02020603050405020304" pitchFamily="18" charset="0"/>
              </a:rPr>
              <a:t>QUAKER SPECIAL RISK – a </a:t>
            </a:r>
            <a:r>
              <a:rPr lang="en-US" sz="1600" dirty="0" err="1">
                <a:latin typeface="Times New Roman" panose="02020603050405020304" pitchFamily="18" charset="0"/>
                <a:cs typeface="Times New Roman" panose="02020603050405020304" pitchFamily="18" charset="0"/>
              </a:rPr>
              <a:t>J</a:t>
            </a:r>
            <a:r>
              <a:rPr lang="en-US" sz="1600" i="0" dirty="0" err="1">
                <a:effectLst/>
                <a:latin typeface="Times New Roman" panose="02020603050405020304" pitchFamily="18" charset="0"/>
                <a:cs typeface="Times New Roman" panose="02020603050405020304" pitchFamily="18" charset="0"/>
              </a:rPr>
              <a:t>encap</a:t>
            </a:r>
            <a:r>
              <a:rPr lang="en-US" sz="1600" i="0" dirty="0">
                <a:effectLst/>
                <a:latin typeface="Times New Roman" panose="02020603050405020304" pitchFamily="18" charset="0"/>
                <a:cs typeface="Times New Roman" panose="02020603050405020304" pitchFamily="18" charset="0"/>
              </a:rPr>
              <a:t> company, states that 2021 saw upwards of 9.84 million DDoS attacks, with 73% targeting education, finance, government, and healthcare.(Source : </a:t>
            </a:r>
            <a:r>
              <a:rPr lang="en-IN" sz="1600" dirty="0"/>
              <a:t>https://www.getastra.com/blog/security-audit/ddos-attack-statistics/)</a:t>
            </a:r>
            <a:endParaRPr lang="en-US" sz="1600" i="0" dirty="0">
              <a:effectLst/>
              <a:latin typeface="Times New Roman" panose="02020603050405020304" pitchFamily="18" charset="0"/>
              <a:cs typeface="Times New Roman" panose="02020603050405020304" pitchFamily="18" charset="0"/>
            </a:endParaRPr>
          </a:p>
          <a:p>
            <a:pPr algn="just"/>
            <a:endParaRPr lang="en-US" sz="1600" i="0" dirty="0">
              <a:effectLst/>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Engaging in DDoS mitigation initiatives cultivates a culture of ongoing education and adjustment to keep up with changing threats and defensive strategies.</a:t>
            </a:r>
          </a:p>
          <a:p>
            <a:pPr algn="just"/>
            <a:endParaRPr lang="en-US" i="0" dirty="0">
              <a:effectLst/>
              <a:latin typeface="Times New Roman" panose="02020603050405020304" pitchFamily="18" charset="0"/>
              <a:cs typeface="Times New Roman" panose="02020603050405020304" pitchFamily="18" charset="0"/>
            </a:endParaRPr>
          </a:p>
        </p:txBody>
      </p:sp>
      <p:sp>
        <p:nvSpPr>
          <p:cNvPr id="7" name="Footer Placeholder 3"/>
          <p:cNvSpPr>
            <a:spLocks noGrp="1"/>
          </p:cNvSpPr>
          <p:nvPr>
            <p:ph type="ftr" sz="quarter" idx="11"/>
          </p:nvPr>
        </p:nvSpPr>
        <p:spPr>
          <a:xfrm>
            <a:off x="3124200" y="6356350"/>
            <a:ext cx="2895600" cy="365125"/>
          </a:xfrm>
        </p:spPr>
        <p:txBody>
          <a:bodyPr/>
          <a:lstStyle/>
          <a:p>
            <a:r>
              <a:rPr lang="en-US"/>
              <a:t>DEPARTMENT OF COMPUTER SCIENCE AND ENGINEERING – CYBER SECURITY</a:t>
            </a:r>
            <a:endParaRPr lang="en-US" dirty="0"/>
          </a:p>
        </p:txBody>
      </p:sp>
      <p:sp>
        <p:nvSpPr>
          <p:cNvPr id="8" name="Date Placeholder 7">
            <a:extLst>
              <a:ext uri="{FF2B5EF4-FFF2-40B4-BE49-F238E27FC236}">
                <a16:creationId xmlns:a16="http://schemas.microsoft.com/office/drawing/2014/main" xmlns="" id="{63579159-F7B3-C6E7-5041-EBBD43BF65B3}"/>
              </a:ext>
            </a:extLst>
          </p:cNvPr>
          <p:cNvSpPr>
            <a:spLocks noGrp="1"/>
          </p:cNvSpPr>
          <p:nvPr>
            <p:ph type="dt" sz="half" idx="10"/>
          </p:nvPr>
        </p:nvSpPr>
        <p:spPr/>
        <p:txBody>
          <a:bodyPr/>
          <a:lstStyle/>
          <a:p>
            <a:r>
              <a:rPr lang="en-US" dirty="0"/>
              <a:t>Date : </a:t>
            </a:r>
            <a:fld id="{755CCD5C-17A7-4D8E-9FCD-F230D9CF36F6}" type="datetime1">
              <a:rPr lang="en-US" smtClean="0"/>
              <a:t>5/13/2024</a:t>
            </a:fld>
            <a:endParaRPr lang="en-US" dirty="0"/>
          </a:p>
        </p:txBody>
      </p:sp>
      <p:sp>
        <p:nvSpPr>
          <p:cNvPr id="9" name="Slide Number Placeholder 8">
            <a:extLst>
              <a:ext uri="{FF2B5EF4-FFF2-40B4-BE49-F238E27FC236}">
                <a16:creationId xmlns:a16="http://schemas.microsoft.com/office/drawing/2014/main" xmlns="" id="{F6430620-03EE-7EE1-2164-C7BDA6AEE37F}"/>
              </a:ext>
            </a:extLst>
          </p:cNvPr>
          <p:cNvSpPr>
            <a:spLocks noGrp="1"/>
          </p:cNvSpPr>
          <p:nvPr>
            <p:ph type="sldNum" sz="quarter" idx="12"/>
          </p:nvPr>
        </p:nvSpPr>
        <p:spPr/>
        <p:txBody>
          <a:bodyPr/>
          <a:lstStyle/>
          <a:p>
            <a:r>
              <a:rPr lang="en-US" dirty="0"/>
              <a:t>Slide Number: </a:t>
            </a:r>
            <a:fld id="{BECDEB80-DBCE-406A-80BF-FEBEE692EE79}" type="slidenum">
              <a:rPr lang="en-US" smtClean="0"/>
              <a:t>5</a:t>
            </a:fld>
            <a:endParaRPr lang="en-US" dirty="0"/>
          </a:p>
        </p:txBody>
      </p:sp>
    </p:spTree>
    <p:extLst>
      <p:ext uri="{BB962C8B-B14F-4D97-AF65-F5344CB8AC3E}">
        <p14:creationId xmlns:p14="http://schemas.microsoft.com/office/powerpoint/2010/main" val="11259488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116A322A-B790-0E51-0F95-59D65D56BD53}"/>
              </a:ext>
            </a:extLst>
          </p:cNvPr>
          <p:cNvSpPr txBox="1"/>
          <p:nvPr/>
        </p:nvSpPr>
        <p:spPr>
          <a:xfrm>
            <a:off x="491836" y="1035627"/>
            <a:ext cx="8229600" cy="4770537"/>
          </a:xfrm>
          <a:prstGeom prst="rect">
            <a:avLst/>
          </a:prstGeom>
          <a:noFill/>
        </p:spPr>
        <p:txBody>
          <a:bodyPr wrap="square" rtlCol="0">
            <a:spAutoFit/>
          </a:bodyPr>
          <a:lstStyle/>
          <a:p>
            <a:pPr marL="285750" indent="-285750"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IoT is the collective network of connected devices and it is the technology that facilitates communication between devices and the cloud, as well as between the devices themselves.</a:t>
            </a:r>
          </a:p>
          <a:p>
            <a:pPr algn="just"/>
            <a:endParaRPr lang="en-US" sz="16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The Rise of IoT devices has brought about significant advancements and also introduced new security challenges, this includes the threat from DoS and DDoS attacks.</a:t>
            </a:r>
          </a:p>
          <a:p>
            <a:pPr algn="just"/>
            <a:endParaRPr lang="en-US" sz="16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A DoS attack is characterized by using a single computer to launch the attack on the target system.</a:t>
            </a:r>
          </a:p>
          <a:p>
            <a:pPr algn="just"/>
            <a:endParaRPr lang="en-US" sz="16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A DDoS attack is a type of DoS attack that comes from many distributed sources, such as a botnet DDoS attack.</a:t>
            </a:r>
          </a:p>
          <a:p>
            <a:pPr algn="just"/>
            <a:endParaRPr lang="en-US" sz="16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A DoS and DDoS attacks uses malicious attempts to disrupt the normal traffic of a targeted server, service or network by overwhelming the target or its surrounding infrastructure with a flood of Internet traffic beyond its load capacity.</a:t>
            </a:r>
          </a:p>
          <a:p>
            <a:pPr marL="285750" indent="-285750" algn="just">
              <a:buFont typeface="Arial" panose="020B0604020202020204" pitchFamily="34" charset="0"/>
              <a:buChar char="•"/>
            </a:pPr>
            <a:endParaRPr lang="en-US" sz="16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These attacks introduce large response delays, excessive data losses, and service interruptions, resulting in direct impact on availability and integrity of the server.</a:t>
            </a:r>
          </a:p>
          <a:p>
            <a:pPr marL="285750" indent="-285750" algn="just">
              <a:buFont typeface="Arial" panose="020B0604020202020204" pitchFamily="34" charset="0"/>
              <a:buChar char="•"/>
            </a:pPr>
            <a:endParaRPr lang="en-US" sz="1600" dirty="0">
              <a:latin typeface="Times New Roman" panose="02020603050405020304" pitchFamily="18" charset="0"/>
              <a:cs typeface="Times New Roman" panose="02020603050405020304" pitchFamily="18" charset="0"/>
            </a:endParaRPr>
          </a:p>
        </p:txBody>
      </p:sp>
      <p:sp>
        <p:nvSpPr>
          <p:cNvPr id="4" name="Title 1">
            <a:extLst>
              <a:ext uri="{FF2B5EF4-FFF2-40B4-BE49-F238E27FC236}">
                <a16:creationId xmlns:a16="http://schemas.microsoft.com/office/drawing/2014/main" xmlns="" id="{7E8413C5-35C8-DD13-0169-F08568FB1DF9}"/>
              </a:ext>
            </a:extLst>
          </p:cNvPr>
          <p:cNvSpPr txBox="1">
            <a:spLocks/>
          </p:cNvSpPr>
          <p:nvPr/>
        </p:nvSpPr>
        <p:spPr>
          <a:xfrm>
            <a:off x="491836" y="130419"/>
            <a:ext cx="8229600" cy="870572"/>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b="1" dirty="0">
                <a:latin typeface="Times New Roman" panose="02020603050405020304" pitchFamily="18" charset="0"/>
                <a:cs typeface="Times New Roman" panose="02020603050405020304" pitchFamily="18" charset="0"/>
              </a:rPr>
              <a:t>Introduction</a:t>
            </a:r>
            <a:endParaRPr lang="en-IN" b="1" dirty="0">
              <a:latin typeface="Times New Roman" panose="02020603050405020304" pitchFamily="18" charset="0"/>
              <a:cs typeface="Times New Roman" panose="02020603050405020304" pitchFamily="18" charset="0"/>
            </a:endParaRPr>
          </a:p>
        </p:txBody>
      </p:sp>
      <p:sp>
        <p:nvSpPr>
          <p:cNvPr id="6" name="Footer Placeholder 3"/>
          <p:cNvSpPr>
            <a:spLocks noGrp="1"/>
          </p:cNvSpPr>
          <p:nvPr>
            <p:ph type="ftr" sz="quarter" idx="11"/>
          </p:nvPr>
        </p:nvSpPr>
        <p:spPr>
          <a:xfrm>
            <a:off x="3124200" y="6356350"/>
            <a:ext cx="2895600" cy="365125"/>
          </a:xfrm>
        </p:spPr>
        <p:txBody>
          <a:bodyPr/>
          <a:lstStyle/>
          <a:p>
            <a:r>
              <a:rPr lang="en-US"/>
              <a:t>DEPARTMENT OF COMPUTER SCIENCE AND ENGINEERING – CYBER SECURITY</a:t>
            </a:r>
            <a:endParaRPr lang="en-US" dirty="0"/>
          </a:p>
        </p:txBody>
      </p:sp>
      <p:sp>
        <p:nvSpPr>
          <p:cNvPr id="8" name="Date Placeholder 7">
            <a:extLst>
              <a:ext uri="{FF2B5EF4-FFF2-40B4-BE49-F238E27FC236}">
                <a16:creationId xmlns:a16="http://schemas.microsoft.com/office/drawing/2014/main" xmlns="" id="{660B38A2-0E07-666B-3821-66D76FF15F3D}"/>
              </a:ext>
            </a:extLst>
          </p:cNvPr>
          <p:cNvSpPr>
            <a:spLocks noGrp="1"/>
          </p:cNvSpPr>
          <p:nvPr>
            <p:ph type="dt" sz="half" idx="10"/>
          </p:nvPr>
        </p:nvSpPr>
        <p:spPr/>
        <p:txBody>
          <a:bodyPr/>
          <a:lstStyle/>
          <a:p>
            <a:r>
              <a:rPr lang="en-US" dirty="0"/>
              <a:t>Date : </a:t>
            </a:r>
            <a:fld id="{EFABC9A5-EC5F-4FDA-A2B6-FEDB989082AC}" type="datetime1">
              <a:rPr lang="en-US" smtClean="0"/>
              <a:t>5/13/2024</a:t>
            </a:fld>
            <a:endParaRPr lang="en-US" dirty="0"/>
          </a:p>
        </p:txBody>
      </p:sp>
      <p:sp>
        <p:nvSpPr>
          <p:cNvPr id="9" name="Slide Number Placeholder 8">
            <a:extLst>
              <a:ext uri="{FF2B5EF4-FFF2-40B4-BE49-F238E27FC236}">
                <a16:creationId xmlns:a16="http://schemas.microsoft.com/office/drawing/2014/main" xmlns="" id="{584278B8-AA93-D9BF-1176-8633DD6065E5}"/>
              </a:ext>
            </a:extLst>
          </p:cNvPr>
          <p:cNvSpPr>
            <a:spLocks noGrp="1"/>
          </p:cNvSpPr>
          <p:nvPr>
            <p:ph type="sldNum" sz="quarter" idx="12"/>
          </p:nvPr>
        </p:nvSpPr>
        <p:spPr/>
        <p:txBody>
          <a:bodyPr/>
          <a:lstStyle/>
          <a:p>
            <a:r>
              <a:rPr lang="en-US" dirty="0"/>
              <a:t>Slide Number: </a:t>
            </a:r>
            <a:fld id="{BECDEB80-DBCE-406A-80BF-FEBEE692EE79}" type="slidenum">
              <a:rPr lang="en-US" smtClean="0"/>
              <a:t>6</a:t>
            </a:fld>
            <a:endParaRPr lang="en-US" dirty="0"/>
          </a:p>
        </p:txBody>
      </p:sp>
    </p:spTree>
    <p:extLst>
      <p:ext uri="{BB962C8B-B14F-4D97-AF65-F5344CB8AC3E}">
        <p14:creationId xmlns:p14="http://schemas.microsoft.com/office/powerpoint/2010/main" val="36599235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6156A2D-D029-B0BE-59DB-29AF9977D0F8}"/>
              </a:ext>
            </a:extLst>
          </p:cNvPr>
          <p:cNvSpPr>
            <a:spLocks noGrp="1"/>
          </p:cNvSpPr>
          <p:nvPr>
            <p:ph type="title"/>
          </p:nvPr>
        </p:nvSpPr>
        <p:spPr/>
        <p:txBody>
          <a:bodyPr>
            <a:normAutofit fontScale="90000"/>
          </a:bodyPr>
          <a:lstStyle/>
          <a:p>
            <a:r>
              <a:rPr lang="en-US" b="1" dirty="0">
                <a:latin typeface="Times New Roman" panose="02020603050405020304" pitchFamily="18" charset="0"/>
                <a:cs typeface="Times New Roman" panose="02020603050405020304" pitchFamily="18" charset="0"/>
              </a:rPr>
              <a:t>Introduction</a:t>
            </a:r>
            <a:r>
              <a:rPr lang="en-IN" b="1" dirty="0">
                <a:latin typeface="Times New Roman" panose="02020603050405020304" pitchFamily="18" charset="0"/>
                <a:cs typeface="Times New Roman" panose="02020603050405020304" pitchFamily="18" charset="0"/>
              </a:rPr>
              <a:t/>
            </a:r>
            <a:br>
              <a:rPr lang="en-IN" b="1" dirty="0">
                <a:latin typeface="Times New Roman" panose="02020603050405020304" pitchFamily="18" charset="0"/>
                <a:cs typeface="Times New Roman" panose="02020603050405020304" pitchFamily="18" charset="0"/>
              </a:rPr>
            </a:br>
            <a:endParaRPr lang="en-IN" dirty="0"/>
          </a:p>
        </p:txBody>
      </p:sp>
      <p:sp>
        <p:nvSpPr>
          <p:cNvPr id="3" name="Content Placeholder 2">
            <a:extLst>
              <a:ext uri="{FF2B5EF4-FFF2-40B4-BE49-F238E27FC236}">
                <a16:creationId xmlns:a16="http://schemas.microsoft.com/office/drawing/2014/main" xmlns="" id="{1CF4498E-15AE-9C5E-8D93-B0CEBE080472}"/>
              </a:ext>
            </a:extLst>
          </p:cNvPr>
          <p:cNvSpPr>
            <a:spLocks noGrp="1"/>
          </p:cNvSpPr>
          <p:nvPr>
            <p:ph idx="1"/>
          </p:nvPr>
        </p:nvSpPr>
        <p:spPr>
          <a:xfrm>
            <a:off x="762000" y="990600"/>
            <a:ext cx="8229600" cy="5029200"/>
          </a:xfrm>
        </p:spPr>
        <p:txBody>
          <a:bodyPr>
            <a:noAutofit/>
          </a:bodyPr>
          <a:lstStyle/>
          <a:p>
            <a:pPr algn="just"/>
            <a:endParaRPr lang="en-US" sz="16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The Existing have difficulty in coping with the massive traffic impact of these attacks on the DNS and this flutter the DNS routing protocols, resulting in disrupting the services and functionality.</a:t>
            </a:r>
          </a:p>
          <a:p>
            <a:pPr algn="just"/>
            <a:endParaRPr lang="en-US" sz="16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 The Proposed Model uses a Hybrid learning approach to design and implement a lightweight, double-stage anomaly-based IDS to identify malicious DNS traffic.</a:t>
            </a:r>
          </a:p>
          <a:p>
            <a:pPr marL="285750" indent="-285750" algn="just">
              <a:buFont typeface="Arial" panose="020B0604020202020204" pitchFamily="34" charset="0"/>
              <a:buChar char="•"/>
            </a:pPr>
            <a:endParaRPr lang="en-US" sz="16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The Random Forest algorithm, a powerful machine learning technique, will analyze network traffic features to segregate incoming data packets as normal or malicious with high accuracy.</a:t>
            </a:r>
          </a:p>
          <a:p>
            <a:pPr marL="285750" indent="-285750" algn="just">
              <a:buFont typeface="Arial" panose="020B0604020202020204" pitchFamily="34" charset="0"/>
              <a:buChar char="•"/>
            </a:pPr>
            <a:endParaRPr lang="en-US" sz="16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 Context Correlation Algorithm will be employed to analyze the correlation between various network events and identify suspicious patterns indicative of DDoS attacks.</a:t>
            </a:r>
          </a:p>
          <a:p>
            <a:pPr marL="285750" indent="-285750" algn="just">
              <a:buFont typeface="Arial" panose="020B0604020202020204" pitchFamily="34" charset="0"/>
              <a:buChar char="•"/>
            </a:pPr>
            <a:endParaRPr lang="en-US" sz="16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 By combining these approaches, organizations can better safeguard their networks, minimize disruptions, and ensure the uninterrupted delivery of services to their users.</a:t>
            </a:r>
          </a:p>
          <a:p>
            <a:endParaRPr lang="en-IN" sz="1600" b="1"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xmlns="" id="{7507CE57-2934-7F43-9463-F3A029B86B83}"/>
              </a:ext>
            </a:extLst>
          </p:cNvPr>
          <p:cNvSpPr>
            <a:spLocks noGrp="1"/>
          </p:cNvSpPr>
          <p:nvPr>
            <p:ph type="ftr" sz="quarter" idx="11"/>
          </p:nvPr>
        </p:nvSpPr>
        <p:spPr/>
        <p:txBody>
          <a:bodyPr/>
          <a:lstStyle/>
          <a:p>
            <a:r>
              <a:rPr lang="en-US" dirty="0"/>
              <a:t>DEPARTMENT OF COMPUTER SCIENCE AND ENGINEERING – CYBER SECURITY</a:t>
            </a:r>
          </a:p>
        </p:txBody>
      </p:sp>
      <p:sp>
        <p:nvSpPr>
          <p:cNvPr id="8" name="Date Placeholder 7">
            <a:extLst>
              <a:ext uri="{FF2B5EF4-FFF2-40B4-BE49-F238E27FC236}">
                <a16:creationId xmlns:a16="http://schemas.microsoft.com/office/drawing/2014/main" xmlns="" id="{55BD72FD-BE1B-89B5-43D7-62CD5DB662C4}"/>
              </a:ext>
            </a:extLst>
          </p:cNvPr>
          <p:cNvSpPr>
            <a:spLocks noGrp="1"/>
          </p:cNvSpPr>
          <p:nvPr>
            <p:ph type="dt" sz="half" idx="10"/>
          </p:nvPr>
        </p:nvSpPr>
        <p:spPr/>
        <p:txBody>
          <a:bodyPr/>
          <a:lstStyle/>
          <a:p>
            <a:r>
              <a:rPr lang="en-US" dirty="0"/>
              <a:t>Date : </a:t>
            </a:r>
            <a:fld id="{564897F9-5E62-4DEA-A8E7-060AD1C4F151}" type="datetime1">
              <a:rPr lang="en-US" smtClean="0"/>
              <a:t>5/13/2024</a:t>
            </a:fld>
            <a:endParaRPr lang="en-US" dirty="0"/>
          </a:p>
        </p:txBody>
      </p:sp>
      <p:sp>
        <p:nvSpPr>
          <p:cNvPr id="9" name="Slide Number Placeholder 8">
            <a:extLst>
              <a:ext uri="{FF2B5EF4-FFF2-40B4-BE49-F238E27FC236}">
                <a16:creationId xmlns:a16="http://schemas.microsoft.com/office/drawing/2014/main" xmlns="" id="{58FD09C7-B14F-DCC3-0E94-1ADE747AB1FB}"/>
              </a:ext>
            </a:extLst>
          </p:cNvPr>
          <p:cNvSpPr>
            <a:spLocks noGrp="1"/>
          </p:cNvSpPr>
          <p:nvPr>
            <p:ph type="sldNum" sz="quarter" idx="12"/>
          </p:nvPr>
        </p:nvSpPr>
        <p:spPr/>
        <p:txBody>
          <a:bodyPr/>
          <a:lstStyle/>
          <a:p>
            <a:r>
              <a:rPr lang="en-US" dirty="0"/>
              <a:t>Slide Number: </a:t>
            </a:r>
            <a:fld id="{BECDEB80-DBCE-406A-80BF-FEBEE692EE79}" type="slidenum">
              <a:rPr lang="en-US" smtClean="0"/>
              <a:t>7</a:t>
            </a:fld>
            <a:endParaRPr lang="en-US" dirty="0"/>
          </a:p>
        </p:txBody>
      </p:sp>
    </p:spTree>
    <p:extLst>
      <p:ext uri="{BB962C8B-B14F-4D97-AF65-F5344CB8AC3E}">
        <p14:creationId xmlns:p14="http://schemas.microsoft.com/office/powerpoint/2010/main" val="42413819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F3C4BFA-EF7A-2726-E18D-8EC26A5041F7}"/>
              </a:ext>
            </a:extLst>
          </p:cNvPr>
          <p:cNvSpPr>
            <a:spLocks noGrp="1"/>
          </p:cNvSpPr>
          <p:nvPr>
            <p:ph type="title"/>
          </p:nvPr>
        </p:nvSpPr>
        <p:spPr>
          <a:xfrm>
            <a:off x="457200" y="198438"/>
            <a:ext cx="8229600" cy="1143000"/>
          </a:xfrm>
        </p:spPr>
        <p:txBody>
          <a:bodyPr/>
          <a:lstStyle/>
          <a:p>
            <a:r>
              <a:rPr lang="en-IN" dirty="0">
                <a:latin typeface="Times New Roman" panose="02020603050405020304" pitchFamily="18" charset="0"/>
                <a:cs typeface="Times New Roman" panose="02020603050405020304" pitchFamily="18" charset="0"/>
              </a:rPr>
              <a:t>Literature Survey </a:t>
            </a:r>
          </a:p>
        </p:txBody>
      </p:sp>
      <p:graphicFrame>
        <p:nvGraphicFramePr>
          <p:cNvPr id="5" name="Table 5">
            <a:extLst>
              <a:ext uri="{FF2B5EF4-FFF2-40B4-BE49-F238E27FC236}">
                <a16:creationId xmlns:a16="http://schemas.microsoft.com/office/drawing/2014/main" xmlns="" id="{E92485E8-B03D-466E-3351-604518A9B06B}"/>
              </a:ext>
            </a:extLst>
          </p:cNvPr>
          <p:cNvGraphicFramePr>
            <a:graphicFrameLocks noGrp="1"/>
          </p:cNvGraphicFramePr>
          <p:nvPr>
            <p:ph idx="1"/>
            <p:extLst>
              <p:ext uri="{D42A27DB-BD31-4B8C-83A1-F6EECF244321}">
                <p14:modId xmlns:p14="http://schemas.microsoft.com/office/powerpoint/2010/main" val="776964847"/>
              </p:ext>
            </p:extLst>
          </p:nvPr>
        </p:nvGraphicFramePr>
        <p:xfrm>
          <a:off x="457200" y="1341438"/>
          <a:ext cx="8229600" cy="4931378"/>
        </p:xfrm>
        <a:graphic>
          <a:graphicData uri="http://schemas.openxmlformats.org/drawingml/2006/table">
            <a:tbl>
              <a:tblPr firstRow="1" bandRow="1">
                <a:tableStyleId>{5C22544A-7EE6-4342-B048-85BDC9FD1C3A}</a:tableStyleId>
              </a:tblPr>
              <a:tblGrid>
                <a:gridCol w="609600">
                  <a:extLst>
                    <a:ext uri="{9D8B030D-6E8A-4147-A177-3AD203B41FA5}">
                      <a16:colId xmlns:a16="http://schemas.microsoft.com/office/drawing/2014/main" xmlns="" val="2118388853"/>
                    </a:ext>
                  </a:extLst>
                </a:gridCol>
                <a:gridCol w="2057400">
                  <a:extLst>
                    <a:ext uri="{9D8B030D-6E8A-4147-A177-3AD203B41FA5}">
                      <a16:colId xmlns:a16="http://schemas.microsoft.com/office/drawing/2014/main" xmlns="" val="2270197206"/>
                    </a:ext>
                  </a:extLst>
                </a:gridCol>
                <a:gridCol w="762000">
                  <a:extLst>
                    <a:ext uri="{9D8B030D-6E8A-4147-A177-3AD203B41FA5}">
                      <a16:colId xmlns:a16="http://schemas.microsoft.com/office/drawing/2014/main" xmlns="" val="2951581292"/>
                    </a:ext>
                  </a:extLst>
                </a:gridCol>
                <a:gridCol w="2133600">
                  <a:extLst>
                    <a:ext uri="{9D8B030D-6E8A-4147-A177-3AD203B41FA5}">
                      <a16:colId xmlns:a16="http://schemas.microsoft.com/office/drawing/2014/main" xmlns="" val="561052809"/>
                    </a:ext>
                  </a:extLst>
                </a:gridCol>
                <a:gridCol w="2667000">
                  <a:extLst>
                    <a:ext uri="{9D8B030D-6E8A-4147-A177-3AD203B41FA5}">
                      <a16:colId xmlns:a16="http://schemas.microsoft.com/office/drawing/2014/main" xmlns="" val="3531675469"/>
                    </a:ext>
                  </a:extLst>
                </a:gridCol>
              </a:tblGrid>
              <a:tr h="381000">
                <a:tc>
                  <a:txBody>
                    <a:bodyPr/>
                    <a:lstStyle/>
                    <a:p>
                      <a:pPr algn="ctr"/>
                      <a:r>
                        <a:rPr lang="en-IN" sz="1600" dirty="0" err="1">
                          <a:latin typeface="Times New Roman" panose="02020603050405020304" pitchFamily="18" charset="0"/>
                          <a:cs typeface="Times New Roman" panose="02020603050405020304" pitchFamily="18" charset="0"/>
                        </a:rPr>
                        <a:t>S.No</a:t>
                      </a:r>
                      <a:r>
                        <a:rPr lang="en-IN" sz="1600" dirty="0">
                          <a:latin typeface="Times New Roman" panose="02020603050405020304" pitchFamily="18" charset="0"/>
                          <a:cs typeface="Times New Roman" panose="02020603050405020304" pitchFamily="18" charset="0"/>
                        </a:rPr>
                        <a:t>.</a:t>
                      </a:r>
                    </a:p>
                  </a:txBody>
                  <a:tcPr/>
                </a:tc>
                <a:tc>
                  <a:txBody>
                    <a:bodyPr/>
                    <a:lstStyle/>
                    <a:p>
                      <a:pPr algn="ctr"/>
                      <a:r>
                        <a:rPr lang="en-IN" sz="1600" dirty="0">
                          <a:latin typeface="Times New Roman" panose="02020603050405020304" pitchFamily="18" charset="0"/>
                          <a:cs typeface="Times New Roman" panose="02020603050405020304" pitchFamily="18" charset="0"/>
                        </a:rPr>
                        <a:t>Title </a:t>
                      </a:r>
                      <a:r>
                        <a:rPr lang="en-IN" sz="1600">
                          <a:latin typeface="Times New Roman" panose="02020603050405020304" pitchFamily="18" charset="0"/>
                          <a:cs typeface="Times New Roman" panose="02020603050405020304" pitchFamily="18" charset="0"/>
                        </a:rPr>
                        <a:t>of the Paper</a:t>
                      </a:r>
                      <a:endParaRPr lang="en-IN" sz="1600" dirty="0">
                        <a:latin typeface="Times New Roman" panose="02020603050405020304" pitchFamily="18" charset="0"/>
                        <a:cs typeface="Times New Roman" panose="02020603050405020304" pitchFamily="18" charset="0"/>
                      </a:endParaRPr>
                    </a:p>
                  </a:txBody>
                  <a:tcPr/>
                </a:tc>
                <a:tc>
                  <a:txBody>
                    <a:bodyPr/>
                    <a:lstStyle/>
                    <a:p>
                      <a:pPr algn="ctr"/>
                      <a:r>
                        <a:rPr lang="en-IN" sz="1600" dirty="0">
                          <a:latin typeface="Times New Roman" panose="02020603050405020304" pitchFamily="18" charset="0"/>
                          <a:cs typeface="Times New Roman" panose="02020603050405020304" pitchFamily="18" charset="0"/>
                        </a:rPr>
                        <a:t>Year</a:t>
                      </a:r>
                    </a:p>
                  </a:txBody>
                  <a:tcPr/>
                </a:tc>
                <a:tc>
                  <a:txBody>
                    <a:bodyPr/>
                    <a:lstStyle/>
                    <a:p>
                      <a:pPr algn="ctr"/>
                      <a:r>
                        <a:rPr lang="en-IN" sz="1600" dirty="0">
                          <a:latin typeface="Times New Roman" panose="02020603050405020304" pitchFamily="18" charset="0"/>
                          <a:cs typeface="Times New Roman" panose="02020603050405020304" pitchFamily="18" charset="0"/>
                        </a:rPr>
                        <a:t>Journal/Conference Name</a:t>
                      </a:r>
                    </a:p>
                  </a:txBody>
                  <a:tcPr/>
                </a:tc>
                <a:tc>
                  <a:txBody>
                    <a:bodyPr/>
                    <a:lstStyle/>
                    <a:p>
                      <a:pPr algn="ctr"/>
                      <a:r>
                        <a:rPr lang="en-IN" sz="1600" dirty="0">
                          <a:latin typeface="Times New Roman" panose="02020603050405020304" pitchFamily="18" charset="0"/>
                          <a:cs typeface="Times New Roman" panose="02020603050405020304" pitchFamily="18" charset="0"/>
                        </a:rPr>
                        <a:t>Inferences</a:t>
                      </a:r>
                    </a:p>
                  </a:txBody>
                  <a:tcPr/>
                </a:tc>
                <a:extLst>
                  <a:ext uri="{0D108BD9-81ED-4DB2-BD59-A6C34878D82A}">
                    <a16:rowId xmlns:a16="http://schemas.microsoft.com/office/drawing/2014/main" xmlns="" val="2280627976"/>
                  </a:ext>
                </a:extLst>
              </a:tr>
              <a:tr h="2148173">
                <a:tc>
                  <a:txBody>
                    <a:bodyPr/>
                    <a:lstStyle/>
                    <a:p>
                      <a:pPr algn="ctr"/>
                      <a:r>
                        <a:rPr lang="en-IN" sz="1800" dirty="0">
                          <a:latin typeface="Times New Roman" panose="02020603050405020304" pitchFamily="18" charset="0"/>
                          <a:cs typeface="Times New Roman" panose="02020603050405020304" pitchFamily="18" charset="0"/>
                        </a:rPr>
                        <a:t>1.</a:t>
                      </a:r>
                    </a:p>
                  </a:txBody>
                  <a:tcPr anchor="ctr"/>
                </a:tc>
                <a:tc>
                  <a:txBody>
                    <a:bodyPr/>
                    <a:lstStyle/>
                    <a:p>
                      <a:pPr algn="l" fontAlgn="ctr"/>
                      <a:r>
                        <a:rPr lang="en-US" sz="1800" dirty="0">
                          <a:latin typeface="Times New Roman" panose="02020603050405020304" pitchFamily="18" charset="0"/>
                          <a:cs typeface="Times New Roman" panose="02020603050405020304" pitchFamily="18" charset="0"/>
                        </a:rPr>
                        <a:t>A Logical Cyber Security Enabled Methodology Design for Identifying Distributed Denial of Service Attacks Using Enhanced Learning </a:t>
                      </a:r>
                    </a:p>
                    <a:p>
                      <a:pPr algn="l" fontAlgn="ctr"/>
                      <a:r>
                        <a:rPr lang="en-US" sz="1800" dirty="0">
                          <a:latin typeface="Times New Roman" panose="02020603050405020304" pitchFamily="18" charset="0"/>
                          <a:cs typeface="Times New Roman" panose="02020603050405020304" pitchFamily="18" charset="0"/>
                        </a:rPr>
                        <a:t>Principles</a:t>
                      </a:r>
                      <a:endParaRPr lang="en-US" sz="1800" b="0" i="0" u="none" strike="noStrike" dirty="0">
                        <a:solidFill>
                          <a:srgbClr val="333333"/>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ctr"/>
                      <a:r>
                        <a:rPr lang="en-IN" sz="1800" dirty="0">
                          <a:latin typeface="Times New Roman" panose="02020603050405020304" pitchFamily="18" charset="0"/>
                          <a:cs typeface="Times New Roman" panose="02020603050405020304" pitchFamily="18" charset="0"/>
                        </a:rPr>
                        <a:t>2023</a:t>
                      </a:r>
                    </a:p>
                  </a:txBody>
                  <a:tcPr anchor="ctr"/>
                </a:tc>
                <a:tc>
                  <a:txBody>
                    <a:bodyPr/>
                    <a:lstStyle/>
                    <a:p>
                      <a:pPr algn="ctr" fontAlgn="ctr"/>
                      <a:r>
                        <a:rPr lang="en-US" sz="1800" b="0" i="0" u="none" strike="noStrike" dirty="0">
                          <a:solidFill>
                            <a:srgbClr val="000000"/>
                          </a:solidFill>
                          <a:effectLst/>
                          <a:latin typeface="Times New Roman" panose="02020603050405020304" pitchFamily="18" charset="0"/>
                          <a:cs typeface="Times New Roman" panose="02020603050405020304" pitchFamily="18" charset="0"/>
                        </a:rPr>
                        <a:t>ICSCNA</a:t>
                      </a:r>
                      <a:endParaRPr lang="en-IN" sz="18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l" fontAlgn="b"/>
                      <a:r>
                        <a:rPr lang="en-US" sz="1800" dirty="0">
                          <a:latin typeface="Times New Roman" panose="02020603050405020304" pitchFamily="18" charset="0"/>
                          <a:cs typeface="Times New Roman" panose="02020603050405020304" pitchFamily="18" charset="0"/>
                        </a:rPr>
                        <a:t>It proposes a logical cybersecurity methodology integrating enhanced learning principles to identify Distributed Denial of Service (DDoS) attacks effectively</a:t>
                      </a:r>
                    </a:p>
                  </a:txBody>
                  <a:tcPr marL="9525" marR="9525" marT="9525" marB="0" anchor="ctr"/>
                </a:tc>
                <a:extLst>
                  <a:ext uri="{0D108BD9-81ED-4DB2-BD59-A6C34878D82A}">
                    <a16:rowId xmlns:a16="http://schemas.microsoft.com/office/drawing/2014/main" xmlns="" val="3998672782"/>
                  </a:ext>
                </a:extLst>
              </a:tr>
              <a:tr h="2148173">
                <a:tc>
                  <a:txBody>
                    <a:bodyPr/>
                    <a:lstStyle/>
                    <a:p>
                      <a:pPr algn="ctr"/>
                      <a:r>
                        <a:rPr lang="en-US" sz="1800" dirty="0">
                          <a:latin typeface="Times New Roman" panose="02020603050405020304" pitchFamily="18" charset="0"/>
                          <a:cs typeface="Times New Roman" panose="02020603050405020304" pitchFamily="18" charset="0"/>
                        </a:rPr>
                        <a:t>2.</a:t>
                      </a:r>
                      <a:endParaRPr lang="en-IN" sz="1800" dirty="0">
                        <a:latin typeface="Times New Roman" panose="02020603050405020304" pitchFamily="18" charset="0"/>
                        <a:cs typeface="Times New Roman" panose="02020603050405020304" pitchFamily="18" charset="0"/>
                      </a:endParaRPr>
                    </a:p>
                  </a:txBody>
                  <a:tcPr anchor="ctr"/>
                </a:tc>
                <a:tc>
                  <a:txBody>
                    <a:bodyPr/>
                    <a:lstStyle/>
                    <a:p>
                      <a:pPr algn="l" fontAlgn="ctr"/>
                      <a:r>
                        <a:rPr lang="en-US" sz="1800" dirty="0">
                          <a:latin typeface="Times New Roman" panose="02020603050405020304" pitchFamily="18" charset="0"/>
                          <a:cs typeface="Times New Roman" panose="02020603050405020304" pitchFamily="18" charset="0"/>
                        </a:rPr>
                        <a:t>Detection and Mitigation of Low-Rate Denial-of-Service Attacks: A Survey </a:t>
                      </a:r>
                      <a:endParaRPr lang="en-US" sz="1800" b="0" i="0" u="none" strike="noStrike" dirty="0">
                        <a:solidFill>
                          <a:srgbClr val="333333"/>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ctr"/>
                      <a:r>
                        <a:rPr lang="en-US" sz="1800" dirty="0">
                          <a:latin typeface="Times New Roman" panose="02020603050405020304" pitchFamily="18" charset="0"/>
                          <a:cs typeface="Times New Roman" panose="02020603050405020304" pitchFamily="18" charset="0"/>
                        </a:rPr>
                        <a:t>2022</a:t>
                      </a:r>
                      <a:endParaRPr lang="en-IN" sz="1800" dirty="0">
                        <a:latin typeface="Times New Roman" panose="02020603050405020304" pitchFamily="18" charset="0"/>
                        <a:cs typeface="Times New Roman" panose="02020603050405020304" pitchFamily="18" charset="0"/>
                      </a:endParaRPr>
                    </a:p>
                  </a:txBody>
                  <a:tcPr anchor="ctr"/>
                </a:tc>
                <a:tc>
                  <a:txBody>
                    <a:bodyPr/>
                    <a:lstStyle/>
                    <a:p>
                      <a:pPr algn="ctr" fontAlgn="ctr"/>
                      <a:r>
                        <a:rPr lang="en-US" sz="1800" b="0" i="0" u="none" strike="noStrike" dirty="0">
                          <a:solidFill>
                            <a:srgbClr val="000000"/>
                          </a:solidFill>
                          <a:effectLst/>
                          <a:latin typeface="Times New Roman" panose="02020603050405020304" pitchFamily="18" charset="0"/>
                          <a:cs typeface="Times New Roman" panose="02020603050405020304" pitchFamily="18" charset="0"/>
                        </a:rPr>
                        <a:t>IEEE Access</a:t>
                      </a:r>
                      <a:endParaRPr lang="en-IN" sz="18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l" fontAlgn="b"/>
                      <a:r>
                        <a:rPr lang="en-US" sz="1800" b="0" i="0" u="none" strike="noStrike" dirty="0">
                          <a:solidFill>
                            <a:srgbClr val="000000"/>
                          </a:solidFill>
                          <a:effectLst/>
                          <a:latin typeface="Times New Roman" panose="02020603050405020304" pitchFamily="18" charset="0"/>
                          <a:cs typeface="Times New Roman" panose="02020603050405020304" pitchFamily="18" charset="0"/>
                        </a:rPr>
                        <a:t>Improved reliability and resilience. Reduces the consumption of hardware resources Tolerates Variations</a:t>
                      </a:r>
                    </a:p>
                  </a:txBody>
                  <a:tcPr marL="9525" marR="9525" marT="9525" marB="0" anchor="ctr"/>
                </a:tc>
                <a:extLst>
                  <a:ext uri="{0D108BD9-81ED-4DB2-BD59-A6C34878D82A}">
                    <a16:rowId xmlns:a16="http://schemas.microsoft.com/office/drawing/2014/main" xmlns="" val="1588186317"/>
                  </a:ext>
                </a:extLst>
              </a:tr>
            </a:tbl>
          </a:graphicData>
        </a:graphic>
      </p:graphicFrame>
      <p:sp>
        <p:nvSpPr>
          <p:cNvPr id="6" name="Footer Placeholder 3"/>
          <p:cNvSpPr>
            <a:spLocks noGrp="1"/>
          </p:cNvSpPr>
          <p:nvPr>
            <p:ph type="ftr" sz="quarter" idx="11"/>
          </p:nvPr>
        </p:nvSpPr>
        <p:spPr>
          <a:xfrm>
            <a:off x="3124200" y="6400800"/>
            <a:ext cx="2895600" cy="365125"/>
          </a:xfrm>
        </p:spPr>
        <p:txBody>
          <a:bodyPr/>
          <a:lstStyle/>
          <a:p>
            <a:r>
              <a:rPr lang="en-US"/>
              <a:t>DEPARTMENT OF COMPUTER SCIENCE AND ENGINEERING – CYBER SECURITY</a:t>
            </a:r>
            <a:endParaRPr lang="en-US" dirty="0"/>
          </a:p>
        </p:txBody>
      </p:sp>
      <p:sp>
        <p:nvSpPr>
          <p:cNvPr id="8" name="Date Placeholder 7">
            <a:extLst>
              <a:ext uri="{FF2B5EF4-FFF2-40B4-BE49-F238E27FC236}">
                <a16:creationId xmlns:a16="http://schemas.microsoft.com/office/drawing/2014/main" xmlns="" id="{797A68F2-98DB-2213-875C-966FA81BAB4C}"/>
              </a:ext>
            </a:extLst>
          </p:cNvPr>
          <p:cNvSpPr>
            <a:spLocks noGrp="1"/>
          </p:cNvSpPr>
          <p:nvPr>
            <p:ph type="dt" sz="half" idx="10"/>
          </p:nvPr>
        </p:nvSpPr>
        <p:spPr/>
        <p:txBody>
          <a:bodyPr/>
          <a:lstStyle/>
          <a:p>
            <a:r>
              <a:rPr lang="en-US" dirty="0"/>
              <a:t>Date : </a:t>
            </a:r>
            <a:fld id="{E52B932F-1939-47BC-951B-CB410454736A}" type="datetime1">
              <a:rPr lang="en-US" smtClean="0"/>
              <a:t>5/13/2024</a:t>
            </a:fld>
            <a:endParaRPr lang="en-US" dirty="0"/>
          </a:p>
        </p:txBody>
      </p:sp>
      <p:sp>
        <p:nvSpPr>
          <p:cNvPr id="9" name="Slide Number Placeholder 8">
            <a:extLst>
              <a:ext uri="{FF2B5EF4-FFF2-40B4-BE49-F238E27FC236}">
                <a16:creationId xmlns:a16="http://schemas.microsoft.com/office/drawing/2014/main" xmlns="" id="{C38D74A3-0FB7-E993-1DDA-0B62E64429A3}"/>
              </a:ext>
            </a:extLst>
          </p:cNvPr>
          <p:cNvSpPr>
            <a:spLocks noGrp="1"/>
          </p:cNvSpPr>
          <p:nvPr>
            <p:ph type="sldNum" sz="quarter" idx="12"/>
          </p:nvPr>
        </p:nvSpPr>
        <p:spPr/>
        <p:txBody>
          <a:bodyPr/>
          <a:lstStyle/>
          <a:p>
            <a:r>
              <a:rPr lang="en-US" dirty="0"/>
              <a:t>Slide Number: </a:t>
            </a:r>
            <a:fld id="{BECDEB80-DBCE-406A-80BF-FEBEE692EE79}" type="slidenum">
              <a:rPr lang="en-US" smtClean="0"/>
              <a:t>8</a:t>
            </a:fld>
            <a:endParaRPr lang="en-US" dirty="0"/>
          </a:p>
        </p:txBody>
      </p:sp>
    </p:spTree>
    <p:extLst>
      <p:ext uri="{BB962C8B-B14F-4D97-AF65-F5344CB8AC3E}">
        <p14:creationId xmlns:p14="http://schemas.microsoft.com/office/powerpoint/2010/main" val="7534619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F3C4BFA-EF7A-2726-E18D-8EC26A5041F7}"/>
              </a:ext>
            </a:extLst>
          </p:cNvPr>
          <p:cNvSpPr>
            <a:spLocks noGrp="1"/>
          </p:cNvSpPr>
          <p:nvPr>
            <p:ph type="title"/>
          </p:nvPr>
        </p:nvSpPr>
        <p:spPr>
          <a:xfrm>
            <a:off x="457200" y="76200"/>
            <a:ext cx="8229600" cy="533400"/>
          </a:xfrm>
        </p:spPr>
        <p:txBody>
          <a:bodyPr>
            <a:normAutofit fontScale="90000"/>
          </a:bodyPr>
          <a:lstStyle/>
          <a:p>
            <a:r>
              <a:rPr lang="en-IN" dirty="0">
                <a:latin typeface="Times New Roman" panose="02020603050405020304" pitchFamily="18" charset="0"/>
                <a:cs typeface="Times New Roman" panose="02020603050405020304" pitchFamily="18" charset="0"/>
              </a:rPr>
              <a:t>Literature Survey</a:t>
            </a:r>
          </a:p>
        </p:txBody>
      </p:sp>
      <p:graphicFrame>
        <p:nvGraphicFramePr>
          <p:cNvPr id="5" name="Table 5">
            <a:extLst>
              <a:ext uri="{FF2B5EF4-FFF2-40B4-BE49-F238E27FC236}">
                <a16:creationId xmlns:a16="http://schemas.microsoft.com/office/drawing/2014/main" xmlns="" id="{E92485E8-B03D-466E-3351-604518A9B06B}"/>
              </a:ext>
            </a:extLst>
          </p:cNvPr>
          <p:cNvGraphicFramePr>
            <a:graphicFrameLocks noGrp="1"/>
          </p:cNvGraphicFramePr>
          <p:nvPr>
            <p:ph idx="1"/>
            <p:extLst>
              <p:ext uri="{D42A27DB-BD31-4B8C-83A1-F6EECF244321}">
                <p14:modId xmlns:p14="http://schemas.microsoft.com/office/powerpoint/2010/main" val="1876415050"/>
              </p:ext>
            </p:extLst>
          </p:nvPr>
        </p:nvGraphicFramePr>
        <p:xfrm>
          <a:off x="457200" y="827589"/>
          <a:ext cx="8229600" cy="5261610"/>
        </p:xfrm>
        <a:graphic>
          <a:graphicData uri="http://schemas.openxmlformats.org/drawingml/2006/table">
            <a:tbl>
              <a:tblPr firstRow="1" bandRow="1">
                <a:tableStyleId>{5C22544A-7EE6-4342-B048-85BDC9FD1C3A}</a:tableStyleId>
              </a:tblPr>
              <a:tblGrid>
                <a:gridCol w="762000">
                  <a:extLst>
                    <a:ext uri="{9D8B030D-6E8A-4147-A177-3AD203B41FA5}">
                      <a16:colId xmlns:a16="http://schemas.microsoft.com/office/drawing/2014/main" xmlns="" val="2118388853"/>
                    </a:ext>
                  </a:extLst>
                </a:gridCol>
                <a:gridCol w="1905000">
                  <a:extLst>
                    <a:ext uri="{9D8B030D-6E8A-4147-A177-3AD203B41FA5}">
                      <a16:colId xmlns:a16="http://schemas.microsoft.com/office/drawing/2014/main" xmlns="" val="2270197206"/>
                    </a:ext>
                  </a:extLst>
                </a:gridCol>
                <a:gridCol w="762000">
                  <a:extLst>
                    <a:ext uri="{9D8B030D-6E8A-4147-A177-3AD203B41FA5}">
                      <a16:colId xmlns:a16="http://schemas.microsoft.com/office/drawing/2014/main" xmlns="" val="2951581292"/>
                    </a:ext>
                  </a:extLst>
                </a:gridCol>
                <a:gridCol w="2133600">
                  <a:extLst>
                    <a:ext uri="{9D8B030D-6E8A-4147-A177-3AD203B41FA5}">
                      <a16:colId xmlns:a16="http://schemas.microsoft.com/office/drawing/2014/main" xmlns="" val="561052809"/>
                    </a:ext>
                  </a:extLst>
                </a:gridCol>
                <a:gridCol w="2667000">
                  <a:extLst>
                    <a:ext uri="{9D8B030D-6E8A-4147-A177-3AD203B41FA5}">
                      <a16:colId xmlns:a16="http://schemas.microsoft.com/office/drawing/2014/main" xmlns="" val="3531675469"/>
                    </a:ext>
                  </a:extLst>
                </a:gridCol>
              </a:tblGrid>
              <a:tr h="381000">
                <a:tc>
                  <a:txBody>
                    <a:bodyPr/>
                    <a:lstStyle/>
                    <a:p>
                      <a:pPr algn="ctr"/>
                      <a:r>
                        <a:rPr lang="en-IN" sz="1600" dirty="0" err="1">
                          <a:latin typeface="Times New Roman" panose="02020603050405020304" pitchFamily="18" charset="0"/>
                          <a:cs typeface="Times New Roman" panose="02020603050405020304" pitchFamily="18" charset="0"/>
                        </a:rPr>
                        <a:t>S.No</a:t>
                      </a:r>
                      <a:r>
                        <a:rPr lang="en-IN" sz="1600" dirty="0">
                          <a:latin typeface="Times New Roman" panose="02020603050405020304" pitchFamily="18" charset="0"/>
                          <a:cs typeface="Times New Roman" panose="02020603050405020304" pitchFamily="18" charset="0"/>
                        </a:rPr>
                        <a:t>.</a:t>
                      </a:r>
                    </a:p>
                  </a:txBody>
                  <a:tcPr/>
                </a:tc>
                <a:tc>
                  <a:txBody>
                    <a:bodyPr/>
                    <a:lstStyle/>
                    <a:p>
                      <a:pPr algn="ctr"/>
                      <a:r>
                        <a:rPr lang="en-IN" sz="1600" dirty="0">
                          <a:latin typeface="Times New Roman" panose="02020603050405020304" pitchFamily="18" charset="0"/>
                          <a:cs typeface="Times New Roman" panose="02020603050405020304" pitchFamily="18" charset="0"/>
                        </a:rPr>
                        <a:t>Title of the Paper</a:t>
                      </a:r>
                    </a:p>
                  </a:txBody>
                  <a:tcPr/>
                </a:tc>
                <a:tc>
                  <a:txBody>
                    <a:bodyPr/>
                    <a:lstStyle/>
                    <a:p>
                      <a:pPr algn="ctr"/>
                      <a:r>
                        <a:rPr lang="en-IN" sz="1600" dirty="0">
                          <a:latin typeface="Times New Roman" panose="02020603050405020304" pitchFamily="18" charset="0"/>
                          <a:cs typeface="Times New Roman" panose="02020603050405020304" pitchFamily="18" charset="0"/>
                        </a:rPr>
                        <a:t>Year</a:t>
                      </a:r>
                    </a:p>
                  </a:txBody>
                  <a:tcPr/>
                </a:tc>
                <a:tc>
                  <a:txBody>
                    <a:bodyPr/>
                    <a:lstStyle/>
                    <a:p>
                      <a:pPr algn="ctr"/>
                      <a:r>
                        <a:rPr lang="en-IN" sz="1600" dirty="0">
                          <a:latin typeface="Times New Roman" panose="02020603050405020304" pitchFamily="18" charset="0"/>
                          <a:cs typeface="Times New Roman" panose="02020603050405020304" pitchFamily="18" charset="0"/>
                        </a:rPr>
                        <a:t>Journal/Conference Name</a:t>
                      </a:r>
                    </a:p>
                  </a:txBody>
                  <a:tcPr/>
                </a:tc>
                <a:tc>
                  <a:txBody>
                    <a:bodyPr/>
                    <a:lstStyle/>
                    <a:p>
                      <a:pPr algn="ctr"/>
                      <a:r>
                        <a:rPr lang="en-IN" sz="1600" dirty="0">
                          <a:latin typeface="Times New Roman" panose="02020603050405020304" pitchFamily="18" charset="0"/>
                          <a:cs typeface="Times New Roman" panose="02020603050405020304" pitchFamily="18" charset="0"/>
                        </a:rPr>
                        <a:t>Inferences</a:t>
                      </a:r>
                    </a:p>
                  </a:txBody>
                  <a:tcPr/>
                </a:tc>
                <a:extLst>
                  <a:ext uri="{0D108BD9-81ED-4DB2-BD59-A6C34878D82A}">
                    <a16:rowId xmlns:a16="http://schemas.microsoft.com/office/drawing/2014/main" xmlns="" val="2280627976"/>
                  </a:ext>
                </a:extLst>
              </a:tr>
              <a:tr h="2148173">
                <a:tc>
                  <a:txBody>
                    <a:bodyPr/>
                    <a:lstStyle/>
                    <a:p>
                      <a:pPr algn="ctr"/>
                      <a:r>
                        <a:rPr lang="en-US" sz="1800" dirty="0">
                          <a:latin typeface="Times New Roman" panose="02020603050405020304" pitchFamily="18" charset="0"/>
                          <a:cs typeface="Times New Roman" panose="02020603050405020304" pitchFamily="18" charset="0"/>
                        </a:rPr>
                        <a:t>3.</a:t>
                      </a:r>
                      <a:endParaRPr lang="en-IN" sz="1800" dirty="0">
                        <a:latin typeface="Times New Roman" panose="02020603050405020304" pitchFamily="18" charset="0"/>
                        <a:cs typeface="Times New Roman" panose="02020603050405020304" pitchFamily="18" charset="0"/>
                      </a:endParaRPr>
                    </a:p>
                  </a:txBody>
                  <a:tcPr anchor="ctr"/>
                </a:tc>
                <a:tc>
                  <a:txBody>
                    <a:bodyPr/>
                    <a:lstStyle/>
                    <a:p>
                      <a:pPr algn="l" fontAlgn="ctr"/>
                      <a:r>
                        <a:rPr lang="en-US" sz="1800" dirty="0">
                          <a:latin typeface="Times New Roman" panose="02020603050405020304" pitchFamily="18" charset="0"/>
                          <a:cs typeface="Times New Roman" panose="02020603050405020304" pitchFamily="18" charset="0"/>
                        </a:rPr>
                        <a:t>Internet of Things Applications, Security Challenges, Attacks, Intrusion Detection, and Future Visions: A Systematic Review </a:t>
                      </a:r>
                      <a:endParaRPr lang="en-US" sz="1800" b="0" i="0" u="none" strike="noStrike" dirty="0">
                        <a:solidFill>
                          <a:srgbClr val="333333"/>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ctr"/>
                      <a:r>
                        <a:rPr lang="en-US" sz="1800" dirty="0">
                          <a:latin typeface="Times New Roman" panose="02020603050405020304" pitchFamily="18" charset="0"/>
                          <a:cs typeface="Times New Roman" panose="02020603050405020304" pitchFamily="18" charset="0"/>
                        </a:rPr>
                        <a:t>2021</a:t>
                      </a:r>
                      <a:endParaRPr lang="en-IN" sz="1800" dirty="0">
                        <a:latin typeface="Times New Roman" panose="02020603050405020304" pitchFamily="18" charset="0"/>
                        <a:cs typeface="Times New Roman" panose="02020603050405020304" pitchFamily="18" charset="0"/>
                      </a:endParaRPr>
                    </a:p>
                  </a:txBody>
                  <a:tcPr anchor="ctr"/>
                </a:tc>
                <a:tc>
                  <a:txBody>
                    <a:bodyPr/>
                    <a:lstStyle/>
                    <a:p>
                      <a:pPr algn="ctr" fontAlgn="ctr"/>
                      <a:r>
                        <a:rPr lang="en-US" sz="1800" b="0" i="0" u="none" strike="noStrike" dirty="0">
                          <a:solidFill>
                            <a:srgbClr val="000000"/>
                          </a:solidFill>
                          <a:effectLst/>
                          <a:latin typeface="Times New Roman" panose="02020603050405020304" pitchFamily="18" charset="0"/>
                          <a:cs typeface="Times New Roman" panose="02020603050405020304" pitchFamily="18" charset="0"/>
                        </a:rPr>
                        <a:t>IEEE Access</a:t>
                      </a:r>
                      <a:endParaRPr lang="en-IN" sz="18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l" fontAlgn="b"/>
                      <a:r>
                        <a:rPr lang="en-US" sz="1800" b="0" i="0" u="none" strike="noStrike" dirty="0">
                          <a:solidFill>
                            <a:srgbClr val="000000"/>
                          </a:solidFill>
                          <a:effectLst/>
                          <a:latin typeface="Times New Roman" panose="02020603050405020304" pitchFamily="18" charset="0"/>
                          <a:cs typeface="Times New Roman" panose="02020603050405020304" pitchFamily="18" charset="0"/>
                        </a:rPr>
                        <a:t>Ability To Deliver High Quality Results.  Minimizes the workload on infrastructures.  Performs better on various circumstances and environment.</a:t>
                      </a:r>
                    </a:p>
                  </a:txBody>
                  <a:tcPr marL="9525" marR="9525" marT="9525" marB="0" anchor="ctr"/>
                </a:tc>
                <a:extLst>
                  <a:ext uri="{0D108BD9-81ED-4DB2-BD59-A6C34878D82A}">
                    <a16:rowId xmlns:a16="http://schemas.microsoft.com/office/drawing/2014/main" xmlns="" val="3998672782"/>
                  </a:ext>
                </a:extLst>
              </a:tr>
              <a:tr h="2148173">
                <a:tc>
                  <a:txBody>
                    <a:bodyPr/>
                    <a:lstStyle/>
                    <a:p>
                      <a:pPr algn="ctr"/>
                      <a:r>
                        <a:rPr lang="en-US" sz="1800" dirty="0">
                          <a:latin typeface="Times New Roman" panose="02020603050405020304" pitchFamily="18" charset="0"/>
                          <a:cs typeface="Times New Roman" panose="02020603050405020304" pitchFamily="18" charset="0"/>
                        </a:rPr>
                        <a:t>4.</a:t>
                      </a:r>
                      <a:endParaRPr lang="en-IN" sz="1800" dirty="0">
                        <a:latin typeface="Times New Roman" panose="02020603050405020304" pitchFamily="18" charset="0"/>
                        <a:cs typeface="Times New Roman" panose="02020603050405020304" pitchFamily="18" charset="0"/>
                      </a:endParaRPr>
                    </a:p>
                  </a:txBody>
                  <a:tcPr anchor="ctr"/>
                </a:tc>
                <a:tc>
                  <a:txBody>
                    <a:bodyPr/>
                    <a:lstStyle/>
                    <a:p>
                      <a:pPr algn="l" fontAlgn="ctr"/>
                      <a:r>
                        <a:rPr lang="en-US" sz="1800" dirty="0">
                          <a:latin typeface="Times New Roman" panose="02020603050405020304" pitchFamily="18" charset="0"/>
                          <a:cs typeface="Times New Roman" panose="02020603050405020304" pitchFamily="18" charset="0"/>
                        </a:rPr>
                        <a:t>Signature-Based Traffic Classification and Mitigation for DDoS Attacks Using Programmable Network Data Planes </a:t>
                      </a:r>
                      <a:endParaRPr lang="en-US" sz="1800" b="0" i="0" u="none" strike="noStrike" dirty="0">
                        <a:solidFill>
                          <a:srgbClr val="333333"/>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ctr"/>
                      <a:r>
                        <a:rPr lang="en-US" sz="1800" dirty="0">
                          <a:latin typeface="Times New Roman" panose="02020603050405020304" pitchFamily="18" charset="0"/>
                          <a:cs typeface="Times New Roman" panose="02020603050405020304" pitchFamily="18" charset="0"/>
                        </a:rPr>
                        <a:t>2021</a:t>
                      </a:r>
                      <a:endParaRPr lang="en-IN" sz="1800" dirty="0">
                        <a:latin typeface="Times New Roman" panose="02020603050405020304" pitchFamily="18" charset="0"/>
                        <a:cs typeface="Times New Roman" panose="02020603050405020304" pitchFamily="18" charset="0"/>
                      </a:endParaRPr>
                    </a:p>
                  </a:txBody>
                  <a:tcPr anchor="ctr"/>
                </a:tc>
                <a:tc>
                  <a:txBody>
                    <a:bodyPr/>
                    <a:lstStyle/>
                    <a:p>
                      <a:pPr algn="ctr" fontAlgn="ctr"/>
                      <a:r>
                        <a:rPr lang="en-US" sz="1800" b="0" i="0" u="none" strike="noStrike" dirty="0">
                          <a:solidFill>
                            <a:srgbClr val="000000"/>
                          </a:solidFill>
                          <a:effectLst/>
                          <a:latin typeface="Times New Roman" panose="02020603050405020304" pitchFamily="18" charset="0"/>
                          <a:cs typeface="Times New Roman" panose="02020603050405020304" pitchFamily="18" charset="0"/>
                        </a:rPr>
                        <a:t>IEEE Access</a:t>
                      </a:r>
                      <a:endParaRPr lang="en-IN" sz="18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l" fontAlgn="b"/>
                      <a:r>
                        <a:rPr lang="en-US" sz="1800" b="0" i="0" u="none" strike="noStrike" dirty="0">
                          <a:solidFill>
                            <a:srgbClr val="000000"/>
                          </a:solidFill>
                          <a:effectLst/>
                          <a:latin typeface="Times New Roman" panose="02020603050405020304" pitchFamily="18" charset="0"/>
                          <a:cs typeface="Times New Roman" panose="02020603050405020304" pitchFamily="18" charset="0"/>
                        </a:rPr>
                        <a:t>It provides easy information processing and cost reduction as well.  Offer increased flexibility.  Quick Calculation Time</a:t>
                      </a:r>
                    </a:p>
                  </a:txBody>
                  <a:tcPr marL="9525" marR="9525" marT="9525" marB="0" anchor="ctr"/>
                </a:tc>
                <a:extLst>
                  <a:ext uri="{0D108BD9-81ED-4DB2-BD59-A6C34878D82A}">
                    <a16:rowId xmlns:a16="http://schemas.microsoft.com/office/drawing/2014/main" xmlns="" val="1694687308"/>
                  </a:ext>
                </a:extLst>
              </a:tr>
            </a:tbl>
          </a:graphicData>
        </a:graphic>
      </p:graphicFrame>
      <p:sp>
        <p:nvSpPr>
          <p:cNvPr id="7" name="Footer Placeholder 3"/>
          <p:cNvSpPr>
            <a:spLocks noGrp="1"/>
          </p:cNvSpPr>
          <p:nvPr>
            <p:ph type="ftr" sz="quarter" idx="11"/>
          </p:nvPr>
        </p:nvSpPr>
        <p:spPr>
          <a:xfrm>
            <a:off x="3124200" y="6356350"/>
            <a:ext cx="2895600" cy="365125"/>
          </a:xfrm>
        </p:spPr>
        <p:txBody>
          <a:bodyPr/>
          <a:lstStyle/>
          <a:p>
            <a:r>
              <a:rPr lang="en-US"/>
              <a:t>DEPARTMENT OF COMPUTER SCIENCE AND ENGINEERING – CYBER SECURITY</a:t>
            </a:r>
            <a:endParaRPr lang="en-US" dirty="0"/>
          </a:p>
        </p:txBody>
      </p:sp>
      <p:sp>
        <p:nvSpPr>
          <p:cNvPr id="8" name="Date Placeholder 7">
            <a:extLst>
              <a:ext uri="{FF2B5EF4-FFF2-40B4-BE49-F238E27FC236}">
                <a16:creationId xmlns:a16="http://schemas.microsoft.com/office/drawing/2014/main" xmlns="" id="{6DFDA4C0-4059-CA8D-1D2E-883FA690C99D}"/>
              </a:ext>
            </a:extLst>
          </p:cNvPr>
          <p:cNvSpPr>
            <a:spLocks noGrp="1"/>
          </p:cNvSpPr>
          <p:nvPr>
            <p:ph type="dt" sz="half" idx="10"/>
          </p:nvPr>
        </p:nvSpPr>
        <p:spPr/>
        <p:txBody>
          <a:bodyPr/>
          <a:lstStyle/>
          <a:p>
            <a:r>
              <a:rPr lang="en-US" dirty="0"/>
              <a:t>Date : </a:t>
            </a:r>
            <a:fld id="{2271B5A1-F774-4908-92B6-50D8D6597BF2}" type="datetime1">
              <a:rPr lang="en-US" smtClean="0"/>
              <a:t>5/13/2024</a:t>
            </a:fld>
            <a:endParaRPr lang="en-US" dirty="0"/>
          </a:p>
        </p:txBody>
      </p:sp>
      <p:sp>
        <p:nvSpPr>
          <p:cNvPr id="9" name="Slide Number Placeholder 8">
            <a:extLst>
              <a:ext uri="{FF2B5EF4-FFF2-40B4-BE49-F238E27FC236}">
                <a16:creationId xmlns:a16="http://schemas.microsoft.com/office/drawing/2014/main" xmlns="" id="{2F7ADA14-85D9-27D1-8497-F08D04682257}"/>
              </a:ext>
            </a:extLst>
          </p:cNvPr>
          <p:cNvSpPr>
            <a:spLocks noGrp="1"/>
          </p:cNvSpPr>
          <p:nvPr>
            <p:ph type="sldNum" sz="quarter" idx="12"/>
          </p:nvPr>
        </p:nvSpPr>
        <p:spPr/>
        <p:txBody>
          <a:bodyPr/>
          <a:lstStyle/>
          <a:p>
            <a:r>
              <a:rPr lang="en-US" dirty="0"/>
              <a:t>Slide Number: </a:t>
            </a:r>
            <a:fld id="{BECDEB80-DBCE-406A-80BF-FEBEE692EE79}" type="slidenum">
              <a:rPr lang="en-US" smtClean="0"/>
              <a:t>9</a:t>
            </a:fld>
            <a:endParaRPr lang="en-US" dirty="0"/>
          </a:p>
        </p:txBody>
      </p:sp>
    </p:spTree>
    <p:extLst>
      <p:ext uri="{BB962C8B-B14F-4D97-AF65-F5344CB8AC3E}">
        <p14:creationId xmlns:p14="http://schemas.microsoft.com/office/powerpoint/2010/main" val="3953952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F3C4BFA-EF7A-2726-E18D-8EC26A5041F7}"/>
              </a:ext>
            </a:extLst>
          </p:cNvPr>
          <p:cNvSpPr>
            <a:spLocks noGrp="1"/>
          </p:cNvSpPr>
          <p:nvPr>
            <p:ph type="title"/>
          </p:nvPr>
        </p:nvSpPr>
        <p:spPr>
          <a:xfrm>
            <a:off x="762000" y="-152400"/>
            <a:ext cx="7391400" cy="1066800"/>
          </a:xfrm>
        </p:spPr>
        <p:txBody>
          <a:bodyPr/>
          <a:lstStyle/>
          <a:p>
            <a:r>
              <a:rPr lang="en-IN" dirty="0">
                <a:latin typeface="Times New Roman" panose="02020603050405020304" pitchFamily="18" charset="0"/>
                <a:cs typeface="Times New Roman" panose="02020603050405020304" pitchFamily="18" charset="0"/>
              </a:rPr>
              <a:t>Literature Survey</a:t>
            </a:r>
          </a:p>
        </p:txBody>
      </p:sp>
      <p:graphicFrame>
        <p:nvGraphicFramePr>
          <p:cNvPr id="5" name="Table 5">
            <a:extLst>
              <a:ext uri="{FF2B5EF4-FFF2-40B4-BE49-F238E27FC236}">
                <a16:creationId xmlns:a16="http://schemas.microsoft.com/office/drawing/2014/main" xmlns="" id="{E92485E8-B03D-466E-3351-604518A9B06B}"/>
              </a:ext>
            </a:extLst>
          </p:cNvPr>
          <p:cNvGraphicFramePr>
            <a:graphicFrameLocks noGrp="1"/>
          </p:cNvGraphicFramePr>
          <p:nvPr>
            <p:ph idx="1"/>
            <p:extLst>
              <p:ext uri="{D42A27DB-BD31-4B8C-83A1-F6EECF244321}">
                <p14:modId xmlns:p14="http://schemas.microsoft.com/office/powerpoint/2010/main" val="3418893507"/>
              </p:ext>
            </p:extLst>
          </p:nvPr>
        </p:nvGraphicFramePr>
        <p:xfrm>
          <a:off x="457200" y="936523"/>
          <a:ext cx="8229600" cy="5205698"/>
        </p:xfrm>
        <a:graphic>
          <a:graphicData uri="http://schemas.openxmlformats.org/drawingml/2006/table">
            <a:tbl>
              <a:tblPr firstRow="1" bandRow="1">
                <a:tableStyleId>{5C22544A-7EE6-4342-B048-85BDC9FD1C3A}</a:tableStyleId>
              </a:tblPr>
              <a:tblGrid>
                <a:gridCol w="762000">
                  <a:extLst>
                    <a:ext uri="{9D8B030D-6E8A-4147-A177-3AD203B41FA5}">
                      <a16:colId xmlns:a16="http://schemas.microsoft.com/office/drawing/2014/main" xmlns="" val="2118388853"/>
                    </a:ext>
                  </a:extLst>
                </a:gridCol>
                <a:gridCol w="1905000">
                  <a:extLst>
                    <a:ext uri="{9D8B030D-6E8A-4147-A177-3AD203B41FA5}">
                      <a16:colId xmlns:a16="http://schemas.microsoft.com/office/drawing/2014/main" xmlns="" val="2270197206"/>
                    </a:ext>
                  </a:extLst>
                </a:gridCol>
                <a:gridCol w="762000">
                  <a:extLst>
                    <a:ext uri="{9D8B030D-6E8A-4147-A177-3AD203B41FA5}">
                      <a16:colId xmlns:a16="http://schemas.microsoft.com/office/drawing/2014/main" xmlns="" val="2951581292"/>
                    </a:ext>
                  </a:extLst>
                </a:gridCol>
                <a:gridCol w="1828800">
                  <a:extLst>
                    <a:ext uri="{9D8B030D-6E8A-4147-A177-3AD203B41FA5}">
                      <a16:colId xmlns:a16="http://schemas.microsoft.com/office/drawing/2014/main" xmlns="" val="561052809"/>
                    </a:ext>
                  </a:extLst>
                </a:gridCol>
                <a:gridCol w="2971800">
                  <a:extLst>
                    <a:ext uri="{9D8B030D-6E8A-4147-A177-3AD203B41FA5}">
                      <a16:colId xmlns:a16="http://schemas.microsoft.com/office/drawing/2014/main" xmlns="" val="3531675469"/>
                    </a:ext>
                  </a:extLst>
                </a:gridCol>
              </a:tblGrid>
              <a:tr h="381000">
                <a:tc>
                  <a:txBody>
                    <a:bodyPr/>
                    <a:lstStyle/>
                    <a:p>
                      <a:pPr algn="ctr"/>
                      <a:r>
                        <a:rPr lang="en-IN" sz="1600" dirty="0" err="1">
                          <a:latin typeface="Times New Roman" panose="02020603050405020304" pitchFamily="18" charset="0"/>
                          <a:cs typeface="Times New Roman" panose="02020603050405020304" pitchFamily="18" charset="0"/>
                        </a:rPr>
                        <a:t>S.No</a:t>
                      </a:r>
                      <a:r>
                        <a:rPr lang="en-IN" sz="1600" dirty="0">
                          <a:latin typeface="Times New Roman" panose="02020603050405020304" pitchFamily="18" charset="0"/>
                          <a:cs typeface="Times New Roman" panose="02020603050405020304" pitchFamily="18" charset="0"/>
                        </a:rPr>
                        <a:t>.</a:t>
                      </a:r>
                    </a:p>
                  </a:txBody>
                  <a:tcPr/>
                </a:tc>
                <a:tc>
                  <a:txBody>
                    <a:bodyPr/>
                    <a:lstStyle/>
                    <a:p>
                      <a:pPr algn="ctr"/>
                      <a:r>
                        <a:rPr lang="en-IN" sz="1600" dirty="0">
                          <a:latin typeface="Times New Roman" panose="02020603050405020304" pitchFamily="18" charset="0"/>
                          <a:cs typeface="Times New Roman" panose="02020603050405020304" pitchFamily="18" charset="0"/>
                        </a:rPr>
                        <a:t>Title of the Paper</a:t>
                      </a:r>
                    </a:p>
                  </a:txBody>
                  <a:tcPr/>
                </a:tc>
                <a:tc>
                  <a:txBody>
                    <a:bodyPr/>
                    <a:lstStyle/>
                    <a:p>
                      <a:pPr algn="ctr"/>
                      <a:r>
                        <a:rPr lang="en-IN" sz="1600" dirty="0">
                          <a:latin typeface="Times New Roman" panose="02020603050405020304" pitchFamily="18" charset="0"/>
                          <a:cs typeface="Times New Roman" panose="02020603050405020304" pitchFamily="18" charset="0"/>
                        </a:rPr>
                        <a:t>Year</a:t>
                      </a:r>
                    </a:p>
                  </a:txBody>
                  <a:tcPr/>
                </a:tc>
                <a:tc>
                  <a:txBody>
                    <a:bodyPr/>
                    <a:lstStyle/>
                    <a:p>
                      <a:pPr algn="ctr"/>
                      <a:r>
                        <a:rPr lang="en-IN" sz="1600" dirty="0">
                          <a:latin typeface="Times New Roman" panose="02020603050405020304" pitchFamily="18" charset="0"/>
                          <a:cs typeface="Times New Roman" panose="02020603050405020304" pitchFamily="18" charset="0"/>
                        </a:rPr>
                        <a:t>Journal/Conference Name</a:t>
                      </a:r>
                    </a:p>
                  </a:txBody>
                  <a:tcPr/>
                </a:tc>
                <a:tc>
                  <a:txBody>
                    <a:bodyPr/>
                    <a:lstStyle/>
                    <a:p>
                      <a:pPr algn="ctr"/>
                      <a:r>
                        <a:rPr lang="en-IN" sz="1600" dirty="0">
                          <a:latin typeface="Times New Roman" panose="02020603050405020304" pitchFamily="18" charset="0"/>
                          <a:cs typeface="Times New Roman" panose="02020603050405020304" pitchFamily="18" charset="0"/>
                        </a:rPr>
                        <a:t>Inferences</a:t>
                      </a:r>
                    </a:p>
                  </a:txBody>
                  <a:tcPr/>
                </a:tc>
                <a:extLst>
                  <a:ext uri="{0D108BD9-81ED-4DB2-BD59-A6C34878D82A}">
                    <a16:rowId xmlns:a16="http://schemas.microsoft.com/office/drawing/2014/main" xmlns="" val="2280627976"/>
                  </a:ext>
                </a:extLst>
              </a:tr>
              <a:tr h="2148173">
                <a:tc>
                  <a:txBody>
                    <a:bodyPr/>
                    <a:lstStyle/>
                    <a:p>
                      <a:pPr algn="ctr"/>
                      <a:r>
                        <a:rPr lang="en-US" sz="1800" dirty="0">
                          <a:latin typeface="Times New Roman" panose="02020603050405020304" pitchFamily="18" charset="0"/>
                          <a:cs typeface="Times New Roman" panose="02020603050405020304" pitchFamily="18" charset="0"/>
                        </a:rPr>
                        <a:t>5.</a:t>
                      </a:r>
                      <a:endParaRPr lang="en-IN" sz="1800" dirty="0">
                        <a:latin typeface="Times New Roman" panose="02020603050405020304" pitchFamily="18" charset="0"/>
                        <a:cs typeface="Times New Roman" panose="02020603050405020304" pitchFamily="18" charset="0"/>
                      </a:endParaRPr>
                    </a:p>
                  </a:txBody>
                  <a:tcPr anchor="ctr"/>
                </a:tc>
                <a:tc>
                  <a:txBody>
                    <a:bodyPr/>
                    <a:lstStyle/>
                    <a:p>
                      <a:pPr algn="l" fontAlgn="ctr"/>
                      <a:r>
                        <a:rPr lang="en-US" sz="1800" dirty="0">
                          <a:latin typeface="Times New Roman" panose="02020603050405020304" pitchFamily="18" charset="0"/>
                          <a:cs typeface="Times New Roman" panose="02020603050405020304" pitchFamily="18" charset="0"/>
                        </a:rPr>
                        <a:t>Towards Crossfire Distributed Denial of Service Attack Protection Using Intent-Based Moving Target Defense Over Software-Defined Networking </a:t>
                      </a:r>
                      <a:endParaRPr lang="en-US" sz="1800" b="0" i="0" u="none" strike="noStrike" dirty="0">
                        <a:solidFill>
                          <a:srgbClr val="333333"/>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ctr"/>
                      <a:r>
                        <a:rPr lang="en-US" sz="1800" dirty="0">
                          <a:latin typeface="Times New Roman" panose="02020603050405020304" pitchFamily="18" charset="0"/>
                          <a:cs typeface="Times New Roman" panose="02020603050405020304" pitchFamily="18" charset="0"/>
                        </a:rPr>
                        <a:t>2021</a:t>
                      </a:r>
                      <a:endParaRPr lang="en-IN" sz="1800" dirty="0">
                        <a:latin typeface="Times New Roman" panose="02020603050405020304" pitchFamily="18" charset="0"/>
                        <a:cs typeface="Times New Roman" panose="02020603050405020304" pitchFamily="18" charset="0"/>
                      </a:endParaRPr>
                    </a:p>
                  </a:txBody>
                  <a:tcPr anchor="ctr"/>
                </a:tc>
                <a:tc>
                  <a:txBody>
                    <a:bodyPr/>
                    <a:lstStyle/>
                    <a:p>
                      <a:pPr algn="ctr" fontAlgn="ctr"/>
                      <a:r>
                        <a:rPr lang="en-US" sz="1800" b="0" i="0" u="none" strike="noStrike" dirty="0">
                          <a:solidFill>
                            <a:srgbClr val="000000"/>
                          </a:solidFill>
                          <a:effectLst/>
                          <a:latin typeface="Times New Roman" panose="02020603050405020304" pitchFamily="18" charset="0"/>
                          <a:cs typeface="Times New Roman" panose="02020603050405020304" pitchFamily="18" charset="0"/>
                        </a:rPr>
                        <a:t>IEEE Access</a:t>
                      </a:r>
                      <a:endParaRPr lang="en-IN" sz="18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l" fontAlgn="b"/>
                      <a:r>
                        <a:rPr lang="en-US" sz="1800" b="0" i="0" u="none" strike="noStrike" dirty="0">
                          <a:solidFill>
                            <a:srgbClr val="000000"/>
                          </a:solidFill>
                          <a:effectLst/>
                          <a:latin typeface="Times New Roman" panose="02020603050405020304" pitchFamily="18" charset="0"/>
                          <a:cs typeface="Times New Roman" panose="02020603050405020304" pitchFamily="18" charset="0"/>
                        </a:rPr>
                        <a:t>Problems are solved on an end-to-end basis.  Have Well-Understood Formal Properties.  Effectiveness for distributed optimization.</a:t>
                      </a:r>
                    </a:p>
                  </a:txBody>
                  <a:tcPr marL="9525" marR="9525" marT="9525" marB="0" anchor="ctr"/>
                </a:tc>
                <a:extLst>
                  <a:ext uri="{0D108BD9-81ED-4DB2-BD59-A6C34878D82A}">
                    <a16:rowId xmlns:a16="http://schemas.microsoft.com/office/drawing/2014/main" xmlns="" val="3998672782"/>
                  </a:ext>
                </a:extLst>
              </a:tr>
              <a:tr h="2148173">
                <a:tc>
                  <a:txBody>
                    <a:bodyPr/>
                    <a:lstStyle/>
                    <a:p>
                      <a:pPr algn="ctr"/>
                      <a:r>
                        <a:rPr lang="en-US" sz="1800" dirty="0">
                          <a:latin typeface="Times New Roman" panose="02020603050405020304" pitchFamily="18" charset="0"/>
                          <a:cs typeface="Times New Roman" panose="02020603050405020304" pitchFamily="18" charset="0"/>
                        </a:rPr>
                        <a:t>6.</a:t>
                      </a:r>
                      <a:endParaRPr lang="en-IN" sz="1800" dirty="0">
                        <a:latin typeface="Times New Roman" panose="02020603050405020304" pitchFamily="18" charset="0"/>
                        <a:cs typeface="Times New Roman" panose="02020603050405020304" pitchFamily="18" charset="0"/>
                      </a:endParaRPr>
                    </a:p>
                  </a:txBody>
                  <a:tcPr anchor="ctr"/>
                </a:tc>
                <a:tc>
                  <a:txBody>
                    <a:bodyPr/>
                    <a:lstStyle/>
                    <a:p>
                      <a:pPr algn="l" fontAlgn="ctr"/>
                      <a:r>
                        <a:rPr lang="en-US" sz="1800" dirty="0">
                          <a:latin typeface="Times New Roman" panose="02020603050405020304" pitchFamily="18" charset="0"/>
                          <a:cs typeface="Times New Roman" panose="02020603050405020304" pitchFamily="18" charset="0"/>
                        </a:rPr>
                        <a:t>Detection Techniques of Distributed Denial of Service Attacks on Software-Defined Networking </a:t>
                      </a:r>
                      <a:r>
                        <a:rPr lang="en-US" sz="1800" dirty="0" err="1">
                          <a:latin typeface="Times New Roman" panose="02020603050405020304" pitchFamily="18" charset="0"/>
                          <a:cs typeface="Times New Roman" panose="02020603050405020304" pitchFamily="18" charset="0"/>
                        </a:rPr>
                        <a:t>ControllerA</a:t>
                      </a:r>
                      <a:r>
                        <a:rPr lang="en-US" sz="1800" dirty="0">
                          <a:latin typeface="Times New Roman" panose="02020603050405020304" pitchFamily="18" charset="0"/>
                          <a:cs typeface="Times New Roman" panose="02020603050405020304" pitchFamily="18" charset="0"/>
                        </a:rPr>
                        <a:t> Review </a:t>
                      </a:r>
                      <a:endParaRPr lang="en-US" sz="1800" b="0" i="0" u="none" strike="noStrike" dirty="0">
                        <a:solidFill>
                          <a:srgbClr val="333333"/>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ctr"/>
                      <a:r>
                        <a:rPr lang="en-US" sz="1800" dirty="0">
                          <a:latin typeface="Times New Roman" panose="02020603050405020304" pitchFamily="18" charset="0"/>
                          <a:cs typeface="Times New Roman" panose="02020603050405020304" pitchFamily="18" charset="0"/>
                        </a:rPr>
                        <a:t>2020</a:t>
                      </a:r>
                      <a:endParaRPr lang="en-IN" sz="1800" dirty="0">
                        <a:latin typeface="Times New Roman" panose="02020603050405020304" pitchFamily="18" charset="0"/>
                        <a:cs typeface="Times New Roman" panose="02020603050405020304" pitchFamily="18" charset="0"/>
                      </a:endParaRPr>
                    </a:p>
                  </a:txBody>
                  <a:tcPr anchor="ctr"/>
                </a:tc>
                <a:tc>
                  <a:txBody>
                    <a:bodyPr/>
                    <a:lstStyle/>
                    <a:p>
                      <a:pPr algn="ctr" fontAlgn="ctr"/>
                      <a:r>
                        <a:rPr lang="en-US" sz="1800" b="0" i="0" u="none" strike="noStrike" dirty="0">
                          <a:solidFill>
                            <a:srgbClr val="000000"/>
                          </a:solidFill>
                          <a:effectLst/>
                          <a:latin typeface="Times New Roman" panose="02020603050405020304" pitchFamily="18" charset="0"/>
                          <a:cs typeface="Times New Roman" panose="02020603050405020304" pitchFamily="18" charset="0"/>
                        </a:rPr>
                        <a:t>IEEE Access</a:t>
                      </a:r>
                      <a:endParaRPr lang="en-IN" sz="18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l" fontAlgn="b"/>
                      <a:r>
                        <a:rPr lang="en-US" sz="1800" b="0" i="0" u="none" strike="noStrike" dirty="0">
                          <a:solidFill>
                            <a:srgbClr val="000000"/>
                          </a:solidFill>
                          <a:effectLst/>
                          <a:latin typeface="Times New Roman" panose="02020603050405020304" pitchFamily="18" charset="0"/>
                          <a:cs typeface="Times New Roman" panose="02020603050405020304" pitchFamily="18" charset="0"/>
                        </a:rPr>
                        <a:t>Boost the Performance.  Reduces the resources used for processing purpose.  Better operational efficiency.</a:t>
                      </a:r>
                    </a:p>
                  </a:txBody>
                  <a:tcPr marL="9525" marR="9525" marT="9525" marB="0" anchor="ctr"/>
                </a:tc>
                <a:extLst>
                  <a:ext uri="{0D108BD9-81ED-4DB2-BD59-A6C34878D82A}">
                    <a16:rowId xmlns:a16="http://schemas.microsoft.com/office/drawing/2014/main" xmlns="" val="3231077813"/>
                  </a:ext>
                </a:extLst>
              </a:tr>
            </a:tbl>
          </a:graphicData>
        </a:graphic>
      </p:graphicFrame>
      <p:sp>
        <p:nvSpPr>
          <p:cNvPr id="8" name="Footer Placeholder 3"/>
          <p:cNvSpPr>
            <a:spLocks noGrp="1"/>
          </p:cNvSpPr>
          <p:nvPr>
            <p:ph type="ftr" sz="quarter" idx="11"/>
          </p:nvPr>
        </p:nvSpPr>
        <p:spPr>
          <a:xfrm>
            <a:off x="3124200" y="6356350"/>
            <a:ext cx="2895600" cy="365125"/>
          </a:xfrm>
        </p:spPr>
        <p:txBody>
          <a:bodyPr/>
          <a:lstStyle/>
          <a:p>
            <a:r>
              <a:rPr lang="en-US"/>
              <a:t>DEPARTMENT OF COMPUTER SCIENCE AND ENGINEERING – CYBER SECURITY</a:t>
            </a:r>
            <a:endParaRPr lang="en-US" dirty="0"/>
          </a:p>
        </p:txBody>
      </p:sp>
      <p:sp>
        <p:nvSpPr>
          <p:cNvPr id="7" name="Date Placeholder 6">
            <a:extLst>
              <a:ext uri="{FF2B5EF4-FFF2-40B4-BE49-F238E27FC236}">
                <a16:creationId xmlns:a16="http://schemas.microsoft.com/office/drawing/2014/main" xmlns="" id="{9E9A49BA-4FB1-F55C-75AB-A15CEDC62B06}"/>
              </a:ext>
            </a:extLst>
          </p:cNvPr>
          <p:cNvSpPr>
            <a:spLocks noGrp="1"/>
          </p:cNvSpPr>
          <p:nvPr>
            <p:ph type="dt" sz="half" idx="10"/>
          </p:nvPr>
        </p:nvSpPr>
        <p:spPr/>
        <p:txBody>
          <a:bodyPr/>
          <a:lstStyle/>
          <a:p>
            <a:r>
              <a:rPr lang="en-US" dirty="0"/>
              <a:t>Date : </a:t>
            </a:r>
            <a:fld id="{4E4FA09F-A19C-42BA-A42D-2D5A643A0C37}" type="datetime1">
              <a:rPr lang="en-US" smtClean="0"/>
              <a:t>5/13/2024</a:t>
            </a:fld>
            <a:endParaRPr lang="en-US" dirty="0"/>
          </a:p>
        </p:txBody>
      </p:sp>
      <p:sp>
        <p:nvSpPr>
          <p:cNvPr id="9" name="Slide Number Placeholder 8">
            <a:extLst>
              <a:ext uri="{FF2B5EF4-FFF2-40B4-BE49-F238E27FC236}">
                <a16:creationId xmlns:a16="http://schemas.microsoft.com/office/drawing/2014/main" xmlns="" id="{EC11552C-F9D8-564B-9721-1A3BAF0188C7}"/>
              </a:ext>
            </a:extLst>
          </p:cNvPr>
          <p:cNvSpPr>
            <a:spLocks noGrp="1"/>
          </p:cNvSpPr>
          <p:nvPr>
            <p:ph type="sldNum" sz="quarter" idx="12"/>
          </p:nvPr>
        </p:nvSpPr>
        <p:spPr/>
        <p:txBody>
          <a:bodyPr/>
          <a:lstStyle/>
          <a:p>
            <a:r>
              <a:rPr lang="en-US" dirty="0"/>
              <a:t>Slide Number: </a:t>
            </a:r>
            <a:fld id="{BECDEB80-DBCE-406A-80BF-FEBEE692EE79}" type="slidenum">
              <a:rPr lang="en-US" smtClean="0"/>
              <a:t>10</a:t>
            </a:fld>
            <a:endParaRPr lang="en-US" dirty="0"/>
          </a:p>
        </p:txBody>
      </p:sp>
    </p:spTree>
    <p:extLst>
      <p:ext uri="{BB962C8B-B14F-4D97-AF65-F5344CB8AC3E}">
        <p14:creationId xmlns:p14="http://schemas.microsoft.com/office/powerpoint/2010/main" val="36390373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F3C4BFA-EF7A-2726-E18D-8EC26A5041F7}"/>
              </a:ext>
            </a:extLst>
          </p:cNvPr>
          <p:cNvSpPr>
            <a:spLocks noGrp="1"/>
          </p:cNvSpPr>
          <p:nvPr>
            <p:ph type="title"/>
          </p:nvPr>
        </p:nvSpPr>
        <p:spPr>
          <a:xfrm>
            <a:off x="457200" y="198438"/>
            <a:ext cx="8229600" cy="1143000"/>
          </a:xfrm>
        </p:spPr>
        <p:txBody>
          <a:bodyPr/>
          <a:lstStyle/>
          <a:p>
            <a:r>
              <a:rPr lang="en-IN" dirty="0">
                <a:latin typeface="Times New Roman" panose="02020603050405020304" pitchFamily="18" charset="0"/>
                <a:cs typeface="Times New Roman" panose="02020603050405020304" pitchFamily="18" charset="0"/>
              </a:rPr>
              <a:t>Literature Survey</a:t>
            </a:r>
          </a:p>
        </p:txBody>
      </p:sp>
      <p:graphicFrame>
        <p:nvGraphicFramePr>
          <p:cNvPr id="5" name="Table 5">
            <a:extLst>
              <a:ext uri="{FF2B5EF4-FFF2-40B4-BE49-F238E27FC236}">
                <a16:creationId xmlns:a16="http://schemas.microsoft.com/office/drawing/2014/main" xmlns="" id="{E92485E8-B03D-466E-3351-604518A9B06B}"/>
              </a:ext>
            </a:extLst>
          </p:cNvPr>
          <p:cNvGraphicFramePr>
            <a:graphicFrameLocks noGrp="1"/>
          </p:cNvGraphicFramePr>
          <p:nvPr>
            <p:ph idx="1"/>
            <p:extLst>
              <p:ext uri="{D42A27DB-BD31-4B8C-83A1-F6EECF244321}">
                <p14:modId xmlns:p14="http://schemas.microsoft.com/office/powerpoint/2010/main" val="2620524544"/>
              </p:ext>
            </p:extLst>
          </p:nvPr>
        </p:nvGraphicFramePr>
        <p:xfrm>
          <a:off x="453887" y="1328186"/>
          <a:ext cx="8229600" cy="4875466"/>
        </p:xfrm>
        <a:graphic>
          <a:graphicData uri="http://schemas.openxmlformats.org/drawingml/2006/table">
            <a:tbl>
              <a:tblPr firstRow="1" bandRow="1">
                <a:tableStyleId>{5C22544A-7EE6-4342-B048-85BDC9FD1C3A}</a:tableStyleId>
              </a:tblPr>
              <a:tblGrid>
                <a:gridCol w="762000">
                  <a:extLst>
                    <a:ext uri="{9D8B030D-6E8A-4147-A177-3AD203B41FA5}">
                      <a16:colId xmlns:a16="http://schemas.microsoft.com/office/drawing/2014/main" xmlns="" val="2118388853"/>
                    </a:ext>
                  </a:extLst>
                </a:gridCol>
                <a:gridCol w="1905000">
                  <a:extLst>
                    <a:ext uri="{9D8B030D-6E8A-4147-A177-3AD203B41FA5}">
                      <a16:colId xmlns:a16="http://schemas.microsoft.com/office/drawing/2014/main" xmlns="" val="2270197206"/>
                    </a:ext>
                  </a:extLst>
                </a:gridCol>
                <a:gridCol w="762000">
                  <a:extLst>
                    <a:ext uri="{9D8B030D-6E8A-4147-A177-3AD203B41FA5}">
                      <a16:colId xmlns:a16="http://schemas.microsoft.com/office/drawing/2014/main" xmlns="" val="2951581292"/>
                    </a:ext>
                  </a:extLst>
                </a:gridCol>
                <a:gridCol w="2133600">
                  <a:extLst>
                    <a:ext uri="{9D8B030D-6E8A-4147-A177-3AD203B41FA5}">
                      <a16:colId xmlns:a16="http://schemas.microsoft.com/office/drawing/2014/main" xmlns="" val="561052809"/>
                    </a:ext>
                  </a:extLst>
                </a:gridCol>
                <a:gridCol w="2667000">
                  <a:extLst>
                    <a:ext uri="{9D8B030D-6E8A-4147-A177-3AD203B41FA5}">
                      <a16:colId xmlns:a16="http://schemas.microsoft.com/office/drawing/2014/main" xmlns="" val="3531675469"/>
                    </a:ext>
                  </a:extLst>
                </a:gridCol>
              </a:tblGrid>
              <a:tr h="381000">
                <a:tc>
                  <a:txBody>
                    <a:bodyPr/>
                    <a:lstStyle/>
                    <a:p>
                      <a:pPr algn="ctr"/>
                      <a:r>
                        <a:rPr lang="en-IN" sz="1600" dirty="0" err="1">
                          <a:latin typeface="Times New Roman" panose="02020603050405020304" pitchFamily="18" charset="0"/>
                          <a:cs typeface="Times New Roman" panose="02020603050405020304" pitchFamily="18" charset="0"/>
                        </a:rPr>
                        <a:t>S.No</a:t>
                      </a:r>
                      <a:r>
                        <a:rPr lang="en-IN" sz="1600" dirty="0">
                          <a:latin typeface="Times New Roman" panose="02020603050405020304" pitchFamily="18" charset="0"/>
                          <a:cs typeface="Times New Roman" panose="02020603050405020304" pitchFamily="18" charset="0"/>
                        </a:rPr>
                        <a:t>.</a:t>
                      </a:r>
                    </a:p>
                  </a:txBody>
                  <a:tcPr/>
                </a:tc>
                <a:tc>
                  <a:txBody>
                    <a:bodyPr/>
                    <a:lstStyle/>
                    <a:p>
                      <a:pPr algn="ctr"/>
                      <a:r>
                        <a:rPr lang="en-IN" sz="1600" dirty="0">
                          <a:latin typeface="Times New Roman" panose="02020603050405020304" pitchFamily="18" charset="0"/>
                          <a:cs typeface="Times New Roman" panose="02020603050405020304" pitchFamily="18" charset="0"/>
                        </a:rPr>
                        <a:t>Title of the Paper</a:t>
                      </a:r>
                    </a:p>
                  </a:txBody>
                  <a:tcPr/>
                </a:tc>
                <a:tc>
                  <a:txBody>
                    <a:bodyPr/>
                    <a:lstStyle/>
                    <a:p>
                      <a:pPr algn="ctr"/>
                      <a:r>
                        <a:rPr lang="en-IN" sz="1600" dirty="0">
                          <a:latin typeface="Times New Roman" panose="02020603050405020304" pitchFamily="18" charset="0"/>
                          <a:cs typeface="Times New Roman" panose="02020603050405020304" pitchFamily="18" charset="0"/>
                        </a:rPr>
                        <a:t>Year</a:t>
                      </a:r>
                    </a:p>
                  </a:txBody>
                  <a:tcPr/>
                </a:tc>
                <a:tc>
                  <a:txBody>
                    <a:bodyPr/>
                    <a:lstStyle/>
                    <a:p>
                      <a:pPr algn="ctr"/>
                      <a:r>
                        <a:rPr lang="en-IN" sz="1600" dirty="0">
                          <a:latin typeface="Times New Roman" panose="02020603050405020304" pitchFamily="18" charset="0"/>
                          <a:cs typeface="Times New Roman" panose="02020603050405020304" pitchFamily="18" charset="0"/>
                        </a:rPr>
                        <a:t>Journal/Conference Name</a:t>
                      </a:r>
                    </a:p>
                  </a:txBody>
                  <a:tcPr/>
                </a:tc>
                <a:tc>
                  <a:txBody>
                    <a:bodyPr/>
                    <a:lstStyle/>
                    <a:p>
                      <a:pPr algn="ctr"/>
                      <a:r>
                        <a:rPr lang="en-IN" sz="1600" dirty="0">
                          <a:latin typeface="Times New Roman" panose="02020603050405020304" pitchFamily="18" charset="0"/>
                          <a:cs typeface="Times New Roman" panose="02020603050405020304" pitchFamily="18" charset="0"/>
                        </a:rPr>
                        <a:t>Inferences</a:t>
                      </a:r>
                    </a:p>
                  </a:txBody>
                  <a:tcPr/>
                </a:tc>
                <a:extLst>
                  <a:ext uri="{0D108BD9-81ED-4DB2-BD59-A6C34878D82A}">
                    <a16:rowId xmlns:a16="http://schemas.microsoft.com/office/drawing/2014/main" xmlns="" val="2280627976"/>
                  </a:ext>
                </a:extLst>
              </a:tr>
              <a:tr h="2148173">
                <a:tc>
                  <a:txBody>
                    <a:bodyPr/>
                    <a:lstStyle/>
                    <a:p>
                      <a:pPr algn="ctr"/>
                      <a:r>
                        <a:rPr lang="en-US" sz="1600" dirty="0">
                          <a:latin typeface="Times New Roman" panose="02020603050405020304" pitchFamily="18" charset="0"/>
                          <a:cs typeface="Times New Roman" panose="02020603050405020304" pitchFamily="18" charset="0"/>
                        </a:rPr>
                        <a:t>7.</a:t>
                      </a:r>
                      <a:endParaRPr lang="en-IN" sz="1600" dirty="0">
                        <a:latin typeface="Times New Roman" panose="02020603050405020304" pitchFamily="18" charset="0"/>
                        <a:cs typeface="Times New Roman" panose="02020603050405020304" pitchFamily="18" charset="0"/>
                      </a:endParaRPr>
                    </a:p>
                  </a:txBody>
                  <a:tcPr anchor="ctr"/>
                </a:tc>
                <a:tc>
                  <a:txBody>
                    <a:bodyPr/>
                    <a:lstStyle/>
                    <a:p>
                      <a:pPr algn="l" fontAlgn="ctr"/>
                      <a:r>
                        <a:rPr lang="en-US" sz="1600" dirty="0">
                          <a:latin typeface="Times New Roman" panose="02020603050405020304" pitchFamily="18" charset="0"/>
                          <a:cs typeface="Times New Roman" panose="02020603050405020304" pitchFamily="18" charset="0"/>
                        </a:rPr>
                        <a:t>A Survey on Distributed Denial of Service (DDoS) Attacks in SDN and Cloud Computing Environments </a:t>
                      </a:r>
                      <a:endParaRPr lang="en-US" sz="1600" b="0" i="0" u="none" strike="noStrike" dirty="0">
                        <a:solidFill>
                          <a:srgbClr val="333333"/>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ctr"/>
                      <a:r>
                        <a:rPr lang="en-US" sz="1600" dirty="0">
                          <a:latin typeface="Times New Roman" panose="02020603050405020304" pitchFamily="18" charset="0"/>
                          <a:cs typeface="Times New Roman" panose="02020603050405020304" pitchFamily="18" charset="0"/>
                        </a:rPr>
                        <a:t>2019</a:t>
                      </a:r>
                      <a:endParaRPr lang="en-IN" sz="1600" dirty="0">
                        <a:latin typeface="Times New Roman" panose="02020603050405020304" pitchFamily="18" charset="0"/>
                        <a:cs typeface="Times New Roman" panose="02020603050405020304" pitchFamily="18" charset="0"/>
                      </a:endParaRPr>
                    </a:p>
                  </a:txBody>
                  <a:tcPr anchor="ctr"/>
                </a:tc>
                <a:tc>
                  <a:txBody>
                    <a:bodyPr/>
                    <a:lstStyle/>
                    <a:p>
                      <a:pPr algn="ctr" fontAlgn="ctr"/>
                      <a:r>
                        <a:rPr lang="en-US" sz="1600" b="0" i="0" u="none" strike="noStrike" dirty="0">
                          <a:solidFill>
                            <a:srgbClr val="000000"/>
                          </a:solidFill>
                          <a:effectLst/>
                          <a:latin typeface="Times New Roman" panose="02020603050405020304" pitchFamily="18" charset="0"/>
                          <a:cs typeface="Times New Roman" panose="02020603050405020304" pitchFamily="18" charset="0"/>
                        </a:rPr>
                        <a:t>IEEE Access</a:t>
                      </a:r>
                      <a:endParaRPr lang="en-IN" sz="16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l" fontAlgn="b"/>
                      <a:r>
                        <a:rPr lang="en-US" sz="1600" b="0" i="0" u="none" strike="noStrike" dirty="0">
                          <a:solidFill>
                            <a:srgbClr val="000000"/>
                          </a:solidFill>
                          <a:effectLst/>
                          <a:latin typeface="Times New Roman" panose="02020603050405020304" pitchFamily="18" charset="0"/>
                          <a:cs typeface="Times New Roman" panose="02020603050405020304" pitchFamily="18" charset="0"/>
                        </a:rPr>
                        <a:t>Trustworthy and reliable, which refers to obtain explainability.  Enhance correlation strength with finer and more compact information. Improve the operational efficiency.</a:t>
                      </a:r>
                    </a:p>
                  </a:txBody>
                  <a:tcPr marL="9525" marR="9525" marT="9525" marB="0" anchor="ctr"/>
                </a:tc>
                <a:extLst>
                  <a:ext uri="{0D108BD9-81ED-4DB2-BD59-A6C34878D82A}">
                    <a16:rowId xmlns:a16="http://schemas.microsoft.com/office/drawing/2014/main" xmlns="" val="3998672782"/>
                  </a:ext>
                </a:extLst>
              </a:tr>
              <a:tr h="2148173">
                <a:tc>
                  <a:txBody>
                    <a:bodyPr/>
                    <a:lstStyle/>
                    <a:p>
                      <a:pPr algn="ctr"/>
                      <a:r>
                        <a:rPr lang="en-US" sz="1600" dirty="0">
                          <a:latin typeface="Times New Roman" panose="02020603050405020304" pitchFamily="18" charset="0"/>
                          <a:cs typeface="Times New Roman" panose="02020603050405020304" pitchFamily="18" charset="0"/>
                        </a:rPr>
                        <a:t>8.</a:t>
                      </a:r>
                      <a:endParaRPr lang="en-IN" sz="1600" dirty="0">
                        <a:latin typeface="Times New Roman" panose="02020603050405020304" pitchFamily="18" charset="0"/>
                        <a:cs typeface="Times New Roman" panose="02020603050405020304" pitchFamily="18" charset="0"/>
                      </a:endParaRPr>
                    </a:p>
                  </a:txBody>
                  <a:tcPr anchor="ctr"/>
                </a:tc>
                <a:tc>
                  <a:txBody>
                    <a:bodyPr/>
                    <a:lstStyle/>
                    <a:p>
                      <a:pPr algn="l" fontAlgn="ctr"/>
                      <a:r>
                        <a:rPr lang="en-US" sz="1600" dirty="0">
                          <a:latin typeface="Times New Roman" panose="02020603050405020304" pitchFamily="18" charset="0"/>
                          <a:cs typeface="Times New Roman" panose="02020603050405020304" pitchFamily="18" charset="0"/>
                        </a:rPr>
                        <a:t>Security Data Collection and Data Analytics in the Internet: A Survey </a:t>
                      </a:r>
                      <a:endParaRPr lang="en-US" sz="1600" b="0" i="0" u="none" strike="noStrike" dirty="0">
                        <a:solidFill>
                          <a:srgbClr val="333333"/>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ctr"/>
                      <a:r>
                        <a:rPr lang="en-US" sz="1600" dirty="0">
                          <a:latin typeface="Times New Roman" panose="02020603050405020304" pitchFamily="18" charset="0"/>
                          <a:cs typeface="Times New Roman" panose="02020603050405020304" pitchFamily="18" charset="0"/>
                        </a:rPr>
                        <a:t>2019</a:t>
                      </a:r>
                      <a:endParaRPr lang="en-IN" sz="1600" dirty="0">
                        <a:latin typeface="Times New Roman" panose="02020603050405020304" pitchFamily="18" charset="0"/>
                        <a:cs typeface="Times New Roman" panose="02020603050405020304" pitchFamily="18" charset="0"/>
                      </a:endParaRPr>
                    </a:p>
                  </a:txBody>
                  <a:tcPr anchor="ctr"/>
                </a:tc>
                <a:tc>
                  <a:txBody>
                    <a:bodyPr/>
                    <a:lstStyle/>
                    <a:p>
                      <a:pPr algn="ctr" fontAlgn="ctr"/>
                      <a:r>
                        <a:rPr lang="en-US" sz="1600" b="0" i="0" u="none" strike="noStrike" dirty="0">
                          <a:solidFill>
                            <a:srgbClr val="000000"/>
                          </a:solidFill>
                          <a:effectLst/>
                          <a:latin typeface="Times New Roman" panose="02020603050405020304" pitchFamily="18" charset="0"/>
                          <a:cs typeface="Times New Roman" panose="02020603050405020304" pitchFamily="18" charset="0"/>
                        </a:rPr>
                        <a:t>IEEE Communications Surveys &amp; Tutorials </a:t>
                      </a:r>
                      <a:endParaRPr lang="en-IN" sz="16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l" fontAlgn="b"/>
                      <a:r>
                        <a:rPr lang="en-US" sz="1600" dirty="0">
                          <a:latin typeface="Times New Roman" panose="02020603050405020304" pitchFamily="18" charset="0"/>
                          <a:cs typeface="Times New Roman" panose="02020603050405020304" pitchFamily="18" charset="0"/>
                        </a:rPr>
                        <a:t>May not meet the real-time requirement. Quick Calculation Time. Minimizes the workload on infrastructures</a:t>
                      </a:r>
                      <a:endParaRPr lang="en-US" sz="16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extLst>
                  <a:ext uri="{0D108BD9-81ED-4DB2-BD59-A6C34878D82A}">
                    <a16:rowId xmlns:a16="http://schemas.microsoft.com/office/drawing/2014/main" xmlns="" val="1666399661"/>
                  </a:ext>
                </a:extLst>
              </a:tr>
            </a:tbl>
          </a:graphicData>
        </a:graphic>
      </p:graphicFrame>
      <p:sp>
        <p:nvSpPr>
          <p:cNvPr id="8" name="Footer Placeholder 3"/>
          <p:cNvSpPr>
            <a:spLocks noGrp="1"/>
          </p:cNvSpPr>
          <p:nvPr>
            <p:ph type="ftr" sz="quarter" idx="11"/>
          </p:nvPr>
        </p:nvSpPr>
        <p:spPr>
          <a:xfrm>
            <a:off x="3124200" y="6356350"/>
            <a:ext cx="2895600" cy="365125"/>
          </a:xfrm>
        </p:spPr>
        <p:txBody>
          <a:bodyPr/>
          <a:lstStyle/>
          <a:p>
            <a:r>
              <a:rPr lang="en-US"/>
              <a:t>DEPARTMENT OF COMPUTER SCIENCE AND ENGINEERING – CYBER SECURITY</a:t>
            </a:r>
            <a:endParaRPr lang="en-US" dirty="0"/>
          </a:p>
        </p:txBody>
      </p:sp>
      <p:sp>
        <p:nvSpPr>
          <p:cNvPr id="7" name="Date Placeholder 6">
            <a:extLst>
              <a:ext uri="{FF2B5EF4-FFF2-40B4-BE49-F238E27FC236}">
                <a16:creationId xmlns:a16="http://schemas.microsoft.com/office/drawing/2014/main" xmlns="" id="{D57B754C-8538-26C0-DF38-D1E897D8B3DE}"/>
              </a:ext>
            </a:extLst>
          </p:cNvPr>
          <p:cNvSpPr>
            <a:spLocks noGrp="1"/>
          </p:cNvSpPr>
          <p:nvPr>
            <p:ph type="dt" sz="half" idx="10"/>
          </p:nvPr>
        </p:nvSpPr>
        <p:spPr/>
        <p:txBody>
          <a:bodyPr/>
          <a:lstStyle/>
          <a:p>
            <a:r>
              <a:rPr lang="en-US" dirty="0"/>
              <a:t>Date : </a:t>
            </a:r>
            <a:fld id="{FEC7F1F8-8424-41FD-ADA4-FECE429B707D}" type="datetime1">
              <a:rPr lang="en-US" smtClean="0"/>
              <a:t>5/13/2024</a:t>
            </a:fld>
            <a:endParaRPr lang="en-US" dirty="0"/>
          </a:p>
        </p:txBody>
      </p:sp>
      <p:sp>
        <p:nvSpPr>
          <p:cNvPr id="9" name="Slide Number Placeholder 8">
            <a:extLst>
              <a:ext uri="{FF2B5EF4-FFF2-40B4-BE49-F238E27FC236}">
                <a16:creationId xmlns:a16="http://schemas.microsoft.com/office/drawing/2014/main" xmlns="" id="{F12F0ED5-F44E-BC05-010E-E5BC450FDB6F}"/>
              </a:ext>
            </a:extLst>
          </p:cNvPr>
          <p:cNvSpPr>
            <a:spLocks noGrp="1"/>
          </p:cNvSpPr>
          <p:nvPr>
            <p:ph type="sldNum" sz="quarter" idx="12"/>
          </p:nvPr>
        </p:nvSpPr>
        <p:spPr>
          <a:xfrm>
            <a:off x="6553200" y="6356350"/>
            <a:ext cx="2133600" cy="365125"/>
          </a:xfrm>
        </p:spPr>
        <p:txBody>
          <a:bodyPr/>
          <a:lstStyle/>
          <a:p>
            <a:r>
              <a:rPr lang="en-US" dirty="0"/>
              <a:t>Slide Number: </a:t>
            </a:r>
            <a:fld id="{BECDEB80-DBCE-406A-80BF-FEBEE692EE79}" type="slidenum">
              <a:rPr lang="en-US" smtClean="0"/>
              <a:t>11</a:t>
            </a:fld>
            <a:endParaRPr lang="en-US" dirty="0"/>
          </a:p>
        </p:txBody>
      </p:sp>
    </p:spTree>
    <p:extLst>
      <p:ext uri="{BB962C8B-B14F-4D97-AF65-F5344CB8AC3E}">
        <p14:creationId xmlns:p14="http://schemas.microsoft.com/office/powerpoint/2010/main" val="15857587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F3C4BFA-EF7A-2726-E18D-8EC26A5041F7}"/>
              </a:ext>
            </a:extLst>
          </p:cNvPr>
          <p:cNvSpPr>
            <a:spLocks noGrp="1"/>
          </p:cNvSpPr>
          <p:nvPr>
            <p:ph type="title"/>
          </p:nvPr>
        </p:nvSpPr>
        <p:spPr>
          <a:xfrm>
            <a:off x="457200" y="198438"/>
            <a:ext cx="8229600" cy="1143000"/>
          </a:xfrm>
        </p:spPr>
        <p:txBody>
          <a:bodyPr/>
          <a:lstStyle/>
          <a:p>
            <a:r>
              <a:rPr lang="en-IN" dirty="0">
                <a:latin typeface="Times New Roman" panose="02020603050405020304" pitchFamily="18" charset="0"/>
                <a:cs typeface="Times New Roman" panose="02020603050405020304" pitchFamily="18" charset="0"/>
              </a:rPr>
              <a:t>Literature Survey</a:t>
            </a:r>
          </a:p>
        </p:txBody>
      </p:sp>
      <p:graphicFrame>
        <p:nvGraphicFramePr>
          <p:cNvPr id="5" name="Table 5">
            <a:extLst>
              <a:ext uri="{FF2B5EF4-FFF2-40B4-BE49-F238E27FC236}">
                <a16:creationId xmlns:a16="http://schemas.microsoft.com/office/drawing/2014/main" xmlns="" id="{E92485E8-B03D-466E-3351-604518A9B06B}"/>
              </a:ext>
            </a:extLst>
          </p:cNvPr>
          <p:cNvGraphicFramePr>
            <a:graphicFrameLocks noGrp="1"/>
          </p:cNvGraphicFramePr>
          <p:nvPr>
            <p:ph idx="1"/>
            <p:extLst>
              <p:ext uri="{D42A27DB-BD31-4B8C-83A1-F6EECF244321}">
                <p14:modId xmlns:p14="http://schemas.microsoft.com/office/powerpoint/2010/main" val="2194231054"/>
              </p:ext>
            </p:extLst>
          </p:nvPr>
        </p:nvGraphicFramePr>
        <p:xfrm>
          <a:off x="457200" y="1219200"/>
          <a:ext cx="8229600" cy="4875466"/>
        </p:xfrm>
        <a:graphic>
          <a:graphicData uri="http://schemas.openxmlformats.org/drawingml/2006/table">
            <a:tbl>
              <a:tblPr firstRow="1" bandRow="1">
                <a:tableStyleId>{5C22544A-7EE6-4342-B048-85BDC9FD1C3A}</a:tableStyleId>
              </a:tblPr>
              <a:tblGrid>
                <a:gridCol w="762000">
                  <a:extLst>
                    <a:ext uri="{9D8B030D-6E8A-4147-A177-3AD203B41FA5}">
                      <a16:colId xmlns:a16="http://schemas.microsoft.com/office/drawing/2014/main" xmlns="" val="2118388853"/>
                    </a:ext>
                  </a:extLst>
                </a:gridCol>
                <a:gridCol w="1905000">
                  <a:extLst>
                    <a:ext uri="{9D8B030D-6E8A-4147-A177-3AD203B41FA5}">
                      <a16:colId xmlns:a16="http://schemas.microsoft.com/office/drawing/2014/main" xmlns="" val="2270197206"/>
                    </a:ext>
                  </a:extLst>
                </a:gridCol>
                <a:gridCol w="762000">
                  <a:extLst>
                    <a:ext uri="{9D8B030D-6E8A-4147-A177-3AD203B41FA5}">
                      <a16:colId xmlns:a16="http://schemas.microsoft.com/office/drawing/2014/main" xmlns="" val="2951581292"/>
                    </a:ext>
                  </a:extLst>
                </a:gridCol>
                <a:gridCol w="2133600">
                  <a:extLst>
                    <a:ext uri="{9D8B030D-6E8A-4147-A177-3AD203B41FA5}">
                      <a16:colId xmlns:a16="http://schemas.microsoft.com/office/drawing/2014/main" xmlns="" val="561052809"/>
                    </a:ext>
                  </a:extLst>
                </a:gridCol>
                <a:gridCol w="2667000">
                  <a:extLst>
                    <a:ext uri="{9D8B030D-6E8A-4147-A177-3AD203B41FA5}">
                      <a16:colId xmlns:a16="http://schemas.microsoft.com/office/drawing/2014/main" xmlns="" val="3531675469"/>
                    </a:ext>
                  </a:extLst>
                </a:gridCol>
              </a:tblGrid>
              <a:tr h="381000">
                <a:tc>
                  <a:txBody>
                    <a:bodyPr/>
                    <a:lstStyle/>
                    <a:p>
                      <a:pPr algn="ctr"/>
                      <a:r>
                        <a:rPr lang="en-IN" sz="1600" dirty="0" err="1">
                          <a:latin typeface="Times New Roman" panose="02020603050405020304" pitchFamily="18" charset="0"/>
                          <a:cs typeface="Times New Roman" panose="02020603050405020304" pitchFamily="18" charset="0"/>
                        </a:rPr>
                        <a:t>S.No</a:t>
                      </a:r>
                      <a:r>
                        <a:rPr lang="en-IN" sz="1600" dirty="0">
                          <a:latin typeface="Times New Roman" panose="02020603050405020304" pitchFamily="18" charset="0"/>
                          <a:cs typeface="Times New Roman" panose="02020603050405020304" pitchFamily="18" charset="0"/>
                        </a:rPr>
                        <a:t>.</a:t>
                      </a:r>
                    </a:p>
                  </a:txBody>
                  <a:tcPr/>
                </a:tc>
                <a:tc>
                  <a:txBody>
                    <a:bodyPr/>
                    <a:lstStyle/>
                    <a:p>
                      <a:pPr algn="ctr"/>
                      <a:r>
                        <a:rPr lang="en-IN" sz="1600" dirty="0">
                          <a:latin typeface="Times New Roman" panose="02020603050405020304" pitchFamily="18" charset="0"/>
                          <a:cs typeface="Times New Roman" panose="02020603050405020304" pitchFamily="18" charset="0"/>
                        </a:rPr>
                        <a:t>Title of the Paper</a:t>
                      </a:r>
                    </a:p>
                  </a:txBody>
                  <a:tcPr/>
                </a:tc>
                <a:tc>
                  <a:txBody>
                    <a:bodyPr/>
                    <a:lstStyle/>
                    <a:p>
                      <a:pPr algn="ctr"/>
                      <a:r>
                        <a:rPr lang="en-IN" sz="1600" dirty="0">
                          <a:latin typeface="Times New Roman" panose="02020603050405020304" pitchFamily="18" charset="0"/>
                          <a:cs typeface="Times New Roman" panose="02020603050405020304" pitchFamily="18" charset="0"/>
                        </a:rPr>
                        <a:t>Year</a:t>
                      </a:r>
                    </a:p>
                  </a:txBody>
                  <a:tcPr/>
                </a:tc>
                <a:tc>
                  <a:txBody>
                    <a:bodyPr/>
                    <a:lstStyle/>
                    <a:p>
                      <a:pPr algn="ctr"/>
                      <a:r>
                        <a:rPr lang="en-IN" sz="1600" dirty="0">
                          <a:latin typeface="Times New Roman" panose="02020603050405020304" pitchFamily="18" charset="0"/>
                          <a:cs typeface="Times New Roman" panose="02020603050405020304" pitchFamily="18" charset="0"/>
                        </a:rPr>
                        <a:t>Journal/Conference Name</a:t>
                      </a:r>
                    </a:p>
                  </a:txBody>
                  <a:tcPr/>
                </a:tc>
                <a:tc>
                  <a:txBody>
                    <a:bodyPr/>
                    <a:lstStyle/>
                    <a:p>
                      <a:pPr algn="ctr"/>
                      <a:r>
                        <a:rPr lang="en-IN" sz="1600" dirty="0">
                          <a:latin typeface="Times New Roman" panose="02020603050405020304" pitchFamily="18" charset="0"/>
                          <a:cs typeface="Times New Roman" panose="02020603050405020304" pitchFamily="18" charset="0"/>
                        </a:rPr>
                        <a:t>Inferences</a:t>
                      </a:r>
                    </a:p>
                  </a:txBody>
                  <a:tcPr/>
                </a:tc>
                <a:extLst>
                  <a:ext uri="{0D108BD9-81ED-4DB2-BD59-A6C34878D82A}">
                    <a16:rowId xmlns:a16="http://schemas.microsoft.com/office/drawing/2014/main" xmlns="" val="2280627976"/>
                  </a:ext>
                </a:extLst>
              </a:tr>
              <a:tr h="2148173">
                <a:tc>
                  <a:txBody>
                    <a:bodyPr/>
                    <a:lstStyle/>
                    <a:p>
                      <a:pPr algn="ctr"/>
                      <a:r>
                        <a:rPr lang="en-US" sz="1600" dirty="0">
                          <a:latin typeface="Times New Roman" panose="02020603050405020304" pitchFamily="18" charset="0"/>
                          <a:cs typeface="Times New Roman" panose="02020603050405020304" pitchFamily="18" charset="0"/>
                        </a:rPr>
                        <a:t>9.</a:t>
                      </a:r>
                      <a:endParaRPr lang="en-IN" sz="1600" dirty="0">
                        <a:latin typeface="Times New Roman" panose="02020603050405020304" pitchFamily="18" charset="0"/>
                        <a:cs typeface="Times New Roman" panose="02020603050405020304" pitchFamily="18" charset="0"/>
                      </a:endParaRPr>
                    </a:p>
                  </a:txBody>
                  <a:tcPr anchor="ctr"/>
                </a:tc>
                <a:tc>
                  <a:txBody>
                    <a:bodyPr/>
                    <a:lstStyle/>
                    <a:p>
                      <a:pPr algn="l" fontAlgn="ctr"/>
                      <a:r>
                        <a:rPr lang="en-US" sz="1600" dirty="0">
                          <a:latin typeface="Times New Roman" panose="02020603050405020304" pitchFamily="18" charset="0"/>
                          <a:cs typeface="Times New Roman" panose="02020603050405020304" pitchFamily="18" charset="0"/>
                        </a:rPr>
                        <a:t>DNS-ADVP: A Machine Learning Anomaly Detection and Visual Platform to Protect Top-Level Domain Name Servers Against DDoS Attacks </a:t>
                      </a:r>
                      <a:endParaRPr lang="en-US" sz="1600" b="0" i="0" u="none" strike="noStrike" dirty="0">
                        <a:solidFill>
                          <a:srgbClr val="333333"/>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ctr"/>
                      <a:r>
                        <a:rPr lang="en-US" sz="1600" dirty="0">
                          <a:latin typeface="Times New Roman" panose="02020603050405020304" pitchFamily="18" charset="0"/>
                          <a:cs typeface="Times New Roman" panose="02020603050405020304" pitchFamily="18" charset="0"/>
                        </a:rPr>
                        <a:t>2019</a:t>
                      </a:r>
                      <a:endParaRPr lang="en-IN" sz="1600" dirty="0">
                        <a:latin typeface="Times New Roman" panose="02020603050405020304" pitchFamily="18" charset="0"/>
                        <a:cs typeface="Times New Roman" panose="02020603050405020304" pitchFamily="18" charset="0"/>
                      </a:endParaRPr>
                    </a:p>
                  </a:txBody>
                  <a:tcPr anchor="ctr"/>
                </a:tc>
                <a:tc>
                  <a:txBody>
                    <a:bodyPr/>
                    <a:lstStyle/>
                    <a:p>
                      <a:pPr algn="ctr" fontAlgn="ctr"/>
                      <a:r>
                        <a:rPr lang="en-US" sz="1600" b="0" i="0" u="none" strike="noStrike" dirty="0">
                          <a:solidFill>
                            <a:srgbClr val="000000"/>
                          </a:solidFill>
                          <a:effectLst/>
                          <a:latin typeface="Times New Roman" panose="02020603050405020304" pitchFamily="18" charset="0"/>
                          <a:cs typeface="Times New Roman" panose="02020603050405020304" pitchFamily="18" charset="0"/>
                        </a:rPr>
                        <a:t>IEEE Access</a:t>
                      </a:r>
                      <a:endParaRPr lang="en-IN" sz="16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l" fontAlgn="b"/>
                      <a:r>
                        <a:rPr lang="en-US" sz="1600" b="0" i="0" u="none" strike="noStrike" dirty="0">
                          <a:solidFill>
                            <a:srgbClr val="000000"/>
                          </a:solidFill>
                          <a:effectLst/>
                          <a:latin typeface="Times New Roman" panose="02020603050405020304" pitchFamily="18" charset="0"/>
                          <a:cs typeface="Times New Roman" panose="02020603050405020304" pitchFamily="18" charset="0"/>
                        </a:rPr>
                        <a:t>Has the best acceptance ratio.  Provides the integrity and non transferability.  Low Deployment Cost.</a:t>
                      </a:r>
                    </a:p>
                  </a:txBody>
                  <a:tcPr marL="9525" marR="9525" marT="9525" marB="0" anchor="ctr"/>
                </a:tc>
                <a:extLst>
                  <a:ext uri="{0D108BD9-81ED-4DB2-BD59-A6C34878D82A}">
                    <a16:rowId xmlns:a16="http://schemas.microsoft.com/office/drawing/2014/main" xmlns="" val="3998672782"/>
                  </a:ext>
                </a:extLst>
              </a:tr>
              <a:tr h="2148173">
                <a:tc>
                  <a:txBody>
                    <a:bodyPr/>
                    <a:lstStyle/>
                    <a:p>
                      <a:pPr algn="ctr"/>
                      <a:r>
                        <a:rPr lang="en-US" sz="1600" dirty="0">
                          <a:latin typeface="Times New Roman" panose="02020603050405020304" pitchFamily="18" charset="0"/>
                          <a:cs typeface="Times New Roman" panose="02020603050405020304" pitchFamily="18" charset="0"/>
                        </a:rPr>
                        <a:t>10.</a:t>
                      </a:r>
                      <a:endParaRPr lang="en-IN" sz="1600" dirty="0">
                        <a:latin typeface="Times New Roman" panose="02020603050405020304" pitchFamily="18" charset="0"/>
                        <a:cs typeface="Times New Roman" panose="02020603050405020304" pitchFamily="18" charset="0"/>
                      </a:endParaRPr>
                    </a:p>
                  </a:txBody>
                  <a:tcPr anchor="ctr"/>
                </a:tc>
                <a:tc>
                  <a:txBody>
                    <a:bodyPr/>
                    <a:lstStyle/>
                    <a:p>
                      <a:pPr algn="l" fontAlgn="ctr"/>
                      <a:r>
                        <a:rPr lang="en-US" sz="1600" dirty="0">
                          <a:latin typeface="Times New Roman" panose="02020603050405020304" pitchFamily="18" charset="0"/>
                          <a:cs typeface="Times New Roman" panose="02020603050405020304" pitchFamily="18" charset="0"/>
                        </a:rPr>
                        <a:t>Understanding Internet DDoS Mitigation from Academic and Industrial Perspectives</a:t>
                      </a:r>
                      <a:endParaRPr lang="en-US" sz="1600" b="0" i="0" u="none" strike="noStrike" dirty="0">
                        <a:solidFill>
                          <a:srgbClr val="333333"/>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ctr"/>
                      <a:r>
                        <a:rPr lang="en-US" sz="1600" dirty="0">
                          <a:latin typeface="Times New Roman" panose="02020603050405020304" pitchFamily="18" charset="0"/>
                          <a:cs typeface="Times New Roman" panose="02020603050405020304" pitchFamily="18" charset="0"/>
                        </a:rPr>
                        <a:t>2019</a:t>
                      </a:r>
                      <a:endParaRPr lang="en-IN" sz="1600" dirty="0">
                        <a:latin typeface="Times New Roman" panose="02020603050405020304" pitchFamily="18" charset="0"/>
                        <a:cs typeface="Times New Roman" panose="02020603050405020304" pitchFamily="18" charset="0"/>
                      </a:endParaRPr>
                    </a:p>
                  </a:txBody>
                  <a:tcPr anchor="ctr"/>
                </a:tc>
                <a:tc>
                  <a:txBody>
                    <a:bodyPr/>
                    <a:lstStyle/>
                    <a:p>
                      <a:pPr algn="ctr" fontAlgn="ctr"/>
                      <a:r>
                        <a:rPr lang="en-US" sz="1600" b="0" i="0" u="none" strike="noStrike" dirty="0">
                          <a:solidFill>
                            <a:srgbClr val="000000"/>
                          </a:solidFill>
                          <a:effectLst/>
                          <a:latin typeface="Times New Roman" panose="02020603050405020304" pitchFamily="18" charset="0"/>
                          <a:cs typeface="Times New Roman" panose="02020603050405020304" pitchFamily="18" charset="0"/>
                        </a:rPr>
                        <a:t>IEEE Access</a:t>
                      </a:r>
                      <a:endParaRPr lang="en-IN" sz="16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l" fontAlgn="b"/>
                      <a:r>
                        <a:rPr lang="en-US" sz="1600" b="0" i="0" u="none" strike="noStrike" dirty="0">
                          <a:solidFill>
                            <a:srgbClr val="000000"/>
                          </a:solidFill>
                          <a:effectLst/>
                          <a:latin typeface="Times New Roman" panose="02020603050405020304" pitchFamily="18" charset="0"/>
                          <a:cs typeface="Times New Roman" panose="02020603050405020304" pitchFamily="18" charset="0"/>
                        </a:rPr>
                        <a:t> Low Deployment Cost.  Achieve sub-optimal performance.  Tolerates Variations</a:t>
                      </a:r>
                    </a:p>
                  </a:txBody>
                  <a:tcPr marL="9525" marR="9525" marT="9525" marB="0" anchor="ctr"/>
                </a:tc>
                <a:extLst>
                  <a:ext uri="{0D108BD9-81ED-4DB2-BD59-A6C34878D82A}">
                    <a16:rowId xmlns:a16="http://schemas.microsoft.com/office/drawing/2014/main" xmlns="" val="320771864"/>
                  </a:ext>
                </a:extLst>
              </a:tr>
            </a:tbl>
          </a:graphicData>
        </a:graphic>
      </p:graphicFrame>
      <p:sp>
        <p:nvSpPr>
          <p:cNvPr id="8" name="Footer Placeholder 3"/>
          <p:cNvSpPr>
            <a:spLocks noGrp="1"/>
          </p:cNvSpPr>
          <p:nvPr>
            <p:ph type="ftr" sz="quarter" idx="11"/>
          </p:nvPr>
        </p:nvSpPr>
        <p:spPr>
          <a:xfrm>
            <a:off x="3124200" y="6356350"/>
            <a:ext cx="2895600" cy="365125"/>
          </a:xfrm>
        </p:spPr>
        <p:txBody>
          <a:bodyPr/>
          <a:lstStyle/>
          <a:p>
            <a:r>
              <a:rPr lang="en-US"/>
              <a:t>DEPARTMENT OF COMPUTER SCIENCE AND ENGINEERING – CYBER SECURITY</a:t>
            </a:r>
            <a:endParaRPr lang="en-US" dirty="0"/>
          </a:p>
        </p:txBody>
      </p:sp>
      <p:sp>
        <p:nvSpPr>
          <p:cNvPr id="7" name="Date Placeholder 6">
            <a:extLst>
              <a:ext uri="{FF2B5EF4-FFF2-40B4-BE49-F238E27FC236}">
                <a16:creationId xmlns:a16="http://schemas.microsoft.com/office/drawing/2014/main" xmlns="" id="{3D78B9BE-7601-13BC-AB39-26E1C1A94ED1}"/>
              </a:ext>
            </a:extLst>
          </p:cNvPr>
          <p:cNvSpPr>
            <a:spLocks noGrp="1"/>
          </p:cNvSpPr>
          <p:nvPr>
            <p:ph type="dt" sz="half" idx="10"/>
          </p:nvPr>
        </p:nvSpPr>
        <p:spPr/>
        <p:txBody>
          <a:bodyPr/>
          <a:lstStyle/>
          <a:p>
            <a:r>
              <a:rPr lang="en-US" dirty="0"/>
              <a:t>Date : </a:t>
            </a:r>
            <a:fld id="{081B1987-66A7-47E4-81CD-56FCFECEB16D}" type="datetime1">
              <a:rPr lang="en-US" smtClean="0"/>
              <a:t>5/13/2024</a:t>
            </a:fld>
            <a:endParaRPr lang="en-US" dirty="0"/>
          </a:p>
        </p:txBody>
      </p:sp>
      <p:sp>
        <p:nvSpPr>
          <p:cNvPr id="9" name="Slide Number Placeholder 8">
            <a:extLst>
              <a:ext uri="{FF2B5EF4-FFF2-40B4-BE49-F238E27FC236}">
                <a16:creationId xmlns:a16="http://schemas.microsoft.com/office/drawing/2014/main" xmlns="" id="{458C1CED-0746-ADED-4912-6377DBE212FB}"/>
              </a:ext>
            </a:extLst>
          </p:cNvPr>
          <p:cNvSpPr>
            <a:spLocks noGrp="1"/>
          </p:cNvSpPr>
          <p:nvPr>
            <p:ph type="sldNum" sz="quarter" idx="12"/>
          </p:nvPr>
        </p:nvSpPr>
        <p:spPr/>
        <p:txBody>
          <a:bodyPr/>
          <a:lstStyle/>
          <a:p>
            <a:r>
              <a:rPr lang="en-US" dirty="0"/>
              <a:t>Slide Number: </a:t>
            </a:r>
            <a:fld id="{BECDEB80-DBCE-406A-80BF-FEBEE692EE79}" type="slidenum">
              <a:rPr lang="en-US" smtClean="0"/>
              <a:t>12</a:t>
            </a:fld>
            <a:endParaRPr lang="en-US" dirty="0"/>
          </a:p>
        </p:txBody>
      </p:sp>
    </p:spTree>
    <p:extLst>
      <p:ext uri="{BB962C8B-B14F-4D97-AF65-F5344CB8AC3E}">
        <p14:creationId xmlns:p14="http://schemas.microsoft.com/office/powerpoint/2010/main" val="26633105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83359"/>
            <a:ext cx="8229600" cy="715962"/>
          </a:xfrm>
        </p:spPr>
        <p:txBody>
          <a:bodyPr>
            <a:normAutofit fontScale="90000"/>
          </a:bodyPr>
          <a:lstStyle/>
          <a:p>
            <a:r>
              <a:rPr lang="en-US" b="1" dirty="0">
                <a:latin typeface="Times New Roman" panose="02020603050405020304" pitchFamily="18" charset="0"/>
                <a:cs typeface="Times New Roman" panose="02020603050405020304" pitchFamily="18" charset="0"/>
              </a:rPr>
              <a:t>Objectives</a:t>
            </a:r>
          </a:p>
        </p:txBody>
      </p:sp>
      <p:sp>
        <p:nvSpPr>
          <p:cNvPr id="5" name="TextBox 4">
            <a:extLst>
              <a:ext uri="{FF2B5EF4-FFF2-40B4-BE49-F238E27FC236}">
                <a16:creationId xmlns:a16="http://schemas.microsoft.com/office/drawing/2014/main" xmlns="" id="{CB25268C-116D-9415-C580-F4A0E715DF8F}"/>
              </a:ext>
            </a:extLst>
          </p:cNvPr>
          <p:cNvSpPr txBox="1"/>
          <p:nvPr/>
        </p:nvSpPr>
        <p:spPr>
          <a:xfrm>
            <a:off x="838200" y="1524000"/>
            <a:ext cx="7772400" cy="4278094"/>
          </a:xfrm>
          <a:prstGeom prst="rect">
            <a:avLst/>
          </a:prstGeom>
          <a:noFill/>
        </p:spPr>
        <p:txBody>
          <a:bodyPr wrap="square" rtlCol="0">
            <a:spAutoFit/>
          </a:bodyPr>
          <a:lstStyle/>
          <a:p>
            <a:pPr marL="342900" indent="-342900"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To implement an enhanced algorithm that reliably detects and classifies DDoS attack in IoT Environment. </a:t>
            </a:r>
          </a:p>
          <a:p>
            <a:pPr algn="just"/>
            <a:endParaRPr lang="en-US" sz="16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To identify vulnerabilities in network infrastructure, web applications, and other online services that could be exploited for DoS and DDoS attacks.</a:t>
            </a:r>
          </a:p>
          <a:p>
            <a:pPr algn="just"/>
            <a:endParaRPr lang="en-US" sz="16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To identify the  optimal features from the dataset for evaluation.</a:t>
            </a:r>
          </a:p>
          <a:p>
            <a:pPr marL="342900" indent="-342900" algn="just">
              <a:buFont typeface="Arial" panose="020B0604020202020204" pitchFamily="34" charset="0"/>
              <a:buChar char="•"/>
            </a:pPr>
            <a:endParaRPr lang="en-US" sz="16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To train the model with different datasets to improve the efficiency and accuracy.</a:t>
            </a:r>
          </a:p>
          <a:p>
            <a:pPr algn="just"/>
            <a:endParaRPr lang="en-US" sz="16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To assess the performance of model defense mechanisms and identify any potential weaknesses. </a:t>
            </a:r>
          </a:p>
          <a:p>
            <a:pPr algn="just"/>
            <a:endParaRPr lang="en-US" sz="16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To train the model with normal traffic patterns, anomalous traffic patterns so as to improve the identification of  DDoS attacks.</a:t>
            </a:r>
          </a:p>
          <a:p>
            <a:pPr marL="342900" indent="-342900" algn="just">
              <a:buFont typeface="Arial" panose="020B0604020202020204" pitchFamily="34" charset="0"/>
              <a:buChar char="•"/>
            </a:pPr>
            <a:endParaRPr lang="en-US" sz="16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endParaRPr lang="en-US" sz="1600" dirty="0">
              <a:latin typeface="Times New Roman" panose="02020603050405020304" pitchFamily="18" charset="0"/>
              <a:cs typeface="Times New Roman" panose="02020603050405020304" pitchFamily="18" charset="0"/>
            </a:endParaRPr>
          </a:p>
        </p:txBody>
      </p:sp>
      <p:sp>
        <p:nvSpPr>
          <p:cNvPr id="8" name="Footer Placeholder 3"/>
          <p:cNvSpPr>
            <a:spLocks noGrp="1"/>
          </p:cNvSpPr>
          <p:nvPr>
            <p:ph type="ftr" sz="quarter" idx="11"/>
          </p:nvPr>
        </p:nvSpPr>
        <p:spPr>
          <a:xfrm>
            <a:off x="3124200" y="6356350"/>
            <a:ext cx="2895600" cy="365125"/>
          </a:xfrm>
        </p:spPr>
        <p:txBody>
          <a:bodyPr/>
          <a:lstStyle/>
          <a:p>
            <a:r>
              <a:rPr lang="en-US"/>
              <a:t>DEPARTMENT OF COMPUTER SCIENCE AND ENGINEERING – CYBER SECURITY</a:t>
            </a:r>
            <a:endParaRPr lang="en-US" dirty="0"/>
          </a:p>
        </p:txBody>
      </p:sp>
      <p:sp>
        <p:nvSpPr>
          <p:cNvPr id="7" name="Date Placeholder 6">
            <a:extLst>
              <a:ext uri="{FF2B5EF4-FFF2-40B4-BE49-F238E27FC236}">
                <a16:creationId xmlns:a16="http://schemas.microsoft.com/office/drawing/2014/main" xmlns="" id="{0EFF3CD5-A0DD-716A-34A2-56CE590E2EC0}"/>
              </a:ext>
            </a:extLst>
          </p:cNvPr>
          <p:cNvSpPr>
            <a:spLocks noGrp="1"/>
          </p:cNvSpPr>
          <p:nvPr>
            <p:ph type="dt" sz="half" idx="10"/>
          </p:nvPr>
        </p:nvSpPr>
        <p:spPr/>
        <p:txBody>
          <a:bodyPr/>
          <a:lstStyle/>
          <a:p>
            <a:r>
              <a:rPr lang="en-US" dirty="0"/>
              <a:t>Date : </a:t>
            </a:r>
            <a:fld id="{88ACDBAC-D84A-4F64-B73C-92F7A12EFB43}" type="datetime1">
              <a:rPr lang="en-US" smtClean="0"/>
              <a:t>5/13/2024</a:t>
            </a:fld>
            <a:endParaRPr lang="en-US" dirty="0"/>
          </a:p>
        </p:txBody>
      </p:sp>
      <p:sp>
        <p:nvSpPr>
          <p:cNvPr id="9" name="Slide Number Placeholder 8">
            <a:extLst>
              <a:ext uri="{FF2B5EF4-FFF2-40B4-BE49-F238E27FC236}">
                <a16:creationId xmlns:a16="http://schemas.microsoft.com/office/drawing/2014/main" xmlns="" id="{155C4E89-B11B-14A9-6C4A-4D75FFB25DA8}"/>
              </a:ext>
            </a:extLst>
          </p:cNvPr>
          <p:cNvSpPr>
            <a:spLocks noGrp="1"/>
          </p:cNvSpPr>
          <p:nvPr>
            <p:ph type="sldNum" sz="quarter" idx="12"/>
          </p:nvPr>
        </p:nvSpPr>
        <p:spPr/>
        <p:txBody>
          <a:bodyPr/>
          <a:lstStyle/>
          <a:p>
            <a:r>
              <a:rPr lang="en-US" dirty="0"/>
              <a:t>Slide Number: </a:t>
            </a:r>
            <a:fld id="{BECDEB80-DBCE-406A-80BF-FEBEE692EE79}" type="slidenum">
              <a:rPr lang="en-US" smtClean="0"/>
              <a:t>13</a:t>
            </a:fld>
            <a:endParaRPr lang="en-US" dirty="0"/>
          </a:p>
        </p:txBody>
      </p:sp>
    </p:spTree>
    <p:extLst>
      <p:ext uri="{BB962C8B-B14F-4D97-AF65-F5344CB8AC3E}">
        <p14:creationId xmlns:p14="http://schemas.microsoft.com/office/powerpoint/2010/main" val="26387586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A42C633-3A56-9D1B-9BE6-6DCCF1DBB674}"/>
              </a:ext>
            </a:extLst>
          </p:cNvPr>
          <p:cNvSpPr>
            <a:spLocks noGrp="1"/>
          </p:cNvSpPr>
          <p:nvPr>
            <p:ph type="title"/>
          </p:nvPr>
        </p:nvSpPr>
        <p:spPr>
          <a:xfrm>
            <a:off x="571500" y="417597"/>
            <a:ext cx="8229600" cy="580473"/>
          </a:xfrm>
        </p:spPr>
        <p:txBody>
          <a:bodyPr>
            <a:noAutofit/>
          </a:bodyPr>
          <a:lstStyle/>
          <a:p>
            <a:r>
              <a:rPr lang="en-US" sz="4000" b="1" dirty="0">
                <a:latin typeface="Times New Roman" panose="02020603050405020304" pitchFamily="18" charset="0"/>
                <a:cs typeface="Times New Roman" panose="02020603050405020304" pitchFamily="18" charset="0"/>
              </a:rPr>
              <a:t>Problem Statement</a:t>
            </a:r>
            <a:endParaRPr lang="en-IN" sz="4000" b="1"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xmlns="" id="{21839C14-CDDB-7204-A816-26F9DFF87255}"/>
              </a:ext>
            </a:extLst>
          </p:cNvPr>
          <p:cNvSpPr txBox="1"/>
          <p:nvPr/>
        </p:nvSpPr>
        <p:spPr>
          <a:xfrm>
            <a:off x="838200" y="1439781"/>
            <a:ext cx="7696200" cy="4431983"/>
          </a:xfrm>
          <a:prstGeom prst="rect">
            <a:avLst/>
          </a:prstGeom>
          <a:noFill/>
        </p:spPr>
        <p:txBody>
          <a:bodyPr wrap="square" rtlCol="0">
            <a:spAutoFit/>
          </a:bodyPr>
          <a:lstStyle/>
          <a:p>
            <a:pPr marL="342900" indent="-342900"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Existing DDoS detection systems face limitations in keeping up with evolving attack techniques. </a:t>
            </a:r>
          </a:p>
          <a:p>
            <a:pPr marL="342900" indent="-342900" algn="just">
              <a:buFont typeface="Arial" panose="020B0604020202020204" pitchFamily="34" charset="0"/>
              <a:buChar char="•"/>
            </a:pPr>
            <a:endParaRPr lang="en-US" sz="16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These systems often generate false positives or miss subtle attack patterns, leading to network performance degradation.</a:t>
            </a:r>
          </a:p>
          <a:p>
            <a:pPr marL="342900" indent="-342900" algn="just">
              <a:buFont typeface="Arial" panose="020B0604020202020204" pitchFamily="34" charset="0"/>
              <a:buChar char="•"/>
            </a:pPr>
            <a:endParaRPr lang="en-US" sz="16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 The proposed approach integrates the Random Forest algorithm and Context Correlation Algorithm.</a:t>
            </a:r>
          </a:p>
          <a:p>
            <a:pPr marL="342900" indent="-342900" algn="just">
              <a:buFont typeface="Arial" panose="020B0604020202020204" pitchFamily="34" charset="0"/>
              <a:buChar char="•"/>
            </a:pPr>
            <a:endParaRPr lang="en-US" sz="16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To generate a Random Forest algorithm that analyzes the network traffic features to segregate packets as normal or malicious with high accuracy.</a:t>
            </a:r>
          </a:p>
          <a:p>
            <a:pPr marL="342900" indent="-342900" algn="just">
              <a:buFont typeface="Arial" panose="020B0604020202020204" pitchFamily="34" charset="0"/>
              <a:buChar char="•"/>
            </a:pPr>
            <a:endParaRPr lang="en-US" sz="16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To generate a Context Correlation Algorithm that identifies coordinated attack behaviors by analyzing contextual information, enhancing the overall resilience of the network against DDoS attacks.</a:t>
            </a:r>
          </a:p>
          <a:p>
            <a:pPr marL="342900" indent="-342900" algn="just">
              <a:buFont typeface="Arial" panose="020B0604020202020204" pitchFamily="34" charset="0"/>
              <a:buChar char="•"/>
            </a:pPr>
            <a:endParaRPr lang="en-US" sz="16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endParaRPr lang="en-IN" sz="1600" dirty="0">
              <a:latin typeface="Times New Roman" panose="02020603050405020304" pitchFamily="18" charset="0"/>
              <a:cs typeface="Times New Roman" panose="02020603050405020304" pitchFamily="18" charset="0"/>
            </a:endParaRPr>
          </a:p>
        </p:txBody>
      </p:sp>
      <p:sp>
        <p:nvSpPr>
          <p:cNvPr id="8" name="Footer Placeholder 3"/>
          <p:cNvSpPr>
            <a:spLocks noGrp="1"/>
          </p:cNvSpPr>
          <p:nvPr>
            <p:ph type="ftr" sz="quarter" idx="11"/>
          </p:nvPr>
        </p:nvSpPr>
        <p:spPr>
          <a:xfrm>
            <a:off x="3124200" y="6356350"/>
            <a:ext cx="2895600" cy="365125"/>
          </a:xfrm>
        </p:spPr>
        <p:txBody>
          <a:bodyPr/>
          <a:lstStyle/>
          <a:p>
            <a:r>
              <a:rPr lang="en-US"/>
              <a:t>DEPARTMENT OF COMPUTER SCIENCE AND ENGINEERING – CYBER SECURITY</a:t>
            </a:r>
            <a:endParaRPr lang="en-US" dirty="0"/>
          </a:p>
        </p:txBody>
      </p:sp>
      <p:sp>
        <p:nvSpPr>
          <p:cNvPr id="7" name="Date Placeholder 6">
            <a:extLst>
              <a:ext uri="{FF2B5EF4-FFF2-40B4-BE49-F238E27FC236}">
                <a16:creationId xmlns:a16="http://schemas.microsoft.com/office/drawing/2014/main" xmlns="" id="{29C97A93-814E-E755-C29A-17616929C87A}"/>
              </a:ext>
            </a:extLst>
          </p:cNvPr>
          <p:cNvSpPr>
            <a:spLocks noGrp="1"/>
          </p:cNvSpPr>
          <p:nvPr>
            <p:ph type="dt" sz="half" idx="10"/>
          </p:nvPr>
        </p:nvSpPr>
        <p:spPr/>
        <p:txBody>
          <a:bodyPr/>
          <a:lstStyle/>
          <a:p>
            <a:r>
              <a:rPr lang="en-US" dirty="0"/>
              <a:t>Date : </a:t>
            </a:r>
            <a:fld id="{11B8B7D3-1457-4978-A83F-98A91808CBF1}" type="datetime1">
              <a:rPr lang="en-US" smtClean="0"/>
              <a:t>5/13/2024</a:t>
            </a:fld>
            <a:endParaRPr lang="en-US" dirty="0"/>
          </a:p>
        </p:txBody>
      </p:sp>
      <p:sp>
        <p:nvSpPr>
          <p:cNvPr id="9" name="Slide Number Placeholder 8">
            <a:extLst>
              <a:ext uri="{FF2B5EF4-FFF2-40B4-BE49-F238E27FC236}">
                <a16:creationId xmlns:a16="http://schemas.microsoft.com/office/drawing/2014/main" xmlns="" id="{3D1E95F0-5BF8-987A-5CE9-49F2A2193C7B}"/>
              </a:ext>
            </a:extLst>
          </p:cNvPr>
          <p:cNvSpPr>
            <a:spLocks noGrp="1"/>
          </p:cNvSpPr>
          <p:nvPr>
            <p:ph type="sldNum" sz="quarter" idx="12"/>
          </p:nvPr>
        </p:nvSpPr>
        <p:spPr/>
        <p:txBody>
          <a:bodyPr/>
          <a:lstStyle/>
          <a:p>
            <a:r>
              <a:rPr lang="en-US" dirty="0"/>
              <a:t>Slide Number: </a:t>
            </a:r>
            <a:fld id="{BECDEB80-DBCE-406A-80BF-FEBEE692EE79}" type="slidenum">
              <a:rPr lang="en-US" smtClean="0"/>
              <a:t>14</a:t>
            </a:fld>
            <a:endParaRPr lang="en-US" dirty="0"/>
          </a:p>
        </p:txBody>
      </p:sp>
    </p:spTree>
    <p:extLst>
      <p:ext uri="{BB962C8B-B14F-4D97-AF65-F5344CB8AC3E}">
        <p14:creationId xmlns:p14="http://schemas.microsoft.com/office/powerpoint/2010/main" val="21387749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48E4676-942D-2806-14C4-6C31CB61E340}"/>
              </a:ext>
            </a:extLst>
          </p:cNvPr>
          <p:cNvSpPr>
            <a:spLocks noGrp="1"/>
          </p:cNvSpPr>
          <p:nvPr>
            <p:ph type="title"/>
          </p:nvPr>
        </p:nvSpPr>
        <p:spPr>
          <a:xfrm>
            <a:off x="457200" y="411162"/>
            <a:ext cx="8229600" cy="808038"/>
          </a:xfrm>
        </p:spPr>
        <p:txBody>
          <a:bodyPr>
            <a:normAutofit/>
          </a:bodyPr>
          <a:lstStyle/>
          <a:p>
            <a:r>
              <a:rPr lang="en-IN" sz="4000" b="1" dirty="0">
                <a:latin typeface="Times New Roman" panose="02020603050405020304" pitchFamily="18" charset="0"/>
                <a:cs typeface="Times New Roman" panose="02020603050405020304" pitchFamily="18" charset="0"/>
              </a:rPr>
              <a:t>Proposed Work</a:t>
            </a:r>
          </a:p>
        </p:txBody>
      </p:sp>
      <p:sp>
        <p:nvSpPr>
          <p:cNvPr id="5" name="TextBox 4">
            <a:extLst>
              <a:ext uri="{FF2B5EF4-FFF2-40B4-BE49-F238E27FC236}">
                <a16:creationId xmlns:a16="http://schemas.microsoft.com/office/drawing/2014/main" xmlns="" id="{C8F882EC-A8C3-69CA-1BBA-7367176EF8D9}"/>
              </a:ext>
            </a:extLst>
          </p:cNvPr>
          <p:cNvSpPr txBox="1"/>
          <p:nvPr/>
        </p:nvSpPr>
        <p:spPr>
          <a:xfrm>
            <a:off x="838200" y="1219200"/>
            <a:ext cx="7696200" cy="4832092"/>
          </a:xfrm>
          <a:prstGeom prst="rect">
            <a:avLst/>
          </a:prstGeom>
          <a:noFill/>
        </p:spPr>
        <p:txBody>
          <a:bodyPr wrap="square" rtlCol="0">
            <a:spAutoFit/>
          </a:bodyPr>
          <a:lstStyle/>
          <a:p>
            <a:pPr algn="just"/>
            <a:endParaRPr lang="en-US" sz="16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The Proposed Model uses a two Pronged Approach for analyzing and detecting the DDoS Traffic.</a:t>
            </a:r>
          </a:p>
          <a:p>
            <a:pPr marL="285750" indent="-285750" algn="just">
              <a:buFont typeface="Arial" panose="020B0604020202020204" pitchFamily="34" charset="0"/>
              <a:buChar char="•"/>
            </a:pPr>
            <a:endParaRPr lang="en-US" sz="16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 The Random Forest algorithm, a machine learning technique, plays a crucial role by analyzing vast amounts of historical traffic data, both normal and attack-related, the Random Forest learns to identify patterns that differentiate between regular activity and malicious attacks.</a:t>
            </a:r>
          </a:p>
          <a:p>
            <a:pPr marL="285750" indent="-285750" algn="just">
              <a:buFont typeface="Arial" panose="020B0604020202020204" pitchFamily="34" charset="0"/>
              <a:buChar char="•"/>
            </a:pPr>
            <a:endParaRPr lang="en-US" sz="16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The Context Correlation Algorithm considers additional contextual information to build a more comprehensive picture of network activity. </a:t>
            </a:r>
          </a:p>
          <a:p>
            <a:pPr marL="285750" indent="-285750" algn="just">
              <a:buFont typeface="Arial" panose="020B0604020202020204" pitchFamily="34" charset="0"/>
              <a:buChar char="•"/>
            </a:pPr>
            <a:endParaRPr lang="en-US" sz="16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The Factors like imagine traffic originating from unusual geographical locations, sudden spikes in traffic volume, or coordinated attack patterns from multiple sources are considered by context correlation algorithm.</a:t>
            </a:r>
          </a:p>
          <a:p>
            <a:pPr marL="285750" indent="-285750" algn="just">
              <a:buFont typeface="Arial" panose="020B0604020202020204" pitchFamily="34" charset="0"/>
              <a:buChar char="•"/>
            </a:pPr>
            <a:endParaRPr lang="en-US" sz="16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By correlating these contextual factors, the system can effectively identify complex attack behaviors that affects the IoT devices.</a:t>
            </a:r>
          </a:p>
          <a:p>
            <a:pPr marL="342900" indent="-342900" algn="just">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p:txBody>
      </p:sp>
      <p:sp>
        <p:nvSpPr>
          <p:cNvPr id="8" name="Footer Placeholder 3"/>
          <p:cNvSpPr>
            <a:spLocks noGrp="1"/>
          </p:cNvSpPr>
          <p:nvPr>
            <p:ph type="ftr" sz="quarter" idx="11"/>
          </p:nvPr>
        </p:nvSpPr>
        <p:spPr>
          <a:xfrm>
            <a:off x="3124200" y="6356350"/>
            <a:ext cx="2895600" cy="365125"/>
          </a:xfrm>
        </p:spPr>
        <p:txBody>
          <a:bodyPr/>
          <a:lstStyle/>
          <a:p>
            <a:r>
              <a:rPr lang="en-US"/>
              <a:t>DEPARTMENT OF COMPUTER SCIENCE AND ENGINEERING – CYBER SECURITY</a:t>
            </a:r>
            <a:endParaRPr lang="en-US" dirty="0"/>
          </a:p>
        </p:txBody>
      </p:sp>
      <p:sp>
        <p:nvSpPr>
          <p:cNvPr id="7" name="Date Placeholder 6">
            <a:extLst>
              <a:ext uri="{FF2B5EF4-FFF2-40B4-BE49-F238E27FC236}">
                <a16:creationId xmlns:a16="http://schemas.microsoft.com/office/drawing/2014/main" xmlns="" id="{5D27F6BE-03F3-C754-6D27-2CB520DE884A}"/>
              </a:ext>
            </a:extLst>
          </p:cNvPr>
          <p:cNvSpPr>
            <a:spLocks noGrp="1"/>
          </p:cNvSpPr>
          <p:nvPr>
            <p:ph type="dt" sz="half" idx="10"/>
          </p:nvPr>
        </p:nvSpPr>
        <p:spPr/>
        <p:txBody>
          <a:bodyPr/>
          <a:lstStyle/>
          <a:p>
            <a:r>
              <a:rPr lang="en-US" dirty="0"/>
              <a:t>Date : </a:t>
            </a:r>
            <a:fld id="{0732C26D-A919-4598-B368-96AF2456C5E7}" type="datetime1">
              <a:rPr lang="en-US" smtClean="0"/>
              <a:t>5/13/2024</a:t>
            </a:fld>
            <a:endParaRPr lang="en-US" dirty="0"/>
          </a:p>
        </p:txBody>
      </p:sp>
      <p:sp>
        <p:nvSpPr>
          <p:cNvPr id="9" name="Slide Number Placeholder 8">
            <a:extLst>
              <a:ext uri="{FF2B5EF4-FFF2-40B4-BE49-F238E27FC236}">
                <a16:creationId xmlns:a16="http://schemas.microsoft.com/office/drawing/2014/main" xmlns="" id="{9E019F6E-7347-1FF8-983A-A2FA49EA3897}"/>
              </a:ext>
            </a:extLst>
          </p:cNvPr>
          <p:cNvSpPr>
            <a:spLocks noGrp="1"/>
          </p:cNvSpPr>
          <p:nvPr>
            <p:ph type="sldNum" sz="quarter" idx="12"/>
          </p:nvPr>
        </p:nvSpPr>
        <p:spPr/>
        <p:txBody>
          <a:bodyPr/>
          <a:lstStyle/>
          <a:p>
            <a:r>
              <a:rPr lang="en-US" dirty="0"/>
              <a:t>Slide Number: </a:t>
            </a:r>
            <a:fld id="{BECDEB80-DBCE-406A-80BF-FEBEE692EE79}" type="slidenum">
              <a:rPr lang="en-US" smtClean="0"/>
              <a:t>15</a:t>
            </a:fld>
            <a:endParaRPr lang="en-US" dirty="0"/>
          </a:p>
        </p:txBody>
      </p:sp>
    </p:spTree>
    <p:extLst>
      <p:ext uri="{BB962C8B-B14F-4D97-AF65-F5344CB8AC3E}">
        <p14:creationId xmlns:p14="http://schemas.microsoft.com/office/powerpoint/2010/main" val="64223831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160A401D-D3F1-1D46-B74E-0C04C5441F2D}"/>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xmlns="" id="{40C0670E-A274-3C2E-AAFB-214FD0B0E414}"/>
              </a:ext>
            </a:extLst>
          </p:cNvPr>
          <p:cNvSpPr txBox="1"/>
          <p:nvPr/>
        </p:nvSpPr>
        <p:spPr>
          <a:xfrm>
            <a:off x="609600" y="151451"/>
            <a:ext cx="7924800" cy="769441"/>
          </a:xfrm>
          <a:prstGeom prst="rect">
            <a:avLst/>
          </a:prstGeom>
          <a:noFill/>
        </p:spPr>
        <p:txBody>
          <a:bodyPr wrap="square">
            <a:spAutoFit/>
          </a:bodyPr>
          <a:lstStyle/>
          <a:p>
            <a:pPr algn="ctr"/>
            <a:r>
              <a:rPr lang="en-IN" sz="4400" b="1" dirty="0">
                <a:latin typeface="Times New Roman" panose="02020603050405020304" pitchFamily="18" charset="0"/>
                <a:cs typeface="Times New Roman" panose="02020603050405020304" pitchFamily="18" charset="0"/>
              </a:rPr>
              <a:t>Architecture diagram </a:t>
            </a:r>
          </a:p>
        </p:txBody>
      </p:sp>
      <p:sp>
        <p:nvSpPr>
          <p:cNvPr id="9" name="Footer Placeholder 3"/>
          <p:cNvSpPr>
            <a:spLocks noGrp="1"/>
          </p:cNvSpPr>
          <p:nvPr>
            <p:ph type="ftr" sz="quarter" idx="11"/>
          </p:nvPr>
        </p:nvSpPr>
        <p:spPr>
          <a:xfrm>
            <a:off x="3124200" y="6356350"/>
            <a:ext cx="2895600" cy="365125"/>
          </a:xfrm>
        </p:spPr>
        <p:txBody>
          <a:bodyPr/>
          <a:lstStyle/>
          <a:p>
            <a:r>
              <a:rPr lang="en-US"/>
              <a:t>DEPARTMENT OF COMPUTER SCIENCE AND ENGINEERING – CYBER SECURITY</a:t>
            </a:r>
            <a:endParaRPr lang="en-US"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5482" y="920892"/>
            <a:ext cx="8375986" cy="49465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Date Placeholder 4">
            <a:extLst>
              <a:ext uri="{FF2B5EF4-FFF2-40B4-BE49-F238E27FC236}">
                <a16:creationId xmlns:a16="http://schemas.microsoft.com/office/drawing/2014/main" xmlns="" id="{82547FA9-8A26-0DB3-4AF8-2DA66A4B01FF}"/>
              </a:ext>
            </a:extLst>
          </p:cNvPr>
          <p:cNvSpPr>
            <a:spLocks noGrp="1"/>
          </p:cNvSpPr>
          <p:nvPr>
            <p:ph type="dt" sz="half" idx="10"/>
          </p:nvPr>
        </p:nvSpPr>
        <p:spPr>
          <a:xfrm>
            <a:off x="457200" y="6356350"/>
            <a:ext cx="2133600" cy="365125"/>
          </a:xfrm>
        </p:spPr>
        <p:txBody>
          <a:bodyPr/>
          <a:lstStyle/>
          <a:p>
            <a:r>
              <a:rPr lang="en-US" dirty="0"/>
              <a:t>Date : </a:t>
            </a:r>
            <a:fld id="{A18ED97A-7445-4CBB-9470-FFACD9271806}" type="datetime1">
              <a:rPr lang="en-US" smtClean="0"/>
              <a:t>5/13/2024</a:t>
            </a:fld>
            <a:endParaRPr lang="en-US" dirty="0"/>
          </a:p>
        </p:txBody>
      </p:sp>
      <p:sp>
        <p:nvSpPr>
          <p:cNvPr id="6" name="Slide Number Placeholder 5">
            <a:extLst>
              <a:ext uri="{FF2B5EF4-FFF2-40B4-BE49-F238E27FC236}">
                <a16:creationId xmlns:a16="http://schemas.microsoft.com/office/drawing/2014/main" xmlns="" id="{8BE2DB0A-59C0-E987-294C-0231EE0E012C}"/>
              </a:ext>
            </a:extLst>
          </p:cNvPr>
          <p:cNvSpPr>
            <a:spLocks noGrp="1"/>
          </p:cNvSpPr>
          <p:nvPr>
            <p:ph type="sldNum" sz="quarter" idx="12"/>
          </p:nvPr>
        </p:nvSpPr>
        <p:spPr/>
        <p:txBody>
          <a:bodyPr/>
          <a:lstStyle/>
          <a:p>
            <a:r>
              <a:rPr lang="en-US" dirty="0"/>
              <a:t>Slide Number: </a:t>
            </a:r>
            <a:fld id="{BECDEB80-DBCE-406A-80BF-FEBEE692EE79}" type="slidenum">
              <a:rPr lang="en-US" smtClean="0"/>
              <a:t>16</a:t>
            </a:fld>
            <a:endParaRPr lang="en-US" dirty="0"/>
          </a:p>
        </p:txBody>
      </p:sp>
      <p:sp>
        <p:nvSpPr>
          <p:cNvPr id="2" name="Rectangle 1">
            <a:extLst>
              <a:ext uri="{FF2B5EF4-FFF2-40B4-BE49-F238E27FC236}">
                <a16:creationId xmlns:a16="http://schemas.microsoft.com/office/drawing/2014/main" xmlns="" id="{629D8E64-8500-5B1F-50A6-AAEF9A070D8C}"/>
              </a:ext>
            </a:extLst>
          </p:cNvPr>
          <p:cNvSpPr/>
          <p:nvPr/>
        </p:nvSpPr>
        <p:spPr>
          <a:xfrm>
            <a:off x="3276600" y="5966448"/>
            <a:ext cx="2286000" cy="276999"/>
          </a:xfrm>
          <a:prstGeom prst="rect">
            <a:avLst/>
          </a:prstGeom>
        </p:spPr>
        <p:txBody>
          <a:bodyPr wrap="square">
            <a:spAutoFit/>
          </a:bodyPr>
          <a:lstStyle/>
          <a:p>
            <a:r>
              <a:rPr lang="en-US" sz="1200" dirty="0">
                <a:latin typeface="Times New Roman" panose="02020603050405020304" pitchFamily="18" charset="0"/>
                <a:cs typeface="Times New Roman" pitchFamily="18" charset="0"/>
              </a:rPr>
              <a:t>Figure 1  Architecture Diagram</a:t>
            </a:r>
            <a:endParaRPr lang="en-IN" sz="1200" dirty="0">
              <a:latin typeface="Times New Roman" pitchFamily="18" charset="0"/>
              <a:cs typeface="Times New Roman" pitchFamily="18" charset="0"/>
            </a:endParaRPr>
          </a:p>
        </p:txBody>
      </p:sp>
    </p:spTree>
    <p:extLst>
      <p:ext uri="{BB962C8B-B14F-4D97-AF65-F5344CB8AC3E}">
        <p14:creationId xmlns:p14="http://schemas.microsoft.com/office/powerpoint/2010/main" val="300993879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54C723D8-5668-90A5-D278-1F0F941075D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EBFF2E37-DDC6-440F-5511-5911BCD33DFA}"/>
              </a:ext>
            </a:extLst>
          </p:cNvPr>
          <p:cNvSpPr>
            <a:spLocks noGrp="1"/>
          </p:cNvSpPr>
          <p:nvPr>
            <p:ph type="title"/>
          </p:nvPr>
        </p:nvSpPr>
        <p:spPr>
          <a:xfrm>
            <a:off x="457200" y="349187"/>
            <a:ext cx="8229600" cy="489013"/>
          </a:xfrm>
        </p:spPr>
        <p:txBody>
          <a:bodyPr>
            <a:normAutofit fontScale="90000"/>
          </a:bodyPr>
          <a:lstStyle/>
          <a:p>
            <a:r>
              <a:rPr lang="en-US" sz="4800" b="1" dirty="0">
                <a:latin typeface="Times New Roman" panose="02020603050405020304" pitchFamily="18" charset="0"/>
                <a:cs typeface="Times New Roman" panose="02020603050405020304" pitchFamily="18" charset="0"/>
              </a:rPr>
              <a:t>Modules</a:t>
            </a:r>
            <a:r>
              <a:rPr lang="en-US" b="1" dirty="0">
                <a:latin typeface="Times New Roman" panose="02020603050405020304" pitchFamily="18" charset="0"/>
                <a:cs typeface="Times New Roman" panose="02020603050405020304" pitchFamily="18" charset="0"/>
              </a:rPr>
              <a:t> </a:t>
            </a:r>
          </a:p>
        </p:txBody>
      </p:sp>
      <p:sp>
        <p:nvSpPr>
          <p:cNvPr id="3" name="Content Placeholder 2">
            <a:extLst>
              <a:ext uri="{FF2B5EF4-FFF2-40B4-BE49-F238E27FC236}">
                <a16:creationId xmlns:a16="http://schemas.microsoft.com/office/drawing/2014/main" xmlns="" id="{772C4269-E5B2-0ED3-B5F1-F788EFD84EC2}"/>
              </a:ext>
            </a:extLst>
          </p:cNvPr>
          <p:cNvSpPr>
            <a:spLocks noGrp="1"/>
          </p:cNvSpPr>
          <p:nvPr>
            <p:ph idx="1"/>
          </p:nvPr>
        </p:nvSpPr>
        <p:spPr>
          <a:xfrm>
            <a:off x="897082" y="1219200"/>
            <a:ext cx="7180118" cy="4724400"/>
          </a:xfrm>
        </p:spPr>
        <p:txBody>
          <a:bodyPr>
            <a:noAutofit/>
          </a:bodyPr>
          <a:lstStyle/>
          <a:p>
            <a:pPr marL="0" indent="0" algn="just">
              <a:lnSpc>
                <a:spcPct val="150000"/>
              </a:lnSpc>
              <a:buNone/>
            </a:pPr>
            <a:r>
              <a:rPr lang="en-IN" sz="1600" dirty="0">
                <a:latin typeface="Times New Roman" panose="02020603050405020304" pitchFamily="18" charset="0"/>
                <a:cs typeface="Times New Roman" panose="02020603050405020304" pitchFamily="18" charset="0"/>
              </a:rPr>
              <a:t>There are </a:t>
            </a:r>
            <a:r>
              <a:rPr lang="en-IN" sz="1600" b="1" dirty="0">
                <a:latin typeface="Times New Roman" panose="02020603050405020304" pitchFamily="18" charset="0"/>
                <a:cs typeface="Times New Roman" panose="02020603050405020304" pitchFamily="18" charset="0"/>
              </a:rPr>
              <a:t>Seven </a:t>
            </a:r>
            <a:r>
              <a:rPr lang="en-IN" sz="1600" dirty="0">
                <a:latin typeface="Times New Roman" panose="02020603050405020304" pitchFamily="18" charset="0"/>
                <a:cs typeface="Times New Roman" panose="02020603050405020304" pitchFamily="18" charset="0"/>
              </a:rPr>
              <a:t>modules: </a:t>
            </a:r>
          </a:p>
          <a:p>
            <a:pPr marL="0" indent="0" algn="just">
              <a:lnSpc>
                <a:spcPct val="150000"/>
              </a:lnSpc>
              <a:buNone/>
            </a:pPr>
            <a:endParaRPr lang="en-IN" sz="1600" dirty="0">
              <a:latin typeface="Times New Roman" panose="02020603050405020304" pitchFamily="18" charset="0"/>
              <a:cs typeface="Times New Roman" panose="02020603050405020304" pitchFamily="18" charset="0"/>
            </a:endParaRPr>
          </a:p>
          <a:p>
            <a:pPr marL="0" indent="0" algn="just">
              <a:lnSpc>
                <a:spcPct val="150000"/>
              </a:lnSpc>
              <a:buNone/>
            </a:pPr>
            <a:r>
              <a:rPr lang="en-IN" sz="1600" dirty="0">
                <a:latin typeface="Times New Roman" panose="02020603050405020304" pitchFamily="18" charset="0"/>
                <a:cs typeface="Times New Roman" panose="02020603050405020304" pitchFamily="18" charset="0"/>
              </a:rPr>
              <a:t>Module 1: Data Pre-processing </a:t>
            </a:r>
          </a:p>
          <a:p>
            <a:pPr marL="0" indent="0" algn="just">
              <a:lnSpc>
                <a:spcPct val="150000"/>
              </a:lnSpc>
              <a:buNone/>
            </a:pPr>
            <a:r>
              <a:rPr lang="en-IN" sz="1600" dirty="0">
                <a:latin typeface="Times New Roman" panose="02020603050405020304" pitchFamily="18" charset="0"/>
                <a:cs typeface="Times New Roman" panose="02020603050405020304" pitchFamily="18" charset="0"/>
              </a:rPr>
              <a:t>Module 2: Feature Selection </a:t>
            </a:r>
            <a:endParaRPr lang="en-IN" sz="1600" i="0" dirty="0">
              <a:effectLst/>
              <a:latin typeface="Times New Roman" panose="02020603050405020304" pitchFamily="18" charset="0"/>
              <a:cs typeface="Times New Roman" panose="02020603050405020304" pitchFamily="18" charset="0"/>
            </a:endParaRPr>
          </a:p>
          <a:p>
            <a:pPr marL="0" indent="0" algn="just">
              <a:lnSpc>
                <a:spcPct val="150000"/>
              </a:lnSpc>
              <a:buNone/>
            </a:pPr>
            <a:r>
              <a:rPr lang="en-IN" sz="1600" dirty="0">
                <a:latin typeface="Times New Roman" panose="02020603050405020304" pitchFamily="18" charset="0"/>
                <a:cs typeface="Times New Roman" panose="02020603050405020304" pitchFamily="18" charset="0"/>
              </a:rPr>
              <a:t>Module 3: Class Imbalance </a:t>
            </a:r>
          </a:p>
          <a:p>
            <a:pPr marL="0" indent="0" algn="just">
              <a:lnSpc>
                <a:spcPct val="150000"/>
              </a:lnSpc>
              <a:buNone/>
            </a:pPr>
            <a:r>
              <a:rPr lang="en-IN" sz="1600" dirty="0">
                <a:latin typeface="Times New Roman" panose="02020603050405020304" pitchFamily="18" charset="0"/>
                <a:cs typeface="Times New Roman" panose="02020603050405020304" pitchFamily="18" charset="0"/>
              </a:rPr>
              <a:t>Module 4: Model Training</a:t>
            </a:r>
          </a:p>
          <a:p>
            <a:pPr marL="0" indent="0" algn="just">
              <a:lnSpc>
                <a:spcPct val="150000"/>
              </a:lnSpc>
              <a:buNone/>
            </a:pPr>
            <a:r>
              <a:rPr lang="en-IN" sz="1600" dirty="0">
                <a:latin typeface="Times New Roman" panose="02020603050405020304" pitchFamily="18" charset="0"/>
                <a:cs typeface="Times New Roman" panose="02020603050405020304" pitchFamily="18" charset="0"/>
              </a:rPr>
              <a:t>Module 5: Random Forest Algorithm</a:t>
            </a:r>
          </a:p>
          <a:p>
            <a:pPr marL="0" indent="0" algn="just">
              <a:lnSpc>
                <a:spcPct val="150000"/>
              </a:lnSpc>
              <a:buNone/>
            </a:pPr>
            <a:r>
              <a:rPr lang="en-IN" sz="1600" dirty="0">
                <a:latin typeface="Times New Roman" panose="02020603050405020304" pitchFamily="18" charset="0"/>
                <a:cs typeface="Times New Roman" panose="02020603050405020304" pitchFamily="18" charset="0"/>
              </a:rPr>
              <a:t>Module 6: Classification </a:t>
            </a:r>
          </a:p>
          <a:p>
            <a:pPr marL="0" indent="0" algn="just">
              <a:lnSpc>
                <a:spcPct val="150000"/>
              </a:lnSpc>
              <a:buNone/>
            </a:pPr>
            <a:r>
              <a:rPr lang="en-IN" sz="1600" dirty="0">
                <a:latin typeface="Times New Roman" panose="02020603050405020304" pitchFamily="18" charset="0"/>
                <a:cs typeface="Times New Roman" panose="02020603050405020304" pitchFamily="18" charset="0"/>
              </a:rPr>
              <a:t>Module 7: Performance Evaluation </a:t>
            </a:r>
          </a:p>
          <a:p>
            <a:pPr marL="0" indent="0" algn="just">
              <a:lnSpc>
                <a:spcPct val="150000"/>
              </a:lnSpc>
              <a:buNone/>
            </a:pPr>
            <a:endParaRPr lang="en-IN" sz="1600" dirty="0">
              <a:latin typeface="Times New Roman" panose="02020603050405020304" pitchFamily="18" charset="0"/>
              <a:cs typeface="Times New Roman" panose="02020603050405020304" pitchFamily="18" charset="0"/>
            </a:endParaRPr>
          </a:p>
        </p:txBody>
      </p:sp>
      <p:sp>
        <p:nvSpPr>
          <p:cNvPr id="8" name="Footer Placeholder 3"/>
          <p:cNvSpPr>
            <a:spLocks noGrp="1"/>
          </p:cNvSpPr>
          <p:nvPr>
            <p:ph type="ftr" sz="quarter" idx="11"/>
          </p:nvPr>
        </p:nvSpPr>
        <p:spPr>
          <a:xfrm>
            <a:off x="3124200" y="6356350"/>
            <a:ext cx="2895600" cy="365125"/>
          </a:xfrm>
        </p:spPr>
        <p:txBody>
          <a:bodyPr/>
          <a:lstStyle/>
          <a:p>
            <a:r>
              <a:rPr lang="en-US"/>
              <a:t>DEPARTMENT OF COMPUTER SCIENCE AND ENGINEERING – CYBER SECURITY</a:t>
            </a:r>
            <a:endParaRPr lang="en-US" dirty="0"/>
          </a:p>
        </p:txBody>
      </p:sp>
      <p:sp>
        <p:nvSpPr>
          <p:cNvPr id="7" name="Date Placeholder 6">
            <a:extLst>
              <a:ext uri="{FF2B5EF4-FFF2-40B4-BE49-F238E27FC236}">
                <a16:creationId xmlns:a16="http://schemas.microsoft.com/office/drawing/2014/main" xmlns="" id="{988A3D44-B7FA-8C5A-489F-EE375214BA5C}"/>
              </a:ext>
            </a:extLst>
          </p:cNvPr>
          <p:cNvSpPr>
            <a:spLocks noGrp="1"/>
          </p:cNvSpPr>
          <p:nvPr>
            <p:ph type="dt" sz="half" idx="10"/>
          </p:nvPr>
        </p:nvSpPr>
        <p:spPr/>
        <p:txBody>
          <a:bodyPr/>
          <a:lstStyle/>
          <a:p>
            <a:r>
              <a:rPr lang="en-US" dirty="0"/>
              <a:t>Date : </a:t>
            </a:r>
            <a:fld id="{1B9707C6-5D16-4744-8DC1-E113A4566FEA}" type="datetime1">
              <a:rPr lang="en-US" smtClean="0"/>
              <a:t>5/13/2024</a:t>
            </a:fld>
            <a:endParaRPr lang="en-US" dirty="0"/>
          </a:p>
        </p:txBody>
      </p:sp>
      <p:sp>
        <p:nvSpPr>
          <p:cNvPr id="9" name="Slide Number Placeholder 8">
            <a:extLst>
              <a:ext uri="{FF2B5EF4-FFF2-40B4-BE49-F238E27FC236}">
                <a16:creationId xmlns:a16="http://schemas.microsoft.com/office/drawing/2014/main" xmlns="" id="{C7E84C3D-0299-F1CB-27A1-2EE522D30D66}"/>
              </a:ext>
            </a:extLst>
          </p:cNvPr>
          <p:cNvSpPr>
            <a:spLocks noGrp="1"/>
          </p:cNvSpPr>
          <p:nvPr>
            <p:ph type="sldNum" sz="quarter" idx="12"/>
          </p:nvPr>
        </p:nvSpPr>
        <p:spPr/>
        <p:txBody>
          <a:bodyPr/>
          <a:lstStyle/>
          <a:p>
            <a:r>
              <a:rPr lang="en-US" dirty="0"/>
              <a:t>Slide Number: </a:t>
            </a:r>
            <a:fld id="{BECDEB80-DBCE-406A-80BF-FEBEE692EE79}" type="slidenum">
              <a:rPr lang="en-US" smtClean="0"/>
              <a:t>17</a:t>
            </a:fld>
            <a:endParaRPr lang="en-US" dirty="0"/>
          </a:p>
        </p:txBody>
      </p:sp>
    </p:spTree>
    <p:extLst>
      <p:ext uri="{BB962C8B-B14F-4D97-AF65-F5344CB8AC3E}">
        <p14:creationId xmlns:p14="http://schemas.microsoft.com/office/powerpoint/2010/main" val="292659009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xmlns="" id="{0B727F0E-EB7A-EF34-8A49-770B65FF09A8}"/>
              </a:ext>
            </a:extLst>
          </p:cNvPr>
          <p:cNvSpPr txBox="1"/>
          <p:nvPr/>
        </p:nvSpPr>
        <p:spPr>
          <a:xfrm>
            <a:off x="838200" y="1163562"/>
            <a:ext cx="7848600" cy="5047536"/>
          </a:xfrm>
          <a:prstGeom prst="rect">
            <a:avLst/>
          </a:prstGeom>
          <a:noFill/>
        </p:spPr>
        <p:txBody>
          <a:bodyPr wrap="square">
            <a:spAutoFit/>
          </a:bodyPr>
          <a:lstStyle/>
          <a:p>
            <a:pPr algn="just"/>
            <a:r>
              <a:rPr lang="en-IN" sz="1600" b="1" dirty="0">
                <a:latin typeface="Times New Roman" panose="02020603050405020304" pitchFamily="18" charset="0"/>
                <a:cs typeface="Times New Roman" panose="02020603050405020304" pitchFamily="18" charset="0"/>
              </a:rPr>
              <a:t>Module 1: Data Pre-processing </a:t>
            </a:r>
          </a:p>
          <a:p>
            <a:pPr algn="just"/>
            <a:endParaRPr lang="en-IN" sz="1600" b="1"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This includes the following steps:</a:t>
            </a:r>
          </a:p>
          <a:p>
            <a:pPr algn="just"/>
            <a:endParaRPr lang="en-IN" sz="16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1600" b="1" dirty="0">
                <a:latin typeface="Times New Roman" pitchFamily="18" charset="0"/>
                <a:cs typeface="Times New Roman" pitchFamily="18" charset="0"/>
              </a:rPr>
              <a:t>Data cleaning: </a:t>
            </a:r>
            <a:r>
              <a:rPr lang="en-US" sz="1600" dirty="0">
                <a:latin typeface="Times New Roman" pitchFamily="18" charset="0"/>
                <a:cs typeface="Times New Roman" pitchFamily="18" charset="0"/>
              </a:rPr>
              <a:t>Fill in missing values, eliminate redundant or unnecessary data, and standardize data formats.</a:t>
            </a:r>
          </a:p>
          <a:p>
            <a:pPr marL="285750" indent="-285750" algn="just">
              <a:buFont typeface="Arial" panose="020B0604020202020204" pitchFamily="34" charset="0"/>
              <a:buChar char="•"/>
            </a:pPr>
            <a:endParaRPr lang="en-US" sz="1600" dirty="0">
              <a:latin typeface="Times New Roman" pitchFamily="18" charset="0"/>
              <a:cs typeface="Times New Roman" pitchFamily="18" charset="0"/>
            </a:endParaRPr>
          </a:p>
          <a:p>
            <a:pPr marL="285750" indent="-285750" algn="just">
              <a:buFont typeface="Arial" panose="020B0604020202020204" pitchFamily="34" charset="0"/>
              <a:buChar char="•"/>
            </a:pPr>
            <a:r>
              <a:rPr lang="en-US" sz="1600" b="1" dirty="0">
                <a:latin typeface="Times New Roman" pitchFamily="18" charset="0"/>
                <a:cs typeface="Times New Roman" pitchFamily="18" charset="0"/>
              </a:rPr>
              <a:t>Missing value imputation:</a:t>
            </a:r>
            <a:r>
              <a:rPr lang="en-US" sz="1600" dirty="0">
                <a:latin typeface="Times New Roman" pitchFamily="18" charset="0"/>
                <a:cs typeface="Times New Roman" pitchFamily="18" charset="0"/>
              </a:rPr>
              <a:t> This technique substitutes useful estimations, like a function's mean or a forecast from a different model, for missing data.</a:t>
            </a:r>
          </a:p>
          <a:p>
            <a:pPr algn="just"/>
            <a:endParaRPr lang="en-US" sz="1600" dirty="0">
              <a:latin typeface="Times New Roman" pitchFamily="18" charset="0"/>
              <a:cs typeface="Times New Roman" pitchFamily="18" charset="0"/>
            </a:endParaRPr>
          </a:p>
          <a:p>
            <a:pPr marL="285750" indent="-285750" algn="just">
              <a:buFont typeface="Arial" pitchFamily="34" charset="0"/>
              <a:buChar char="•"/>
            </a:pPr>
            <a:r>
              <a:rPr lang="en-US" sz="1600" b="1" dirty="0">
                <a:latin typeface="Times New Roman" pitchFamily="18" charset="0"/>
                <a:cs typeface="Times New Roman" pitchFamily="18" charset="0"/>
              </a:rPr>
              <a:t>Data scaling:</a:t>
            </a:r>
            <a:r>
              <a:rPr lang="en-US" sz="1600" dirty="0">
                <a:latin typeface="Times New Roman" pitchFamily="18" charset="0"/>
                <a:cs typeface="Times New Roman" pitchFamily="18" charset="0"/>
              </a:rPr>
              <a:t> Adjust the data to ensure that the range of values for each feature is the same.</a:t>
            </a:r>
          </a:p>
          <a:p>
            <a:pPr marL="285750" indent="-285750" algn="just">
              <a:buFont typeface="Arial" pitchFamily="34" charset="0"/>
              <a:buChar char="•"/>
            </a:pPr>
            <a:endParaRPr lang="en-US" sz="1600" dirty="0">
              <a:latin typeface="Times New Roman" pitchFamily="18" charset="0"/>
              <a:cs typeface="Times New Roman" pitchFamily="18" charset="0"/>
            </a:endParaRPr>
          </a:p>
          <a:p>
            <a:pPr marL="285750" indent="-285750" algn="just">
              <a:buFont typeface="Arial" pitchFamily="34" charset="0"/>
              <a:buChar char="•"/>
            </a:pPr>
            <a:r>
              <a:rPr lang="en-US" sz="1600" b="1" dirty="0">
                <a:latin typeface="Times New Roman" pitchFamily="18" charset="0"/>
                <a:cs typeface="Times New Roman" pitchFamily="18" charset="0"/>
              </a:rPr>
              <a:t>Feature selection</a:t>
            </a:r>
            <a:r>
              <a:rPr lang="en-US" sz="1600" dirty="0">
                <a:latin typeface="Times New Roman" pitchFamily="18" charset="0"/>
                <a:cs typeface="Times New Roman" pitchFamily="18" charset="0"/>
              </a:rPr>
              <a:t>: Only include the features that are most crucial to the model's ability to reduce precise predictions.</a:t>
            </a:r>
          </a:p>
          <a:p>
            <a:pPr marL="285750" indent="-285750" algn="just">
              <a:buFont typeface="Arial" pitchFamily="34" charset="0"/>
              <a:buChar char="•"/>
            </a:pPr>
            <a:endParaRPr lang="en-US" sz="1600" b="1" dirty="0">
              <a:latin typeface="Times New Roman" pitchFamily="18" charset="0"/>
              <a:cs typeface="Times New Roman" pitchFamily="18" charset="0"/>
            </a:endParaRPr>
          </a:p>
          <a:p>
            <a:pPr marL="285750" indent="-285750" algn="just">
              <a:buFont typeface="Arial" pitchFamily="34" charset="0"/>
              <a:buChar char="•"/>
            </a:pPr>
            <a:r>
              <a:rPr lang="en-US" sz="1600" b="1" dirty="0">
                <a:latin typeface="Times New Roman" pitchFamily="18" charset="0"/>
                <a:cs typeface="Times New Roman" pitchFamily="18" charset="0"/>
              </a:rPr>
              <a:t>Data Splitting:</a:t>
            </a:r>
            <a:r>
              <a:rPr lang="en-US" sz="1600" dirty="0">
                <a:latin typeface="Times New Roman" pitchFamily="18" charset="0"/>
                <a:cs typeface="Times New Roman" pitchFamily="18" charset="0"/>
              </a:rPr>
              <a:t> The preprocessed data is then divided into training, validation, and test sets. The model learns from the training set, is fine-tuned on the validation set, and its generalizability is evaluated on the unseen test set.</a:t>
            </a:r>
          </a:p>
          <a:p>
            <a:pPr algn="just"/>
            <a:endParaRPr lang="en-US" b="0" i="0" dirty="0">
              <a:effectLst/>
              <a:latin typeface="Times New Roman" panose="02020603050405020304" pitchFamily="18" charset="0"/>
              <a:cs typeface="Times New Roman" panose="02020603050405020304" pitchFamily="18" charset="0"/>
            </a:endParaRPr>
          </a:p>
        </p:txBody>
      </p:sp>
      <p:sp>
        <p:nvSpPr>
          <p:cNvPr id="9" name="Title 1">
            <a:extLst>
              <a:ext uri="{FF2B5EF4-FFF2-40B4-BE49-F238E27FC236}">
                <a16:creationId xmlns:a16="http://schemas.microsoft.com/office/drawing/2014/main" xmlns="" id="{EBFF2E37-DDC6-440F-5511-5911BCD33DFA}"/>
              </a:ext>
            </a:extLst>
          </p:cNvPr>
          <p:cNvSpPr txBox="1">
            <a:spLocks/>
          </p:cNvSpPr>
          <p:nvPr/>
        </p:nvSpPr>
        <p:spPr>
          <a:xfrm>
            <a:off x="457200" y="274638"/>
            <a:ext cx="8229600" cy="715962"/>
          </a:xfrm>
          <a:prstGeom prst="rect">
            <a:avLst/>
          </a:prstGeom>
        </p:spPr>
        <p:txBody>
          <a:bodyPr>
            <a:normAutofit fontScale="97500" lnSpcReduction="1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b="1" dirty="0">
                <a:latin typeface="Times New Roman" panose="02020603050405020304" pitchFamily="18" charset="0"/>
                <a:cs typeface="Times New Roman" panose="02020603050405020304" pitchFamily="18" charset="0"/>
              </a:rPr>
              <a:t>Modules </a:t>
            </a:r>
          </a:p>
        </p:txBody>
      </p:sp>
      <p:sp>
        <p:nvSpPr>
          <p:cNvPr id="8" name="Footer Placeholder 3"/>
          <p:cNvSpPr>
            <a:spLocks noGrp="1"/>
          </p:cNvSpPr>
          <p:nvPr>
            <p:ph type="ftr" sz="quarter" idx="11"/>
          </p:nvPr>
        </p:nvSpPr>
        <p:spPr>
          <a:xfrm>
            <a:off x="3124200" y="6356350"/>
            <a:ext cx="2895600" cy="365125"/>
          </a:xfrm>
        </p:spPr>
        <p:txBody>
          <a:bodyPr/>
          <a:lstStyle/>
          <a:p>
            <a:r>
              <a:rPr lang="en-US"/>
              <a:t>DEPARTMENT OF COMPUTER SCIENCE AND ENGINEERING – CYBER SECURITY</a:t>
            </a:r>
            <a:endParaRPr lang="en-US" dirty="0"/>
          </a:p>
        </p:txBody>
      </p:sp>
      <p:sp>
        <p:nvSpPr>
          <p:cNvPr id="6" name="Date Placeholder 5">
            <a:extLst>
              <a:ext uri="{FF2B5EF4-FFF2-40B4-BE49-F238E27FC236}">
                <a16:creationId xmlns:a16="http://schemas.microsoft.com/office/drawing/2014/main" xmlns="" id="{AC9DED4A-7305-6117-EB6C-4E6E6664521F}"/>
              </a:ext>
            </a:extLst>
          </p:cNvPr>
          <p:cNvSpPr>
            <a:spLocks noGrp="1"/>
          </p:cNvSpPr>
          <p:nvPr>
            <p:ph type="dt" sz="half" idx="10"/>
          </p:nvPr>
        </p:nvSpPr>
        <p:spPr/>
        <p:txBody>
          <a:bodyPr/>
          <a:lstStyle/>
          <a:p>
            <a:r>
              <a:rPr lang="en-US" dirty="0"/>
              <a:t>Date : </a:t>
            </a:r>
            <a:fld id="{78B48470-1368-4A2D-9042-76BBBD324922}" type="datetime1">
              <a:rPr lang="en-US" smtClean="0"/>
              <a:t>5/13/2024</a:t>
            </a:fld>
            <a:endParaRPr lang="en-US" dirty="0"/>
          </a:p>
        </p:txBody>
      </p:sp>
      <p:sp>
        <p:nvSpPr>
          <p:cNvPr id="7" name="Slide Number Placeholder 6">
            <a:extLst>
              <a:ext uri="{FF2B5EF4-FFF2-40B4-BE49-F238E27FC236}">
                <a16:creationId xmlns:a16="http://schemas.microsoft.com/office/drawing/2014/main" xmlns="" id="{4FE1D895-6290-4D46-D673-19CCB274400A}"/>
              </a:ext>
            </a:extLst>
          </p:cNvPr>
          <p:cNvSpPr>
            <a:spLocks noGrp="1"/>
          </p:cNvSpPr>
          <p:nvPr>
            <p:ph type="sldNum" sz="quarter" idx="12"/>
          </p:nvPr>
        </p:nvSpPr>
        <p:spPr/>
        <p:txBody>
          <a:bodyPr/>
          <a:lstStyle/>
          <a:p>
            <a:r>
              <a:rPr lang="en-US" dirty="0"/>
              <a:t>Slide Number: </a:t>
            </a:r>
            <a:fld id="{BECDEB80-DBCE-406A-80BF-FEBEE692EE79}" type="slidenum">
              <a:rPr lang="en-US" smtClean="0"/>
              <a:t>18</a:t>
            </a:fld>
            <a:endParaRPr lang="en-US" dirty="0"/>
          </a:p>
        </p:txBody>
      </p:sp>
    </p:spTree>
    <p:extLst>
      <p:ext uri="{BB962C8B-B14F-4D97-AF65-F5344CB8AC3E}">
        <p14:creationId xmlns:p14="http://schemas.microsoft.com/office/powerpoint/2010/main" val="1491458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xmlns="" id="{0B727F0E-EB7A-EF34-8A49-770B65FF09A8}"/>
              </a:ext>
            </a:extLst>
          </p:cNvPr>
          <p:cNvSpPr txBox="1"/>
          <p:nvPr/>
        </p:nvSpPr>
        <p:spPr>
          <a:xfrm>
            <a:off x="893618" y="1371600"/>
            <a:ext cx="7810500" cy="3785652"/>
          </a:xfrm>
          <a:prstGeom prst="rect">
            <a:avLst/>
          </a:prstGeom>
          <a:noFill/>
        </p:spPr>
        <p:txBody>
          <a:bodyPr wrap="square">
            <a:spAutoFit/>
          </a:bodyPr>
          <a:lstStyle/>
          <a:p>
            <a:pPr algn="just"/>
            <a:r>
              <a:rPr lang="en-IN" sz="1600" b="1" dirty="0">
                <a:latin typeface="Times New Roman" panose="02020603050405020304" pitchFamily="18" charset="0"/>
                <a:cs typeface="Times New Roman" panose="02020603050405020304" pitchFamily="18" charset="0"/>
              </a:rPr>
              <a:t>Module 2: Feature Selection</a:t>
            </a:r>
          </a:p>
          <a:p>
            <a:pPr algn="just"/>
            <a:endParaRPr lang="en-IN" sz="1600" dirty="0">
              <a:latin typeface="Times New Roman" pitchFamily="18" charset="0"/>
              <a:cs typeface="Times New Roman" pitchFamily="18" charset="0"/>
            </a:endParaRPr>
          </a:p>
          <a:p>
            <a:pPr marL="285750" indent="-285750" algn="just">
              <a:buFont typeface="Arial" pitchFamily="34" charset="0"/>
              <a:buChar char="•"/>
            </a:pPr>
            <a:r>
              <a:rPr lang="en-IN" sz="1600" dirty="0">
                <a:latin typeface="Times New Roman" pitchFamily="18" charset="0"/>
                <a:cs typeface="Times New Roman" pitchFamily="18" charset="0"/>
              </a:rPr>
              <a:t> Feature Selection is used mainly to reduce dimensionality of data set for improving network traffic analysis. </a:t>
            </a:r>
          </a:p>
          <a:p>
            <a:pPr algn="just"/>
            <a:endParaRPr lang="en-IN" sz="1600" dirty="0">
              <a:latin typeface="Times New Roman" pitchFamily="18" charset="0"/>
              <a:cs typeface="Times New Roman" pitchFamily="18" charset="0"/>
            </a:endParaRPr>
          </a:p>
          <a:p>
            <a:pPr marL="285750" indent="-285750" algn="just">
              <a:buFont typeface="Arial" pitchFamily="34" charset="0"/>
              <a:buChar char="•"/>
            </a:pPr>
            <a:r>
              <a:rPr lang="en-US" sz="1600" dirty="0">
                <a:latin typeface="Times New Roman" panose="02020603050405020304" pitchFamily="18" charset="0"/>
                <a:cs typeface="Times New Roman" pitchFamily="18" charset="0"/>
              </a:rPr>
              <a:t>A subset of the most significant or practical features from the raw data is chosen through the process of feature selection.</a:t>
            </a:r>
          </a:p>
          <a:p>
            <a:pPr marL="285750" indent="-285750" algn="just">
              <a:buFont typeface="Arial" pitchFamily="34" charset="0"/>
              <a:buChar char="•"/>
            </a:pPr>
            <a:endParaRPr lang="en-US" sz="1600" dirty="0">
              <a:latin typeface="Times New Roman" panose="02020603050405020304" pitchFamily="18" charset="0"/>
              <a:cs typeface="Times New Roman" pitchFamily="18" charset="0"/>
            </a:endParaRPr>
          </a:p>
          <a:p>
            <a:pPr marL="285750" indent="-285750" algn="just">
              <a:buFont typeface="Arial" pitchFamily="34" charset="0"/>
              <a:buChar char="•"/>
            </a:pPr>
            <a:r>
              <a:rPr lang="en-US" sz="1600" b="0" i="0" dirty="0">
                <a:effectLst/>
                <a:latin typeface="Times New Roman" panose="02020603050405020304" pitchFamily="18" charset="0"/>
                <a:cs typeface="Times New Roman" panose="02020603050405020304" pitchFamily="18" charset="0"/>
              </a:rPr>
              <a:t>The Filtered features are then used to train the model and also for next stage of processing of the data.</a:t>
            </a:r>
            <a:endParaRPr lang="en-US" sz="1600" dirty="0">
              <a:latin typeface="Times New Roman" panose="02020603050405020304" pitchFamily="18" charset="0"/>
              <a:cs typeface="Times New Roman" pitchFamily="18" charset="0"/>
            </a:endParaRPr>
          </a:p>
          <a:p>
            <a:pPr marL="285750" indent="-285750" algn="just">
              <a:buFont typeface="Arial" pitchFamily="34" charset="0"/>
              <a:buChar char="•"/>
            </a:pPr>
            <a:endParaRPr lang="en-US" sz="1600" b="0" i="0" dirty="0">
              <a:effectLst/>
              <a:latin typeface="Times New Roman" panose="02020603050405020304" pitchFamily="18" charset="0"/>
              <a:cs typeface="Times New Roman" pitchFamily="18" charset="0"/>
            </a:endParaRPr>
          </a:p>
          <a:p>
            <a:pPr marL="285750" indent="-285750" algn="just">
              <a:buFont typeface="Arial" pitchFamily="34" charset="0"/>
              <a:buChar char="•"/>
            </a:pPr>
            <a:r>
              <a:rPr lang="en-US" sz="1600" dirty="0">
                <a:latin typeface="Times New Roman" panose="02020603050405020304" pitchFamily="18" charset="0"/>
                <a:cs typeface="Times New Roman" panose="02020603050405020304" pitchFamily="18" charset="0"/>
              </a:rPr>
              <a:t>Enhancing the precision, interpretability, computational efficiency, and generalizability of machine learning algorithms is the goal of feature selection.</a:t>
            </a:r>
          </a:p>
          <a:p>
            <a:pPr marL="285750" indent="-285750" algn="just">
              <a:buFont typeface="Arial" pitchFamily="34" charset="0"/>
              <a:buChar char="•"/>
            </a:pPr>
            <a:endParaRPr lang="en-US" sz="1600" dirty="0">
              <a:latin typeface="Times New Roman" panose="02020603050405020304" pitchFamily="18" charset="0"/>
              <a:cs typeface="Times New Roman" panose="02020603050405020304" pitchFamily="18" charset="0"/>
            </a:endParaRPr>
          </a:p>
          <a:p>
            <a:pPr algn="just"/>
            <a:endParaRPr lang="en-US" sz="1600" b="0" i="0" dirty="0">
              <a:effectLst/>
              <a:latin typeface="Times New Roman" panose="02020603050405020304" pitchFamily="18" charset="0"/>
              <a:cs typeface="Times New Roman" panose="02020603050405020304" pitchFamily="18" charset="0"/>
            </a:endParaRPr>
          </a:p>
        </p:txBody>
      </p:sp>
      <p:sp>
        <p:nvSpPr>
          <p:cNvPr id="9" name="Title 1">
            <a:extLst>
              <a:ext uri="{FF2B5EF4-FFF2-40B4-BE49-F238E27FC236}">
                <a16:creationId xmlns:a16="http://schemas.microsoft.com/office/drawing/2014/main" xmlns="" id="{EBFF2E37-DDC6-440F-5511-5911BCD33DFA}"/>
              </a:ext>
            </a:extLst>
          </p:cNvPr>
          <p:cNvSpPr txBox="1">
            <a:spLocks/>
          </p:cNvSpPr>
          <p:nvPr/>
        </p:nvSpPr>
        <p:spPr>
          <a:xfrm>
            <a:off x="457200" y="274638"/>
            <a:ext cx="8229600" cy="715962"/>
          </a:xfrm>
          <a:prstGeom prst="rect">
            <a:avLst/>
          </a:prstGeom>
        </p:spPr>
        <p:txBody>
          <a:bodyPr>
            <a:normAutofit fontScale="97500" lnSpcReduction="1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b="1">
                <a:latin typeface="Times New Roman" panose="02020603050405020304" pitchFamily="18" charset="0"/>
                <a:cs typeface="Times New Roman" panose="02020603050405020304" pitchFamily="18" charset="0"/>
              </a:rPr>
              <a:t>Modules </a:t>
            </a:r>
            <a:endParaRPr lang="en-US" b="1" dirty="0">
              <a:latin typeface="Times New Roman" panose="02020603050405020304" pitchFamily="18" charset="0"/>
              <a:cs typeface="Times New Roman" panose="02020603050405020304" pitchFamily="18" charset="0"/>
            </a:endParaRPr>
          </a:p>
        </p:txBody>
      </p:sp>
      <p:sp>
        <p:nvSpPr>
          <p:cNvPr id="8" name="Footer Placeholder 3"/>
          <p:cNvSpPr>
            <a:spLocks noGrp="1"/>
          </p:cNvSpPr>
          <p:nvPr>
            <p:ph type="ftr" sz="quarter" idx="11"/>
          </p:nvPr>
        </p:nvSpPr>
        <p:spPr>
          <a:xfrm>
            <a:off x="3124200" y="6356350"/>
            <a:ext cx="2895600" cy="365125"/>
          </a:xfrm>
        </p:spPr>
        <p:txBody>
          <a:bodyPr/>
          <a:lstStyle/>
          <a:p>
            <a:r>
              <a:rPr lang="en-US"/>
              <a:t>DEPARTMENT OF COMPUTER SCIENCE AND ENGINEERING – CYBER SECURITY</a:t>
            </a:r>
            <a:endParaRPr lang="en-US" dirty="0"/>
          </a:p>
        </p:txBody>
      </p:sp>
      <p:sp>
        <p:nvSpPr>
          <p:cNvPr id="6" name="Date Placeholder 5">
            <a:extLst>
              <a:ext uri="{FF2B5EF4-FFF2-40B4-BE49-F238E27FC236}">
                <a16:creationId xmlns:a16="http://schemas.microsoft.com/office/drawing/2014/main" xmlns="" id="{FCF37B96-4F6A-48C3-EBB6-D1FCDE0FFF0E}"/>
              </a:ext>
            </a:extLst>
          </p:cNvPr>
          <p:cNvSpPr>
            <a:spLocks noGrp="1"/>
          </p:cNvSpPr>
          <p:nvPr>
            <p:ph type="dt" sz="half" idx="10"/>
          </p:nvPr>
        </p:nvSpPr>
        <p:spPr/>
        <p:txBody>
          <a:bodyPr/>
          <a:lstStyle/>
          <a:p>
            <a:r>
              <a:rPr lang="en-US" dirty="0"/>
              <a:t>Date : </a:t>
            </a:r>
            <a:fld id="{F717B51B-1B49-4CE9-B46B-A917C5CC799C}" type="datetime1">
              <a:rPr lang="en-US" smtClean="0"/>
              <a:t>5/13/2024</a:t>
            </a:fld>
            <a:endParaRPr lang="en-US" dirty="0"/>
          </a:p>
        </p:txBody>
      </p:sp>
      <p:sp>
        <p:nvSpPr>
          <p:cNvPr id="7" name="Slide Number Placeholder 6">
            <a:extLst>
              <a:ext uri="{FF2B5EF4-FFF2-40B4-BE49-F238E27FC236}">
                <a16:creationId xmlns:a16="http://schemas.microsoft.com/office/drawing/2014/main" xmlns="" id="{1A8A605A-59B4-3BAC-AB3A-5ED55E950510}"/>
              </a:ext>
            </a:extLst>
          </p:cNvPr>
          <p:cNvSpPr>
            <a:spLocks noGrp="1"/>
          </p:cNvSpPr>
          <p:nvPr>
            <p:ph type="sldNum" sz="quarter" idx="12"/>
          </p:nvPr>
        </p:nvSpPr>
        <p:spPr/>
        <p:txBody>
          <a:bodyPr/>
          <a:lstStyle/>
          <a:p>
            <a:r>
              <a:rPr lang="en-US" dirty="0"/>
              <a:t>Slide Number: </a:t>
            </a:r>
            <a:fld id="{BECDEB80-DBCE-406A-80BF-FEBEE692EE79}" type="slidenum">
              <a:rPr lang="en-US" smtClean="0"/>
              <a:t>19</a:t>
            </a:fld>
            <a:endParaRPr lang="en-US" dirty="0"/>
          </a:p>
        </p:txBody>
      </p:sp>
    </p:spTree>
    <p:extLst>
      <p:ext uri="{BB962C8B-B14F-4D97-AF65-F5344CB8AC3E}">
        <p14:creationId xmlns:p14="http://schemas.microsoft.com/office/powerpoint/2010/main" val="206261353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xmlns="" id="{0B727F0E-EB7A-EF34-8A49-770B65FF09A8}"/>
              </a:ext>
            </a:extLst>
          </p:cNvPr>
          <p:cNvSpPr txBox="1"/>
          <p:nvPr/>
        </p:nvSpPr>
        <p:spPr>
          <a:xfrm>
            <a:off x="838200" y="1295400"/>
            <a:ext cx="7696200" cy="3741409"/>
          </a:xfrm>
          <a:prstGeom prst="rect">
            <a:avLst/>
          </a:prstGeom>
          <a:noFill/>
        </p:spPr>
        <p:txBody>
          <a:bodyPr wrap="square">
            <a:spAutoFit/>
          </a:bodyPr>
          <a:lstStyle/>
          <a:p>
            <a:pPr algn="just">
              <a:lnSpc>
                <a:spcPct val="150000"/>
              </a:lnSpc>
            </a:pPr>
            <a:r>
              <a:rPr lang="en-IN" sz="1600" b="1" dirty="0">
                <a:latin typeface="Times New Roman" panose="02020603050405020304" pitchFamily="18" charset="0"/>
                <a:cs typeface="Times New Roman" panose="02020603050405020304" pitchFamily="18" charset="0"/>
              </a:rPr>
              <a:t>Module 3: Class Imbalance</a:t>
            </a:r>
            <a:r>
              <a:rPr lang="en-IN" sz="1600" dirty="0">
                <a:latin typeface="Times New Roman" pitchFamily="18" charset="0"/>
                <a:cs typeface="Times New Roman" pitchFamily="18" charset="0"/>
              </a:rPr>
              <a:t> </a:t>
            </a:r>
          </a:p>
          <a:p>
            <a:pPr algn="just">
              <a:lnSpc>
                <a:spcPct val="150000"/>
              </a:lnSpc>
            </a:pPr>
            <a:endParaRPr lang="en-IN" sz="1600" dirty="0">
              <a:latin typeface="Times New Roman" pitchFamily="18" charset="0"/>
              <a:cs typeface="Times New Roman" pitchFamily="18" charset="0"/>
            </a:endParaRPr>
          </a:p>
          <a:p>
            <a:pPr marL="285750" indent="-285750" algn="just">
              <a:lnSpc>
                <a:spcPct val="150000"/>
              </a:lnSpc>
              <a:buFont typeface="Arial" pitchFamily="34" charset="0"/>
              <a:buChar char="•"/>
            </a:pPr>
            <a:r>
              <a:rPr lang="en-US" sz="1600" dirty="0">
                <a:latin typeface="Times New Roman" pitchFamily="18" charset="0"/>
                <a:cs typeface="Times New Roman" pitchFamily="18" charset="0"/>
              </a:rPr>
              <a:t>Unequal class balance is a common problem in real ML practice.</a:t>
            </a:r>
            <a:endParaRPr lang="en-IN" sz="1600" dirty="0">
              <a:latin typeface="Times New Roman" pitchFamily="18" charset="0"/>
              <a:cs typeface="Times New Roman" pitchFamily="18" charset="0"/>
            </a:endParaRPr>
          </a:p>
          <a:p>
            <a:pPr marL="285750" indent="-285750" algn="just">
              <a:lnSpc>
                <a:spcPct val="150000"/>
              </a:lnSpc>
              <a:buFont typeface="Arial" pitchFamily="34" charset="0"/>
              <a:buChar char="•"/>
            </a:pPr>
            <a:r>
              <a:rPr lang="en-US" sz="1600" dirty="0">
                <a:latin typeface="Times New Roman" panose="02020603050405020304" pitchFamily="18" charset="0"/>
                <a:cs typeface="Times New Roman" panose="02020603050405020304" pitchFamily="18" charset="0"/>
              </a:rPr>
              <a:t>Imbalanced classes in machine learning data can cause models to be biased towards the majority class, leading to unreliable results for the minority class. </a:t>
            </a:r>
          </a:p>
          <a:p>
            <a:pPr marL="285750" indent="-285750" algn="just">
              <a:lnSpc>
                <a:spcPct val="150000"/>
              </a:lnSpc>
              <a:buFont typeface="Arial" pitchFamily="34" charset="0"/>
              <a:buChar char="•"/>
            </a:pPr>
            <a:r>
              <a:rPr lang="en-US" sz="1600" dirty="0">
                <a:latin typeface="Times New Roman" panose="02020603050405020304" pitchFamily="18" charset="0"/>
                <a:cs typeface="Times New Roman" panose="02020603050405020304" pitchFamily="18" charset="0"/>
              </a:rPr>
              <a:t>Detection of class imbalance is crucial and can be done through statistical analysis and data visualization. </a:t>
            </a:r>
          </a:p>
          <a:p>
            <a:pPr marL="285750" indent="-285750" algn="just">
              <a:lnSpc>
                <a:spcPct val="150000"/>
              </a:lnSpc>
              <a:buFont typeface="Arial" pitchFamily="34" charset="0"/>
              <a:buChar char="•"/>
            </a:pPr>
            <a:r>
              <a:rPr lang="en-US" sz="1600" dirty="0">
                <a:latin typeface="Times New Roman" panose="02020603050405020304" pitchFamily="18" charset="0"/>
                <a:cs typeface="Times New Roman" panose="02020603050405020304" pitchFamily="18" charset="0"/>
              </a:rPr>
              <a:t>Data augmentation techniques like resampling can help create a more balanced dataset and improve model performance. These techniques can also help to improve the generalization of the model to unseen data.</a:t>
            </a:r>
            <a:endParaRPr lang="en-US" b="0" i="0" dirty="0">
              <a:effectLst/>
              <a:latin typeface="Times New Roman" panose="02020603050405020304" pitchFamily="18" charset="0"/>
              <a:cs typeface="Times New Roman" panose="02020603050405020304" pitchFamily="18" charset="0"/>
            </a:endParaRPr>
          </a:p>
        </p:txBody>
      </p:sp>
      <p:sp>
        <p:nvSpPr>
          <p:cNvPr id="9" name="Title 1">
            <a:extLst>
              <a:ext uri="{FF2B5EF4-FFF2-40B4-BE49-F238E27FC236}">
                <a16:creationId xmlns:a16="http://schemas.microsoft.com/office/drawing/2014/main" xmlns="" id="{EBFF2E37-DDC6-440F-5511-5911BCD33DFA}"/>
              </a:ext>
            </a:extLst>
          </p:cNvPr>
          <p:cNvSpPr txBox="1">
            <a:spLocks/>
          </p:cNvSpPr>
          <p:nvPr/>
        </p:nvSpPr>
        <p:spPr>
          <a:xfrm>
            <a:off x="457200" y="274638"/>
            <a:ext cx="8229600" cy="715962"/>
          </a:xfrm>
          <a:prstGeom prst="rect">
            <a:avLst/>
          </a:prstGeom>
        </p:spPr>
        <p:txBody>
          <a:bodyPr>
            <a:normAutofit fontScale="97500" lnSpcReduction="1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b="1">
                <a:latin typeface="Times New Roman" panose="02020603050405020304" pitchFamily="18" charset="0"/>
                <a:cs typeface="Times New Roman" panose="02020603050405020304" pitchFamily="18" charset="0"/>
              </a:rPr>
              <a:t>Modules </a:t>
            </a:r>
            <a:endParaRPr lang="en-US" b="1" dirty="0">
              <a:latin typeface="Times New Roman" panose="02020603050405020304" pitchFamily="18" charset="0"/>
              <a:cs typeface="Times New Roman" panose="02020603050405020304" pitchFamily="18" charset="0"/>
            </a:endParaRPr>
          </a:p>
        </p:txBody>
      </p:sp>
      <p:sp>
        <p:nvSpPr>
          <p:cNvPr id="8" name="Footer Placeholder 3"/>
          <p:cNvSpPr>
            <a:spLocks noGrp="1"/>
          </p:cNvSpPr>
          <p:nvPr>
            <p:ph type="ftr" sz="quarter" idx="11"/>
          </p:nvPr>
        </p:nvSpPr>
        <p:spPr>
          <a:xfrm>
            <a:off x="3124200" y="6356350"/>
            <a:ext cx="2895600" cy="365125"/>
          </a:xfrm>
        </p:spPr>
        <p:txBody>
          <a:bodyPr/>
          <a:lstStyle/>
          <a:p>
            <a:r>
              <a:rPr lang="en-US"/>
              <a:t>DEPARTMENT OF COMPUTER SCIENCE AND ENGINEERING – CYBER SECURITY</a:t>
            </a:r>
            <a:endParaRPr lang="en-US" dirty="0"/>
          </a:p>
        </p:txBody>
      </p:sp>
      <p:sp>
        <p:nvSpPr>
          <p:cNvPr id="6" name="Date Placeholder 5">
            <a:extLst>
              <a:ext uri="{FF2B5EF4-FFF2-40B4-BE49-F238E27FC236}">
                <a16:creationId xmlns:a16="http://schemas.microsoft.com/office/drawing/2014/main" xmlns="" id="{68D10112-F60C-8B72-C257-9612BEE989AC}"/>
              </a:ext>
            </a:extLst>
          </p:cNvPr>
          <p:cNvSpPr>
            <a:spLocks noGrp="1"/>
          </p:cNvSpPr>
          <p:nvPr>
            <p:ph type="dt" sz="half" idx="10"/>
          </p:nvPr>
        </p:nvSpPr>
        <p:spPr/>
        <p:txBody>
          <a:bodyPr/>
          <a:lstStyle/>
          <a:p>
            <a:r>
              <a:rPr lang="en-US" dirty="0"/>
              <a:t>Date : </a:t>
            </a:r>
            <a:fld id="{531C5D2A-D8BA-454D-BDA4-6E6FDC107A1C}" type="datetime1">
              <a:rPr lang="en-US" smtClean="0"/>
              <a:t>5/13/2024</a:t>
            </a:fld>
            <a:endParaRPr lang="en-US" dirty="0"/>
          </a:p>
        </p:txBody>
      </p:sp>
      <p:sp>
        <p:nvSpPr>
          <p:cNvPr id="7" name="Slide Number Placeholder 6">
            <a:extLst>
              <a:ext uri="{FF2B5EF4-FFF2-40B4-BE49-F238E27FC236}">
                <a16:creationId xmlns:a16="http://schemas.microsoft.com/office/drawing/2014/main" xmlns="" id="{08BDF91F-589A-4463-8123-14F456184C20}"/>
              </a:ext>
            </a:extLst>
          </p:cNvPr>
          <p:cNvSpPr>
            <a:spLocks noGrp="1"/>
          </p:cNvSpPr>
          <p:nvPr>
            <p:ph type="sldNum" sz="quarter" idx="12"/>
          </p:nvPr>
        </p:nvSpPr>
        <p:spPr/>
        <p:txBody>
          <a:bodyPr/>
          <a:lstStyle/>
          <a:p>
            <a:r>
              <a:rPr lang="en-US" dirty="0"/>
              <a:t>Slide Number: </a:t>
            </a:r>
            <a:fld id="{BECDEB80-DBCE-406A-80BF-FEBEE692EE79}" type="slidenum">
              <a:rPr lang="en-US" smtClean="0"/>
              <a:t>20</a:t>
            </a:fld>
            <a:endParaRPr lang="en-US" dirty="0"/>
          </a:p>
        </p:txBody>
      </p:sp>
    </p:spTree>
    <p:extLst>
      <p:ext uri="{BB962C8B-B14F-4D97-AF65-F5344CB8AC3E}">
        <p14:creationId xmlns:p14="http://schemas.microsoft.com/office/powerpoint/2010/main" val="187008751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xmlns="" id="{0B727F0E-EB7A-EF34-8A49-770B65FF09A8}"/>
              </a:ext>
            </a:extLst>
          </p:cNvPr>
          <p:cNvSpPr txBox="1"/>
          <p:nvPr/>
        </p:nvSpPr>
        <p:spPr>
          <a:xfrm>
            <a:off x="838200" y="1371600"/>
            <a:ext cx="7696200" cy="3539430"/>
          </a:xfrm>
          <a:prstGeom prst="rect">
            <a:avLst/>
          </a:prstGeom>
          <a:noFill/>
        </p:spPr>
        <p:txBody>
          <a:bodyPr wrap="square">
            <a:spAutoFit/>
          </a:bodyPr>
          <a:lstStyle/>
          <a:p>
            <a:pPr algn="just">
              <a:lnSpc>
                <a:spcPct val="150000"/>
              </a:lnSpc>
            </a:pPr>
            <a:r>
              <a:rPr lang="en-IN" sz="1600" b="1" dirty="0">
                <a:latin typeface="Times New Roman" panose="02020603050405020304" pitchFamily="18" charset="0"/>
                <a:cs typeface="Times New Roman" panose="02020603050405020304" pitchFamily="18" charset="0"/>
              </a:rPr>
              <a:t>Module 4: Model training </a:t>
            </a:r>
          </a:p>
          <a:p>
            <a:pPr marL="285750" indent="-285750" algn="just">
              <a:lnSpc>
                <a:spcPct val="150000"/>
              </a:lnSpc>
              <a:buFont typeface="Arial" panose="020B0604020202020204" pitchFamily="34" charset="0"/>
              <a:buChar char="•"/>
            </a:pPr>
            <a:endParaRPr lang="en-IN" sz="1600" dirty="0">
              <a:latin typeface="Times New Roman" panose="02020603050405020304" pitchFamily="18" charset="0"/>
              <a:cs typeface="Times New Roman" pitchFamily="18" charset="0"/>
            </a:endParaRPr>
          </a:p>
          <a:p>
            <a:pPr marL="285750" indent="-285750" algn="just">
              <a:buFont typeface="Arial" panose="020B0604020202020204" pitchFamily="34" charset="0"/>
              <a:buChar char="•"/>
            </a:pPr>
            <a:r>
              <a:rPr lang="en-US" sz="1600" dirty="0">
                <a:latin typeface="Times New Roman" panose="02020603050405020304" pitchFamily="18" charset="0"/>
                <a:cs typeface="Times New Roman" pitchFamily="18" charset="0"/>
              </a:rPr>
              <a:t>The process involves meticulous data allocation, with 75% dedicated to rigorous training and 25% reserved for thorough testing. </a:t>
            </a:r>
          </a:p>
          <a:p>
            <a:pPr marL="285750" indent="-285750" algn="just">
              <a:buFont typeface="Arial" panose="020B0604020202020204" pitchFamily="34" charset="0"/>
              <a:buChar char="•"/>
            </a:pPr>
            <a:endParaRPr lang="en-US" sz="1600" dirty="0">
              <a:latin typeface="Times New Roman" panose="02020603050405020304" pitchFamily="18" charset="0"/>
              <a:cs typeface="Times New Roman" pitchFamily="18" charset="0"/>
            </a:endParaRPr>
          </a:p>
          <a:p>
            <a:pPr marL="285750" indent="-285750" algn="just">
              <a:buFont typeface="Arial" panose="020B0604020202020204" pitchFamily="34" charset="0"/>
              <a:buChar char="•"/>
            </a:pPr>
            <a:r>
              <a:rPr lang="en-US" sz="1600" dirty="0">
                <a:latin typeface="Times New Roman" panose="02020603050405020304" pitchFamily="18" charset="0"/>
                <a:cs typeface="Times New Roman" pitchFamily="18" charset="0"/>
              </a:rPr>
              <a:t>This balanced approach ensures the model's proficiency in recognizing known anomalies while adapting to unforeseen scenarios.</a:t>
            </a:r>
          </a:p>
          <a:p>
            <a:pPr marL="285750" indent="-285750" algn="just">
              <a:buFont typeface="Arial" panose="020B0604020202020204" pitchFamily="34" charset="0"/>
              <a:buChar char="•"/>
            </a:pPr>
            <a:endParaRPr lang="en-US" sz="1600" dirty="0">
              <a:latin typeface="Times New Roman" panose="02020603050405020304" pitchFamily="18" charset="0"/>
              <a:cs typeface="Times New Roman" pitchFamily="18" charset="0"/>
            </a:endParaRPr>
          </a:p>
          <a:p>
            <a:pPr marL="285750" indent="-285750" algn="just">
              <a:buFont typeface="Arial" panose="020B0604020202020204" pitchFamily="34" charset="0"/>
              <a:buChar char="•"/>
            </a:pPr>
            <a:r>
              <a:rPr lang="en-US" sz="1600" dirty="0">
                <a:latin typeface="Times New Roman" panose="02020603050405020304" pitchFamily="18" charset="0"/>
                <a:cs typeface="Times New Roman" pitchFamily="18" charset="0"/>
              </a:rPr>
              <a:t> This process mirrors a detective analysing crime patterns, learning from historical data to promptly potential threats.</a:t>
            </a:r>
          </a:p>
          <a:p>
            <a:pPr marL="285750" indent="-285750" algn="just">
              <a:buFont typeface="Arial" panose="020B0604020202020204" pitchFamily="34" charset="0"/>
              <a:buChar char="•"/>
            </a:pPr>
            <a:endParaRPr lang="en-US" sz="1600" dirty="0">
              <a:latin typeface="Times New Roman" panose="02020603050405020304" pitchFamily="18" charset="0"/>
              <a:cs typeface="Times New Roman" pitchFamily="18" charset="0"/>
            </a:endParaRPr>
          </a:p>
          <a:p>
            <a:pPr marL="285750" indent="-285750" algn="just">
              <a:buFont typeface="Arial" panose="020B0604020202020204" pitchFamily="34" charset="0"/>
              <a:buChar char="•"/>
            </a:pPr>
            <a:r>
              <a:rPr lang="en-US" sz="1600" dirty="0">
                <a:latin typeface="Times New Roman" panose="02020603050405020304" pitchFamily="18" charset="0"/>
                <a:cs typeface="Times New Roman" pitchFamily="18" charset="0"/>
              </a:rPr>
              <a:t>As the training unfolds, the system immerses itself in the intricacies of DDoS behaviors, drawing insights from past incidents to anticipate future attacks</a:t>
            </a:r>
            <a:endParaRPr lang="en-IN" sz="1600" dirty="0">
              <a:latin typeface="Times New Roman" panose="02020603050405020304" pitchFamily="18" charset="0"/>
              <a:cs typeface="Times New Roman" pitchFamily="18" charset="0"/>
            </a:endParaRPr>
          </a:p>
        </p:txBody>
      </p:sp>
      <p:sp>
        <p:nvSpPr>
          <p:cNvPr id="9" name="Title 1">
            <a:extLst>
              <a:ext uri="{FF2B5EF4-FFF2-40B4-BE49-F238E27FC236}">
                <a16:creationId xmlns:a16="http://schemas.microsoft.com/office/drawing/2014/main" xmlns="" id="{EBFF2E37-DDC6-440F-5511-5911BCD33DFA}"/>
              </a:ext>
            </a:extLst>
          </p:cNvPr>
          <p:cNvSpPr txBox="1">
            <a:spLocks/>
          </p:cNvSpPr>
          <p:nvPr/>
        </p:nvSpPr>
        <p:spPr>
          <a:xfrm>
            <a:off x="457200" y="274638"/>
            <a:ext cx="8229600" cy="715962"/>
          </a:xfrm>
          <a:prstGeom prst="rect">
            <a:avLst/>
          </a:prstGeom>
        </p:spPr>
        <p:txBody>
          <a:bodyPr>
            <a:normAutofit fontScale="97500" lnSpcReduction="1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b="1">
                <a:latin typeface="Times New Roman" panose="02020603050405020304" pitchFamily="18" charset="0"/>
                <a:cs typeface="Times New Roman" panose="02020603050405020304" pitchFamily="18" charset="0"/>
              </a:rPr>
              <a:t>Modules </a:t>
            </a:r>
            <a:endParaRPr lang="en-US" b="1" dirty="0">
              <a:latin typeface="Times New Roman" panose="02020603050405020304" pitchFamily="18" charset="0"/>
              <a:cs typeface="Times New Roman" panose="02020603050405020304" pitchFamily="18" charset="0"/>
            </a:endParaRPr>
          </a:p>
        </p:txBody>
      </p:sp>
      <p:sp>
        <p:nvSpPr>
          <p:cNvPr id="8" name="Footer Placeholder 3"/>
          <p:cNvSpPr>
            <a:spLocks noGrp="1"/>
          </p:cNvSpPr>
          <p:nvPr>
            <p:ph type="ftr" sz="quarter" idx="11"/>
          </p:nvPr>
        </p:nvSpPr>
        <p:spPr>
          <a:xfrm>
            <a:off x="3124200" y="6356350"/>
            <a:ext cx="2895600" cy="365125"/>
          </a:xfrm>
        </p:spPr>
        <p:txBody>
          <a:bodyPr/>
          <a:lstStyle/>
          <a:p>
            <a:r>
              <a:rPr lang="en-US"/>
              <a:t>DEPARTMENT OF COMPUTER SCIENCE AND ENGINEERING – CYBER SECURITY</a:t>
            </a:r>
            <a:endParaRPr lang="en-US" dirty="0"/>
          </a:p>
        </p:txBody>
      </p:sp>
      <p:sp>
        <p:nvSpPr>
          <p:cNvPr id="6" name="Date Placeholder 5">
            <a:extLst>
              <a:ext uri="{FF2B5EF4-FFF2-40B4-BE49-F238E27FC236}">
                <a16:creationId xmlns:a16="http://schemas.microsoft.com/office/drawing/2014/main" xmlns="" id="{BE69B54C-FB60-3B99-11FB-4335A611F27E}"/>
              </a:ext>
            </a:extLst>
          </p:cNvPr>
          <p:cNvSpPr>
            <a:spLocks noGrp="1"/>
          </p:cNvSpPr>
          <p:nvPr>
            <p:ph type="dt" sz="half" idx="10"/>
          </p:nvPr>
        </p:nvSpPr>
        <p:spPr/>
        <p:txBody>
          <a:bodyPr/>
          <a:lstStyle/>
          <a:p>
            <a:r>
              <a:rPr lang="en-US" dirty="0"/>
              <a:t>Date : </a:t>
            </a:r>
            <a:fld id="{9DC7F639-AFEF-4443-AE53-9926BBDB0A86}" type="datetime1">
              <a:rPr lang="en-US" smtClean="0"/>
              <a:t>5/13/2024</a:t>
            </a:fld>
            <a:endParaRPr lang="en-US" dirty="0"/>
          </a:p>
        </p:txBody>
      </p:sp>
      <p:sp>
        <p:nvSpPr>
          <p:cNvPr id="7" name="Slide Number Placeholder 6">
            <a:extLst>
              <a:ext uri="{FF2B5EF4-FFF2-40B4-BE49-F238E27FC236}">
                <a16:creationId xmlns:a16="http://schemas.microsoft.com/office/drawing/2014/main" xmlns="" id="{CFAC45EF-0E14-6BEF-79DC-54E731F49B22}"/>
              </a:ext>
            </a:extLst>
          </p:cNvPr>
          <p:cNvSpPr>
            <a:spLocks noGrp="1"/>
          </p:cNvSpPr>
          <p:nvPr>
            <p:ph type="sldNum" sz="quarter" idx="12"/>
          </p:nvPr>
        </p:nvSpPr>
        <p:spPr/>
        <p:txBody>
          <a:bodyPr/>
          <a:lstStyle/>
          <a:p>
            <a:r>
              <a:rPr lang="en-US" dirty="0"/>
              <a:t>Slide Number: </a:t>
            </a:r>
            <a:fld id="{BECDEB80-DBCE-406A-80BF-FEBEE692EE79}" type="slidenum">
              <a:rPr lang="en-US" smtClean="0"/>
              <a:t>21</a:t>
            </a:fld>
            <a:endParaRPr lang="en-US" dirty="0"/>
          </a:p>
        </p:txBody>
      </p:sp>
    </p:spTree>
    <p:extLst>
      <p:ext uri="{BB962C8B-B14F-4D97-AF65-F5344CB8AC3E}">
        <p14:creationId xmlns:p14="http://schemas.microsoft.com/office/powerpoint/2010/main" val="250570441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xmlns="" id="{0B727F0E-EB7A-EF34-8A49-770B65FF09A8}"/>
              </a:ext>
            </a:extLst>
          </p:cNvPr>
          <p:cNvSpPr txBox="1"/>
          <p:nvPr/>
        </p:nvSpPr>
        <p:spPr>
          <a:xfrm>
            <a:off x="914400" y="1371600"/>
            <a:ext cx="7772400" cy="3539430"/>
          </a:xfrm>
          <a:prstGeom prst="rect">
            <a:avLst/>
          </a:prstGeom>
          <a:noFill/>
        </p:spPr>
        <p:txBody>
          <a:bodyPr wrap="square">
            <a:spAutoFit/>
          </a:bodyPr>
          <a:lstStyle/>
          <a:p>
            <a:pPr algn="just"/>
            <a:r>
              <a:rPr lang="en-IN" sz="1600" b="1" dirty="0">
                <a:latin typeface="Times New Roman" panose="02020603050405020304" pitchFamily="18" charset="0"/>
                <a:cs typeface="Times New Roman" panose="02020603050405020304" pitchFamily="18" charset="0"/>
              </a:rPr>
              <a:t>Module 5: Random Forest algorithm </a:t>
            </a:r>
          </a:p>
          <a:p>
            <a:pPr algn="just"/>
            <a:endParaRPr lang="en-IN" sz="1600" dirty="0">
              <a:latin typeface="Times New Roman" panose="02020603050405020304" pitchFamily="18" charset="0"/>
              <a:cs typeface="Times New Roman" pitchFamily="18" charset="0"/>
            </a:endParaRPr>
          </a:p>
          <a:p>
            <a:pPr marL="342900" indent="-342900" algn="just">
              <a:buFont typeface="Arial" pitchFamily="34" charset="0"/>
              <a:buChar char="•"/>
            </a:pPr>
            <a:r>
              <a:rPr lang="en-US" sz="1600" dirty="0">
                <a:latin typeface="Times New Roman" panose="02020603050405020304" pitchFamily="18" charset="0"/>
                <a:cs typeface="Times New Roman" panose="02020603050405020304" pitchFamily="18" charset="0"/>
              </a:rPr>
              <a:t>The Random Forest algorithm is a robust ML technique widely employed for classification and regression tasks. Its strength lies in ensemble learning, where numerous decision trees are created and combined to form a stronger predictive model.</a:t>
            </a:r>
          </a:p>
          <a:p>
            <a:pPr algn="just"/>
            <a:endParaRPr lang="en-US" sz="1600" dirty="0">
              <a:latin typeface="Times New Roman" panose="02020603050405020304" pitchFamily="18" charset="0"/>
              <a:cs typeface="Times New Roman" panose="02020603050405020304" pitchFamily="18" charset="0"/>
            </a:endParaRPr>
          </a:p>
          <a:p>
            <a:pPr marL="342900" indent="-342900" algn="just">
              <a:buFont typeface="Arial" pitchFamily="34" charset="0"/>
              <a:buChar char="•"/>
            </a:pPr>
            <a:r>
              <a:rPr lang="en-US" sz="1600" dirty="0">
                <a:latin typeface="Times New Roman" panose="02020603050405020304" pitchFamily="18" charset="0"/>
                <a:cs typeface="Times New Roman" panose="02020603050405020304" pitchFamily="18" charset="0"/>
              </a:rPr>
              <a:t> Every decision tree is built using random subsets of the training data and features, reducing overfitting and enhancing generalization.</a:t>
            </a:r>
          </a:p>
          <a:p>
            <a:pPr algn="just"/>
            <a:endParaRPr lang="en-US" sz="1600" dirty="0">
              <a:latin typeface="Times New Roman" panose="02020603050405020304" pitchFamily="18" charset="0"/>
              <a:cs typeface="Times New Roman" panose="02020603050405020304" pitchFamily="18" charset="0"/>
            </a:endParaRPr>
          </a:p>
          <a:p>
            <a:pPr marL="342900" indent="-342900" algn="just">
              <a:buFont typeface="Arial" pitchFamily="34" charset="0"/>
              <a:buChar char="•"/>
            </a:pPr>
            <a:r>
              <a:rPr lang="en-US" sz="1600" dirty="0">
                <a:latin typeface="Times New Roman" panose="02020603050405020304" pitchFamily="18" charset="0"/>
                <a:cs typeface="Times New Roman" panose="02020603050405020304" pitchFamily="18" charset="0"/>
              </a:rPr>
              <a:t> In DDoS attacks, Random Forest excels in identifying crucial features such as network traffic patterns and packet characteristics. </a:t>
            </a:r>
          </a:p>
          <a:p>
            <a:pPr algn="just"/>
            <a:endParaRPr lang="en-US" sz="1600" dirty="0">
              <a:latin typeface="Times New Roman" panose="02020603050405020304" pitchFamily="18" charset="0"/>
              <a:cs typeface="Times New Roman" panose="02020603050405020304" pitchFamily="18" charset="0"/>
            </a:endParaRPr>
          </a:p>
          <a:p>
            <a:pPr marL="342900" indent="-342900" algn="just">
              <a:buFont typeface="Arial" pitchFamily="34" charset="0"/>
              <a:buChar char="•"/>
            </a:pPr>
            <a:r>
              <a:rPr lang="en-US" sz="1600" dirty="0">
                <a:latin typeface="Times New Roman" panose="02020603050405020304" pitchFamily="18" charset="0"/>
                <a:cs typeface="Times New Roman" panose="02020603050405020304" pitchFamily="18" charset="0"/>
              </a:rPr>
              <a:t>Its ensemble nature ensures resilience against noise and outliers in data, crucial for cybersecurity datasets often </a:t>
            </a:r>
            <a:r>
              <a:rPr lang="en-IN" sz="1600" dirty="0">
                <a:latin typeface="Times New Roman" panose="02020603050405020304" pitchFamily="18" charset="0"/>
                <a:cs typeface="Times New Roman" panose="02020603050405020304" pitchFamily="18" charset="0"/>
              </a:rPr>
              <a:t>fraught with irregularities.</a:t>
            </a:r>
            <a:endParaRPr lang="en-US" sz="1600" b="0" i="0" dirty="0">
              <a:effectLst/>
              <a:latin typeface="Times New Roman" panose="02020603050405020304" pitchFamily="18" charset="0"/>
              <a:cs typeface="Times New Roman" panose="02020603050405020304" pitchFamily="18" charset="0"/>
            </a:endParaRPr>
          </a:p>
        </p:txBody>
      </p:sp>
      <p:sp>
        <p:nvSpPr>
          <p:cNvPr id="9" name="Title 1">
            <a:extLst>
              <a:ext uri="{FF2B5EF4-FFF2-40B4-BE49-F238E27FC236}">
                <a16:creationId xmlns:a16="http://schemas.microsoft.com/office/drawing/2014/main" xmlns="" id="{EBFF2E37-DDC6-440F-5511-5911BCD33DFA}"/>
              </a:ext>
            </a:extLst>
          </p:cNvPr>
          <p:cNvSpPr txBox="1">
            <a:spLocks/>
          </p:cNvSpPr>
          <p:nvPr/>
        </p:nvSpPr>
        <p:spPr>
          <a:xfrm>
            <a:off x="457200" y="274638"/>
            <a:ext cx="8229600" cy="715962"/>
          </a:xfrm>
          <a:prstGeom prst="rect">
            <a:avLst/>
          </a:prstGeom>
        </p:spPr>
        <p:txBody>
          <a:bodyPr>
            <a:normAutofit fontScale="97500" lnSpcReduction="1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b="1">
                <a:latin typeface="Times New Roman" panose="02020603050405020304" pitchFamily="18" charset="0"/>
                <a:cs typeface="Times New Roman" panose="02020603050405020304" pitchFamily="18" charset="0"/>
              </a:rPr>
              <a:t>Modules </a:t>
            </a:r>
            <a:endParaRPr lang="en-US" b="1" dirty="0">
              <a:latin typeface="Times New Roman" panose="02020603050405020304" pitchFamily="18" charset="0"/>
              <a:cs typeface="Times New Roman" panose="02020603050405020304" pitchFamily="18" charset="0"/>
            </a:endParaRPr>
          </a:p>
        </p:txBody>
      </p:sp>
      <p:sp>
        <p:nvSpPr>
          <p:cNvPr id="8" name="Footer Placeholder 3"/>
          <p:cNvSpPr>
            <a:spLocks noGrp="1"/>
          </p:cNvSpPr>
          <p:nvPr>
            <p:ph type="ftr" sz="quarter" idx="11"/>
          </p:nvPr>
        </p:nvSpPr>
        <p:spPr>
          <a:xfrm>
            <a:off x="3124200" y="6356350"/>
            <a:ext cx="2895600" cy="365125"/>
          </a:xfrm>
        </p:spPr>
        <p:txBody>
          <a:bodyPr/>
          <a:lstStyle/>
          <a:p>
            <a:r>
              <a:rPr lang="en-US"/>
              <a:t>DEPARTMENT OF COMPUTER SCIENCE AND ENGINEERING – CYBER SECURITY</a:t>
            </a:r>
            <a:endParaRPr lang="en-US" dirty="0"/>
          </a:p>
        </p:txBody>
      </p:sp>
      <p:sp>
        <p:nvSpPr>
          <p:cNvPr id="6" name="Date Placeholder 5">
            <a:extLst>
              <a:ext uri="{FF2B5EF4-FFF2-40B4-BE49-F238E27FC236}">
                <a16:creationId xmlns:a16="http://schemas.microsoft.com/office/drawing/2014/main" xmlns="" id="{15703F7A-9EA8-1A97-6B9F-112AF8DAB1CD}"/>
              </a:ext>
            </a:extLst>
          </p:cNvPr>
          <p:cNvSpPr>
            <a:spLocks noGrp="1"/>
          </p:cNvSpPr>
          <p:nvPr>
            <p:ph type="dt" sz="half" idx="10"/>
          </p:nvPr>
        </p:nvSpPr>
        <p:spPr/>
        <p:txBody>
          <a:bodyPr/>
          <a:lstStyle/>
          <a:p>
            <a:r>
              <a:rPr lang="en-US" dirty="0"/>
              <a:t>Date : </a:t>
            </a:r>
            <a:fld id="{E9C14CDC-B76E-43DE-8D97-5FD495F5AA32}" type="datetime1">
              <a:rPr lang="en-US" smtClean="0"/>
              <a:t>5/13/2024</a:t>
            </a:fld>
            <a:endParaRPr lang="en-US" dirty="0"/>
          </a:p>
        </p:txBody>
      </p:sp>
      <p:sp>
        <p:nvSpPr>
          <p:cNvPr id="7" name="Slide Number Placeholder 6">
            <a:extLst>
              <a:ext uri="{FF2B5EF4-FFF2-40B4-BE49-F238E27FC236}">
                <a16:creationId xmlns:a16="http://schemas.microsoft.com/office/drawing/2014/main" xmlns="" id="{68495CE8-FF69-F0D0-1CFD-82CC033F04CA}"/>
              </a:ext>
            </a:extLst>
          </p:cNvPr>
          <p:cNvSpPr>
            <a:spLocks noGrp="1"/>
          </p:cNvSpPr>
          <p:nvPr>
            <p:ph type="sldNum" sz="quarter" idx="12"/>
          </p:nvPr>
        </p:nvSpPr>
        <p:spPr/>
        <p:txBody>
          <a:bodyPr/>
          <a:lstStyle/>
          <a:p>
            <a:r>
              <a:rPr lang="en-US" dirty="0"/>
              <a:t>Slide Number: </a:t>
            </a:r>
            <a:fld id="{BECDEB80-DBCE-406A-80BF-FEBEE692EE79}" type="slidenum">
              <a:rPr lang="en-US" smtClean="0"/>
              <a:t>22</a:t>
            </a:fld>
            <a:endParaRPr lang="en-US" dirty="0"/>
          </a:p>
        </p:txBody>
      </p:sp>
    </p:spTree>
    <p:extLst>
      <p:ext uri="{BB962C8B-B14F-4D97-AF65-F5344CB8AC3E}">
        <p14:creationId xmlns:p14="http://schemas.microsoft.com/office/powerpoint/2010/main" val="47426521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xmlns="" id="{0B727F0E-EB7A-EF34-8A49-770B65FF09A8}"/>
              </a:ext>
            </a:extLst>
          </p:cNvPr>
          <p:cNvSpPr txBox="1"/>
          <p:nvPr/>
        </p:nvSpPr>
        <p:spPr>
          <a:xfrm>
            <a:off x="838200" y="990600"/>
            <a:ext cx="7696200" cy="4770537"/>
          </a:xfrm>
          <a:prstGeom prst="rect">
            <a:avLst/>
          </a:prstGeom>
          <a:noFill/>
        </p:spPr>
        <p:txBody>
          <a:bodyPr wrap="square">
            <a:spAutoFit/>
          </a:bodyPr>
          <a:lstStyle/>
          <a:p>
            <a:pPr algn="just"/>
            <a:r>
              <a:rPr lang="en-IN" sz="1600" b="1" dirty="0">
                <a:latin typeface="Times New Roman" panose="02020603050405020304" pitchFamily="18" charset="0"/>
                <a:cs typeface="Times New Roman" panose="02020603050405020304" pitchFamily="18" charset="0"/>
              </a:rPr>
              <a:t>Module 6: Classification</a:t>
            </a:r>
            <a:r>
              <a:rPr lang="en-IN" sz="1600" dirty="0">
                <a:latin typeface="Times New Roman" pitchFamily="18" charset="0"/>
                <a:cs typeface="Times New Roman" pitchFamily="18" charset="0"/>
              </a:rPr>
              <a:t> </a:t>
            </a:r>
          </a:p>
          <a:p>
            <a:pPr algn="just"/>
            <a:endParaRPr lang="en-US" sz="1600" dirty="0">
              <a:latin typeface="Times New Roman" pitchFamily="18" charset="0"/>
              <a:cs typeface="Times New Roman" pitchFamily="18" charset="0"/>
            </a:endParaRPr>
          </a:p>
          <a:p>
            <a:pPr marL="342900" indent="-342900" algn="just">
              <a:buFont typeface="Arial" pitchFamily="34" charset="0"/>
              <a:buChar char="•"/>
            </a:pPr>
            <a:r>
              <a:rPr lang="en-US" sz="1600" dirty="0">
                <a:latin typeface="Times New Roman" pitchFamily="18" charset="0"/>
                <a:cs typeface="Times New Roman" pitchFamily="18" charset="0"/>
              </a:rPr>
              <a:t>In the classification stage, the extracted features and contextual information are analyzed to identify patterns indicative of DDoS attacks.</a:t>
            </a:r>
          </a:p>
          <a:p>
            <a:pPr marL="342900" indent="-342900" algn="just">
              <a:buFont typeface="Arial" pitchFamily="34" charset="0"/>
              <a:buChar char="•"/>
            </a:pPr>
            <a:endParaRPr lang="en-US" sz="1600" dirty="0">
              <a:latin typeface="Times New Roman" pitchFamily="18" charset="0"/>
              <a:cs typeface="Times New Roman" pitchFamily="18" charset="0"/>
            </a:endParaRPr>
          </a:p>
          <a:p>
            <a:pPr marL="342900" indent="-342900" algn="just">
              <a:buFont typeface="Arial" pitchFamily="34" charset="0"/>
              <a:buChar char="•"/>
            </a:pPr>
            <a:r>
              <a:rPr lang="en-US" sz="1600" dirty="0">
                <a:latin typeface="Times New Roman" pitchFamily="18" charset="0"/>
                <a:cs typeface="Times New Roman" pitchFamily="18" charset="0"/>
              </a:rPr>
              <a:t>Context correlation involves examining how different features and contextual factors relate to each other and to the occurrence of DDoS attacks.</a:t>
            </a:r>
          </a:p>
          <a:p>
            <a:pPr marL="342900" indent="-342900" algn="just">
              <a:buFont typeface="Arial" pitchFamily="34" charset="0"/>
              <a:buChar char="•"/>
            </a:pPr>
            <a:endParaRPr lang="en-US" sz="1600" dirty="0">
              <a:latin typeface="Times New Roman" pitchFamily="18" charset="0"/>
              <a:cs typeface="Times New Roman" pitchFamily="18" charset="0"/>
            </a:endParaRPr>
          </a:p>
          <a:p>
            <a:pPr marL="342900" indent="-342900" algn="just">
              <a:buFont typeface="Arial" pitchFamily="34" charset="0"/>
              <a:buChar char="•"/>
            </a:pPr>
            <a:r>
              <a:rPr lang="en-US" sz="1600" dirty="0">
                <a:latin typeface="Times New Roman" pitchFamily="18" charset="0"/>
                <a:cs typeface="Times New Roman" pitchFamily="18" charset="0"/>
              </a:rPr>
              <a:t>Contextual information provides insight into the behavior of network traffic. This could include temporal information (e.g., time of day, day of the week), spatial information (e.g., geographical location), historical information (e.g., past traffic patterns), and protocol-specific information (e.g., HTTP request methods for web traffic).</a:t>
            </a:r>
          </a:p>
          <a:p>
            <a:pPr marL="342900" indent="-342900" algn="just">
              <a:buFont typeface="Arial" pitchFamily="34" charset="0"/>
              <a:buChar char="•"/>
            </a:pPr>
            <a:endParaRPr lang="en-US" sz="1600" dirty="0">
              <a:latin typeface="Times New Roman" pitchFamily="18" charset="0"/>
              <a:cs typeface="Times New Roman" pitchFamily="18" charset="0"/>
            </a:endParaRPr>
          </a:p>
          <a:p>
            <a:pPr marL="342900" indent="-342900" algn="just">
              <a:buFont typeface="Arial" pitchFamily="34" charset="0"/>
              <a:buChar char="•"/>
            </a:pPr>
            <a:r>
              <a:rPr lang="en-US" sz="1600" dirty="0">
                <a:latin typeface="Times New Roman" pitchFamily="18" charset="0"/>
                <a:cs typeface="Times New Roman" pitchFamily="18" charset="0"/>
              </a:rPr>
              <a:t>Context Correlation enhances the accuracy and effectiveness of DDoS detection systems by considering not only individual features of network traffic but also their relationships and contextual relevance. </a:t>
            </a:r>
          </a:p>
          <a:p>
            <a:pPr marL="342900" indent="-342900" algn="just">
              <a:buFont typeface="Arial" pitchFamily="34" charset="0"/>
              <a:buChar char="•"/>
            </a:pPr>
            <a:endParaRPr lang="en-US" sz="1600" dirty="0">
              <a:latin typeface="Times New Roman" pitchFamily="18" charset="0"/>
              <a:cs typeface="Times New Roman" pitchFamily="18" charset="0"/>
            </a:endParaRPr>
          </a:p>
          <a:p>
            <a:pPr marL="342900" indent="-342900" algn="just">
              <a:buFont typeface="Arial" pitchFamily="34" charset="0"/>
              <a:buChar char="•"/>
            </a:pPr>
            <a:r>
              <a:rPr lang="en-US" sz="1600" dirty="0">
                <a:latin typeface="Times New Roman" pitchFamily="18" charset="0"/>
                <a:cs typeface="Times New Roman" pitchFamily="18" charset="0"/>
              </a:rPr>
              <a:t>This enables more precise identification of anomalous behavior associated with DDoS attacks while reducing false positives.</a:t>
            </a:r>
          </a:p>
        </p:txBody>
      </p:sp>
      <p:sp>
        <p:nvSpPr>
          <p:cNvPr id="9" name="Title 1">
            <a:extLst>
              <a:ext uri="{FF2B5EF4-FFF2-40B4-BE49-F238E27FC236}">
                <a16:creationId xmlns:a16="http://schemas.microsoft.com/office/drawing/2014/main" xmlns="" id="{EBFF2E37-DDC6-440F-5511-5911BCD33DFA}"/>
              </a:ext>
            </a:extLst>
          </p:cNvPr>
          <p:cNvSpPr txBox="1">
            <a:spLocks/>
          </p:cNvSpPr>
          <p:nvPr/>
        </p:nvSpPr>
        <p:spPr>
          <a:xfrm>
            <a:off x="457200" y="274638"/>
            <a:ext cx="8229600" cy="715962"/>
          </a:xfrm>
          <a:prstGeom prst="rect">
            <a:avLst/>
          </a:prstGeom>
        </p:spPr>
        <p:txBody>
          <a:bodyPr>
            <a:normAutofit fontScale="97500" lnSpcReduction="1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b="1" dirty="0">
                <a:latin typeface="Times New Roman" panose="02020603050405020304" pitchFamily="18" charset="0"/>
                <a:cs typeface="Times New Roman" panose="02020603050405020304" pitchFamily="18" charset="0"/>
              </a:rPr>
              <a:t>Modules </a:t>
            </a:r>
          </a:p>
        </p:txBody>
      </p:sp>
      <p:sp>
        <p:nvSpPr>
          <p:cNvPr id="8" name="Footer Placeholder 3"/>
          <p:cNvSpPr>
            <a:spLocks noGrp="1"/>
          </p:cNvSpPr>
          <p:nvPr>
            <p:ph type="ftr" sz="quarter" idx="11"/>
          </p:nvPr>
        </p:nvSpPr>
        <p:spPr>
          <a:xfrm>
            <a:off x="3124200" y="6356350"/>
            <a:ext cx="2895600" cy="365125"/>
          </a:xfrm>
        </p:spPr>
        <p:txBody>
          <a:bodyPr/>
          <a:lstStyle/>
          <a:p>
            <a:r>
              <a:rPr lang="en-US"/>
              <a:t>DEPARTMENT OF COMPUTER SCIENCE AND ENGINEERING – CYBER SECURITY</a:t>
            </a:r>
            <a:endParaRPr lang="en-US" dirty="0"/>
          </a:p>
        </p:txBody>
      </p:sp>
      <p:sp>
        <p:nvSpPr>
          <p:cNvPr id="6" name="Date Placeholder 5">
            <a:extLst>
              <a:ext uri="{FF2B5EF4-FFF2-40B4-BE49-F238E27FC236}">
                <a16:creationId xmlns:a16="http://schemas.microsoft.com/office/drawing/2014/main" xmlns="" id="{16E2DA04-6703-538D-8D40-3182CFC0032D}"/>
              </a:ext>
            </a:extLst>
          </p:cNvPr>
          <p:cNvSpPr>
            <a:spLocks noGrp="1"/>
          </p:cNvSpPr>
          <p:nvPr>
            <p:ph type="dt" sz="half" idx="10"/>
          </p:nvPr>
        </p:nvSpPr>
        <p:spPr/>
        <p:txBody>
          <a:bodyPr/>
          <a:lstStyle/>
          <a:p>
            <a:r>
              <a:rPr lang="en-US" dirty="0"/>
              <a:t>Date : </a:t>
            </a:r>
            <a:fld id="{34762A7B-597A-4563-997D-C2507C52B2B0}" type="datetime1">
              <a:rPr lang="en-US" smtClean="0"/>
              <a:t>5/13/2024</a:t>
            </a:fld>
            <a:endParaRPr lang="en-US" dirty="0"/>
          </a:p>
        </p:txBody>
      </p:sp>
      <p:sp>
        <p:nvSpPr>
          <p:cNvPr id="7" name="Slide Number Placeholder 6">
            <a:extLst>
              <a:ext uri="{FF2B5EF4-FFF2-40B4-BE49-F238E27FC236}">
                <a16:creationId xmlns:a16="http://schemas.microsoft.com/office/drawing/2014/main" xmlns="" id="{8F52ADD8-629A-B906-14A4-823C7749C3DC}"/>
              </a:ext>
            </a:extLst>
          </p:cNvPr>
          <p:cNvSpPr>
            <a:spLocks noGrp="1"/>
          </p:cNvSpPr>
          <p:nvPr>
            <p:ph type="sldNum" sz="quarter" idx="12"/>
          </p:nvPr>
        </p:nvSpPr>
        <p:spPr/>
        <p:txBody>
          <a:bodyPr/>
          <a:lstStyle/>
          <a:p>
            <a:r>
              <a:rPr lang="en-US" dirty="0"/>
              <a:t>Slide Number: </a:t>
            </a:r>
            <a:fld id="{BECDEB80-DBCE-406A-80BF-FEBEE692EE79}" type="slidenum">
              <a:rPr lang="en-US" smtClean="0"/>
              <a:t>23</a:t>
            </a:fld>
            <a:endParaRPr lang="en-US" dirty="0"/>
          </a:p>
        </p:txBody>
      </p:sp>
    </p:spTree>
    <p:extLst>
      <p:ext uri="{BB962C8B-B14F-4D97-AF65-F5344CB8AC3E}">
        <p14:creationId xmlns:p14="http://schemas.microsoft.com/office/powerpoint/2010/main" val="24530731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36FD6FC-4623-DB0D-464A-023A669477C3}"/>
              </a:ext>
            </a:extLst>
          </p:cNvPr>
          <p:cNvSpPr>
            <a:spLocks noGrp="1"/>
          </p:cNvSpPr>
          <p:nvPr>
            <p:ph type="title"/>
          </p:nvPr>
        </p:nvSpPr>
        <p:spPr/>
        <p:txBody>
          <a:bodyPr>
            <a:normAutofit fontScale="90000"/>
          </a:bodyPr>
          <a:lstStyle/>
          <a:p>
            <a:r>
              <a:rPr lang="en-IN" b="1" dirty="0">
                <a:latin typeface="Times New Roman" panose="02020603050405020304" pitchFamily="18" charset="0"/>
                <a:cs typeface="Times New Roman" panose="02020603050405020304" pitchFamily="18" charset="0"/>
              </a:rPr>
              <a:t>Software &amp; Hardware Requirements</a:t>
            </a:r>
          </a:p>
        </p:txBody>
      </p:sp>
      <p:sp>
        <p:nvSpPr>
          <p:cNvPr id="5" name="TextBox 4">
            <a:extLst>
              <a:ext uri="{FF2B5EF4-FFF2-40B4-BE49-F238E27FC236}">
                <a16:creationId xmlns:a16="http://schemas.microsoft.com/office/drawing/2014/main" xmlns="" id="{0A7D424D-34B8-0C2D-3F2A-EEDFC5A6FA13}"/>
              </a:ext>
            </a:extLst>
          </p:cNvPr>
          <p:cNvSpPr txBox="1"/>
          <p:nvPr/>
        </p:nvSpPr>
        <p:spPr>
          <a:xfrm>
            <a:off x="838200" y="1828800"/>
            <a:ext cx="7696200" cy="2585323"/>
          </a:xfrm>
          <a:prstGeom prst="rect">
            <a:avLst/>
          </a:prstGeom>
          <a:noFill/>
        </p:spPr>
        <p:txBody>
          <a:bodyPr wrap="square" rtlCol="0">
            <a:spAutoFit/>
          </a:bodyPr>
          <a:lstStyle/>
          <a:p>
            <a:pPr algn="just"/>
            <a:r>
              <a:rPr lang="en-US" sz="1600" b="1" dirty="0">
                <a:latin typeface="Times New Roman" pitchFamily="18" charset="0"/>
                <a:cs typeface="Times New Roman" panose="02020603050405020304" pitchFamily="18" charset="0"/>
              </a:rPr>
              <a:t>Hardware Requirements :</a:t>
            </a:r>
          </a:p>
          <a:p>
            <a:pPr algn="just"/>
            <a:endParaRPr lang="en-US" sz="16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Processor: Minimum i5 Dual Core </a:t>
            </a:r>
          </a:p>
          <a:p>
            <a:pPr algn="just"/>
            <a:endParaRPr lang="en-US" sz="16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Ethernet connection (LAN) OR a wireless adapter (Wi-Fi) </a:t>
            </a:r>
          </a:p>
          <a:p>
            <a:pPr algn="just"/>
            <a:endParaRPr lang="en-US" sz="16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Hard Drive: Minimum 200 GB; Recommended 200 GB or more.</a:t>
            </a:r>
          </a:p>
          <a:p>
            <a:pPr algn="just"/>
            <a:endParaRPr lang="en-US" sz="16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 Memory (RAM): Minimum 16 GB; Recommended 32 GB or above</a:t>
            </a:r>
            <a:r>
              <a:rPr lang="en-US" sz="1600" b="0" i="0" dirty="0">
                <a:effectLst/>
                <a:latin typeface="Times New Roman" panose="02020603050405020304" pitchFamily="18" charset="0"/>
                <a:cs typeface="Times New Roman" panose="02020603050405020304" pitchFamily="18" charset="0"/>
              </a:rPr>
              <a:t>)</a:t>
            </a:r>
          </a:p>
          <a:p>
            <a:pPr algn="just"/>
            <a:endParaRPr lang="en-US" dirty="0">
              <a:latin typeface="Times New Roman" panose="02020603050405020304" pitchFamily="18" charset="0"/>
              <a:cs typeface="Times New Roman" panose="02020603050405020304" pitchFamily="18" charset="0"/>
            </a:endParaRPr>
          </a:p>
        </p:txBody>
      </p:sp>
      <p:sp>
        <p:nvSpPr>
          <p:cNvPr id="8" name="Footer Placeholder 3"/>
          <p:cNvSpPr>
            <a:spLocks noGrp="1"/>
          </p:cNvSpPr>
          <p:nvPr>
            <p:ph type="ftr" sz="quarter" idx="11"/>
          </p:nvPr>
        </p:nvSpPr>
        <p:spPr>
          <a:xfrm>
            <a:off x="3124200" y="6356350"/>
            <a:ext cx="2895600" cy="365125"/>
          </a:xfrm>
        </p:spPr>
        <p:txBody>
          <a:bodyPr/>
          <a:lstStyle/>
          <a:p>
            <a:r>
              <a:rPr lang="en-US"/>
              <a:t>DEPARTMENT OF COMPUTER SCIENCE AND ENGINEERING – CYBER SECURITY</a:t>
            </a:r>
            <a:endParaRPr lang="en-US" dirty="0"/>
          </a:p>
        </p:txBody>
      </p:sp>
      <p:sp>
        <p:nvSpPr>
          <p:cNvPr id="7" name="Date Placeholder 6">
            <a:extLst>
              <a:ext uri="{FF2B5EF4-FFF2-40B4-BE49-F238E27FC236}">
                <a16:creationId xmlns:a16="http://schemas.microsoft.com/office/drawing/2014/main" xmlns="" id="{ACE190AE-073B-0BC0-6D3E-E5635AB8958F}"/>
              </a:ext>
            </a:extLst>
          </p:cNvPr>
          <p:cNvSpPr>
            <a:spLocks noGrp="1"/>
          </p:cNvSpPr>
          <p:nvPr>
            <p:ph type="dt" sz="half" idx="10"/>
          </p:nvPr>
        </p:nvSpPr>
        <p:spPr/>
        <p:txBody>
          <a:bodyPr/>
          <a:lstStyle/>
          <a:p>
            <a:r>
              <a:rPr lang="en-US" dirty="0"/>
              <a:t>Date : </a:t>
            </a:r>
            <a:fld id="{5D454724-CDDF-46B5-BA4F-846C0BAAF20A}" type="datetime1">
              <a:rPr lang="en-US" smtClean="0"/>
              <a:t>5/13/2024</a:t>
            </a:fld>
            <a:endParaRPr lang="en-US" dirty="0"/>
          </a:p>
        </p:txBody>
      </p:sp>
      <p:sp>
        <p:nvSpPr>
          <p:cNvPr id="9" name="Slide Number Placeholder 8">
            <a:extLst>
              <a:ext uri="{FF2B5EF4-FFF2-40B4-BE49-F238E27FC236}">
                <a16:creationId xmlns:a16="http://schemas.microsoft.com/office/drawing/2014/main" xmlns="" id="{9C468EF5-2B9B-98B9-F385-B31C78715C54}"/>
              </a:ext>
            </a:extLst>
          </p:cNvPr>
          <p:cNvSpPr>
            <a:spLocks noGrp="1"/>
          </p:cNvSpPr>
          <p:nvPr>
            <p:ph type="sldNum" sz="quarter" idx="12"/>
          </p:nvPr>
        </p:nvSpPr>
        <p:spPr/>
        <p:txBody>
          <a:bodyPr/>
          <a:lstStyle/>
          <a:p>
            <a:r>
              <a:rPr lang="en-US" dirty="0"/>
              <a:t>Slide Number: </a:t>
            </a:r>
            <a:fld id="{BECDEB80-DBCE-406A-80BF-FEBEE692EE79}" type="slidenum">
              <a:rPr lang="en-US" smtClean="0"/>
              <a:t>24</a:t>
            </a:fld>
            <a:endParaRPr lang="en-US" dirty="0"/>
          </a:p>
        </p:txBody>
      </p:sp>
    </p:spTree>
    <p:extLst>
      <p:ext uri="{BB962C8B-B14F-4D97-AF65-F5344CB8AC3E}">
        <p14:creationId xmlns:p14="http://schemas.microsoft.com/office/powerpoint/2010/main" val="238946553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36FD6FC-4623-DB0D-464A-023A669477C3}"/>
              </a:ext>
            </a:extLst>
          </p:cNvPr>
          <p:cNvSpPr>
            <a:spLocks noGrp="1"/>
          </p:cNvSpPr>
          <p:nvPr>
            <p:ph type="title"/>
          </p:nvPr>
        </p:nvSpPr>
        <p:spPr>
          <a:xfrm>
            <a:off x="444062" y="152400"/>
            <a:ext cx="8229600" cy="1143000"/>
          </a:xfrm>
        </p:spPr>
        <p:txBody>
          <a:bodyPr>
            <a:normAutofit fontScale="90000"/>
          </a:bodyPr>
          <a:lstStyle/>
          <a:p>
            <a:r>
              <a:rPr lang="en-IN" b="1" dirty="0">
                <a:latin typeface="Times New Roman" panose="02020603050405020304" pitchFamily="18" charset="0"/>
                <a:cs typeface="Times New Roman" panose="02020603050405020304" pitchFamily="18" charset="0"/>
              </a:rPr>
              <a:t>Software &amp; Hardware Requirements</a:t>
            </a:r>
          </a:p>
        </p:txBody>
      </p:sp>
      <p:sp>
        <p:nvSpPr>
          <p:cNvPr id="5" name="TextBox 4">
            <a:extLst>
              <a:ext uri="{FF2B5EF4-FFF2-40B4-BE49-F238E27FC236}">
                <a16:creationId xmlns:a16="http://schemas.microsoft.com/office/drawing/2014/main" xmlns="" id="{0A7D424D-34B8-0C2D-3F2A-EEDFC5A6FA13}"/>
              </a:ext>
            </a:extLst>
          </p:cNvPr>
          <p:cNvSpPr txBox="1"/>
          <p:nvPr/>
        </p:nvSpPr>
        <p:spPr>
          <a:xfrm>
            <a:off x="838200" y="1093271"/>
            <a:ext cx="7696200" cy="4555093"/>
          </a:xfrm>
          <a:prstGeom prst="rect">
            <a:avLst/>
          </a:prstGeom>
          <a:noFill/>
        </p:spPr>
        <p:txBody>
          <a:bodyPr wrap="square" rtlCol="0">
            <a:spAutoFit/>
          </a:bodyPr>
          <a:lstStyle/>
          <a:p>
            <a:pPr algn="just"/>
            <a:r>
              <a:rPr lang="en-US" sz="1600" b="1" dirty="0">
                <a:latin typeface="Times New Roman" panose="02020603050405020304" pitchFamily="18" charset="0"/>
                <a:cs typeface="Times New Roman" panose="02020603050405020304" pitchFamily="18" charset="0"/>
              </a:rPr>
              <a:t>Software Requirements :</a:t>
            </a:r>
          </a:p>
          <a:p>
            <a:pPr algn="just"/>
            <a:endParaRPr lang="en-US" sz="1600" b="1"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IN" sz="1600" dirty="0">
                <a:latin typeface="Times New Roman" pitchFamily="18" charset="0"/>
                <a:cs typeface="Times New Roman" pitchFamily="18" charset="0"/>
              </a:rPr>
              <a:t>Python For AI/ML/DL Programming </a:t>
            </a:r>
          </a:p>
          <a:p>
            <a:pPr algn="just"/>
            <a:endParaRPr lang="en-IN" sz="1600" dirty="0">
              <a:latin typeface="Times New Roman" pitchFamily="18" charset="0"/>
              <a:cs typeface="Times New Roman" pitchFamily="18" charset="0"/>
            </a:endParaRPr>
          </a:p>
          <a:p>
            <a:pPr marL="285750" indent="-285750" algn="just">
              <a:buFont typeface="Arial" panose="020B0604020202020204" pitchFamily="34" charset="0"/>
              <a:buChar char="•"/>
            </a:pPr>
            <a:r>
              <a:rPr lang="en-IN" sz="1600" dirty="0" err="1">
                <a:latin typeface="Times New Roman" pitchFamily="18" charset="0"/>
                <a:cs typeface="Times New Roman" pitchFamily="18" charset="0"/>
              </a:rPr>
              <a:t>Jupyter</a:t>
            </a:r>
            <a:r>
              <a:rPr lang="en-IN" sz="1600" dirty="0">
                <a:latin typeface="Times New Roman" pitchFamily="18" charset="0"/>
                <a:cs typeface="Times New Roman" pitchFamily="18" charset="0"/>
              </a:rPr>
              <a:t> Notebook IDE (Integrated Development Environment) for Development. </a:t>
            </a:r>
          </a:p>
          <a:p>
            <a:pPr algn="just"/>
            <a:endParaRPr lang="en-IN" sz="1600" dirty="0">
              <a:latin typeface="Times New Roman" pitchFamily="18" charset="0"/>
              <a:cs typeface="Times New Roman" pitchFamily="18" charset="0"/>
            </a:endParaRPr>
          </a:p>
          <a:p>
            <a:pPr marL="285750" indent="-285750" algn="just">
              <a:buFont typeface="Arial" panose="020B0604020202020204" pitchFamily="34" charset="0"/>
              <a:buChar char="•"/>
            </a:pPr>
            <a:r>
              <a:rPr lang="en-IN" sz="1600" dirty="0" err="1">
                <a:latin typeface="Times New Roman" pitchFamily="18" charset="0"/>
                <a:cs typeface="Times New Roman" pitchFamily="18" charset="0"/>
              </a:rPr>
              <a:t>Sklearn</a:t>
            </a:r>
            <a:r>
              <a:rPr lang="en-IN" sz="1600" dirty="0">
                <a:latin typeface="Times New Roman" pitchFamily="18" charset="0"/>
                <a:cs typeface="Times New Roman" pitchFamily="18" charset="0"/>
              </a:rPr>
              <a:t> for Machine Learning/Feature Extraction/Evaluation Metrics Coding. </a:t>
            </a:r>
          </a:p>
          <a:p>
            <a:pPr algn="just"/>
            <a:endParaRPr lang="en-IN" sz="1600" dirty="0">
              <a:latin typeface="Times New Roman" pitchFamily="18" charset="0"/>
              <a:cs typeface="Times New Roman" pitchFamily="18" charset="0"/>
            </a:endParaRPr>
          </a:p>
          <a:p>
            <a:pPr marL="285750" indent="-285750" algn="just">
              <a:buFont typeface="Arial" panose="020B0604020202020204" pitchFamily="34" charset="0"/>
              <a:buChar char="•"/>
            </a:pPr>
            <a:r>
              <a:rPr lang="en-IN" sz="1600" dirty="0" err="1">
                <a:latin typeface="Times New Roman" pitchFamily="18" charset="0"/>
                <a:cs typeface="Times New Roman" pitchFamily="18" charset="0"/>
              </a:rPr>
              <a:t>Numpy</a:t>
            </a:r>
            <a:r>
              <a:rPr lang="en-IN" sz="1600" dirty="0">
                <a:latin typeface="Times New Roman" pitchFamily="18" charset="0"/>
                <a:cs typeface="Times New Roman" pitchFamily="18" charset="0"/>
              </a:rPr>
              <a:t> for implementing Linear Algebra. </a:t>
            </a:r>
          </a:p>
          <a:p>
            <a:pPr algn="just"/>
            <a:endParaRPr lang="en-IN" sz="1600" dirty="0">
              <a:latin typeface="Times New Roman" pitchFamily="18" charset="0"/>
              <a:cs typeface="Times New Roman" pitchFamily="18" charset="0"/>
            </a:endParaRPr>
          </a:p>
          <a:p>
            <a:pPr marL="285750" indent="-285750" algn="just">
              <a:buFont typeface="Arial" panose="020B0604020202020204" pitchFamily="34" charset="0"/>
              <a:buChar char="•"/>
            </a:pPr>
            <a:r>
              <a:rPr lang="en-IN" sz="1600" dirty="0" err="1">
                <a:latin typeface="Times New Roman" pitchFamily="18" charset="0"/>
                <a:cs typeface="Times New Roman" pitchFamily="18" charset="0"/>
              </a:rPr>
              <a:t>Plotly</a:t>
            </a:r>
            <a:r>
              <a:rPr lang="en-IN" sz="1600" dirty="0">
                <a:latin typeface="Times New Roman" pitchFamily="18" charset="0"/>
                <a:cs typeface="Times New Roman" pitchFamily="18" charset="0"/>
              </a:rPr>
              <a:t> for Data Visualization (For Graphs). </a:t>
            </a:r>
          </a:p>
          <a:p>
            <a:pPr algn="just"/>
            <a:endParaRPr lang="en-IN" sz="1600" dirty="0">
              <a:latin typeface="Times New Roman" pitchFamily="18" charset="0"/>
              <a:cs typeface="Times New Roman" pitchFamily="18" charset="0"/>
            </a:endParaRPr>
          </a:p>
          <a:p>
            <a:pPr marL="285750" indent="-285750" algn="just">
              <a:buFont typeface="Arial" panose="020B0604020202020204" pitchFamily="34" charset="0"/>
              <a:buChar char="•"/>
            </a:pPr>
            <a:r>
              <a:rPr lang="en-IN" sz="1600" dirty="0">
                <a:latin typeface="Times New Roman" pitchFamily="18" charset="0"/>
                <a:cs typeface="Times New Roman" pitchFamily="18" charset="0"/>
              </a:rPr>
              <a:t>Matplotlib for Data Visualization (For Graphs).</a:t>
            </a:r>
          </a:p>
          <a:p>
            <a:pPr algn="just"/>
            <a:endParaRPr lang="en-IN" sz="1600" dirty="0">
              <a:latin typeface="Times New Roman" pitchFamily="18" charset="0"/>
              <a:cs typeface="Times New Roman" pitchFamily="18" charset="0"/>
            </a:endParaRPr>
          </a:p>
          <a:p>
            <a:pPr marL="285750" indent="-285750" algn="just">
              <a:buFont typeface="Arial" panose="020B0604020202020204" pitchFamily="34" charset="0"/>
              <a:buChar char="•"/>
            </a:pPr>
            <a:r>
              <a:rPr lang="en-IN" sz="1600" dirty="0">
                <a:latin typeface="Times New Roman" pitchFamily="18" charset="0"/>
                <a:cs typeface="Times New Roman" pitchFamily="18" charset="0"/>
              </a:rPr>
              <a:t> Seaborn for Data Visualization (For Graphs). </a:t>
            </a:r>
          </a:p>
          <a:p>
            <a:pPr algn="just"/>
            <a:endParaRPr lang="en-IN" sz="1600" dirty="0">
              <a:latin typeface="Times New Roman" pitchFamily="18" charset="0"/>
              <a:cs typeface="Times New Roman" pitchFamily="18" charset="0"/>
            </a:endParaRPr>
          </a:p>
          <a:p>
            <a:pPr marL="285750" indent="-285750" algn="just">
              <a:buFont typeface="Arial" panose="020B0604020202020204" pitchFamily="34" charset="0"/>
              <a:buChar char="•"/>
            </a:pPr>
            <a:r>
              <a:rPr lang="en-IN" sz="1600" dirty="0">
                <a:latin typeface="Times New Roman" pitchFamily="18" charset="0"/>
                <a:cs typeface="Times New Roman" pitchFamily="18" charset="0"/>
              </a:rPr>
              <a:t>Pandas for dealing with Tabular Data. </a:t>
            </a:r>
            <a:endParaRPr lang="en-US" sz="1600" b="1" dirty="0">
              <a:latin typeface="Times New Roman" panose="02020603050405020304" pitchFamily="18" charset="0"/>
              <a:cs typeface="Times New Roman" panose="02020603050405020304" pitchFamily="18" charset="0"/>
            </a:endParaRPr>
          </a:p>
          <a:p>
            <a:pPr algn="just"/>
            <a:endParaRPr lang="en-US" dirty="0">
              <a:latin typeface="Times New Roman" panose="02020603050405020304" pitchFamily="18" charset="0"/>
              <a:cs typeface="Times New Roman" panose="02020603050405020304" pitchFamily="18" charset="0"/>
            </a:endParaRPr>
          </a:p>
        </p:txBody>
      </p:sp>
      <p:sp>
        <p:nvSpPr>
          <p:cNvPr id="8" name="Footer Placeholder 3"/>
          <p:cNvSpPr>
            <a:spLocks noGrp="1"/>
          </p:cNvSpPr>
          <p:nvPr>
            <p:ph type="ftr" sz="quarter" idx="11"/>
          </p:nvPr>
        </p:nvSpPr>
        <p:spPr>
          <a:xfrm>
            <a:off x="3124200" y="6356350"/>
            <a:ext cx="2895600" cy="365125"/>
          </a:xfrm>
        </p:spPr>
        <p:txBody>
          <a:bodyPr/>
          <a:lstStyle/>
          <a:p>
            <a:r>
              <a:rPr lang="en-US"/>
              <a:t>DEPARTMENT OF COMPUTER SCIENCE AND ENGINEERING – CYBER SECURITY</a:t>
            </a:r>
            <a:endParaRPr lang="en-US" dirty="0"/>
          </a:p>
        </p:txBody>
      </p:sp>
      <p:sp>
        <p:nvSpPr>
          <p:cNvPr id="7" name="Date Placeholder 6">
            <a:extLst>
              <a:ext uri="{FF2B5EF4-FFF2-40B4-BE49-F238E27FC236}">
                <a16:creationId xmlns:a16="http://schemas.microsoft.com/office/drawing/2014/main" xmlns="" id="{538C9AF7-CB9D-C043-744C-2F278678117E}"/>
              </a:ext>
            </a:extLst>
          </p:cNvPr>
          <p:cNvSpPr>
            <a:spLocks noGrp="1"/>
          </p:cNvSpPr>
          <p:nvPr>
            <p:ph type="dt" sz="half" idx="10"/>
          </p:nvPr>
        </p:nvSpPr>
        <p:spPr/>
        <p:txBody>
          <a:bodyPr/>
          <a:lstStyle/>
          <a:p>
            <a:r>
              <a:rPr lang="en-US" dirty="0"/>
              <a:t>Date : </a:t>
            </a:r>
            <a:fld id="{62A9813B-B571-4679-A2CF-AC8E5F4DE83C}" type="datetime1">
              <a:rPr lang="en-US" smtClean="0"/>
              <a:t>5/13/2024</a:t>
            </a:fld>
            <a:endParaRPr lang="en-US" dirty="0"/>
          </a:p>
        </p:txBody>
      </p:sp>
      <p:sp>
        <p:nvSpPr>
          <p:cNvPr id="9" name="Slide Number Placeholder 8">
            <a:extLst>
              <a:ext uri="{FF2B5EF4-FFF2-40B4-BE49-F238E27FC236}">
                <a16:creationId xmlns:a16="http://schemas.microsoft.com/office/drawing/2014/main" xmlns="" id="{ED923174-D1D0-32E4-7684-E494699A15D8}"/>
              </a:ext>
            </a:extLst>
          </p:cNvPr>
          <p:cNvSpPr>
            <a:spLocks noGrp="1"/>
          </p:cNvSpPr>
          <p:nvPr>
            <p:ph type="sldNum" sz="quarter" idx="12"/>
          </p:nvPr>
        </p:nvSpPr>
        <p:spPr/>
        <p:txBody>
          <a:bodyPr/>
          <a:lstStyle/>
          <a:p>
            <a:r>
              <a:rPr lang="en-US" dirty="0"/>
              <a:t>Slide Number: </a:t>
            </a:r>
            <a:fld id="{BECDEB80-DBCE-406A-80BF-FEBEE692EE79}" type="slidenum">
              <a:rPr lang="en-US" smtClean="0"/>
              <a:t>25</a:t>
            </a:fld>
            <a:endParaRPr lang="en-US" dirty="0"/>
          </a:p>
        </p:txBody>
      </p:sp>
    </p:spTree>
    <p:extLst>
      <p:ext uri="{BB962C8B-B14F-4D97-AF65-F5344CB8AC3E}">
        <p14:creationId xmlns:p14="http://schemas.microsoft.com/office/powerpoint/2010/main" val="35336466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latin typeface="Times New Roman" pitchFamily="18" charset="0"/>
                <a:cs typeface="Times New Roman" pitchFamily="18" charset="0"/>
              </a:rPr>
              <a:t>Implementation</a:t>
            </a:r>
          </a:p>
        </p:txBody>
      </p:sp>
      <p:sp>
        <p:nvSpPr>
          <p:cNvPr id="4" name="Footer Placeholder 3"/>
          <p:cNvSpPr>
            <a:spLocks noGrp="1"/>
          </p:cNvSpPr>
          <p:nvPr>
            <p:ph type="ftr" sz="quarter" idx="11"/>
          </p:nvPr>
        </p:nvSpPr>
        <p:spPr/>
        <p:txBody>
          <a:bodyPr/>
          <a:lstStyle/>
          <a:p>
            <a:r>
              <a:rPr lang="en-US"/>
              <a:t>DEPARTMENT OF COMPUTER SCIENCE AND ENGINEERING – CYBER SECURITY</a:t>
            </a:r>
            <a:endParaRPr lang="en-US" dirty="0"/>
          </a:p>
        </p:txBody>
      </p:sp>
      <p:sp>
        <p:nvSpPr>
          <p:cNvPr id="3" name="Rectangle 2"/>
          <p:cNvSpPr/>
          <p:nvPr/>
        </p:nvSpPr>
        <p:spPr>
          <a:xfrm>
            <a:off x="838200" y="1427470"/>
            <a:ext cx="7696200" cy="4708981"/>
          </a:xfrm>
          <a:prstGeom prst="rect">
            <a:avLst/>
          </a:prstGeom>
        </p:spPr>
        <p:txBody>
          <a:bodyPr wrap="square">
            <a:spAutoFit/>
          </a:bodyPr>
          <a:lstStyle/>
          <a:p>
            <a:pPr algn="just">
              <a:lnSpc>
                <a:spcPct val="150000"/>
              </a:lnSpc>
            </a:pPr>
            <a:r>
              <a:rPr lang="en-US" sz="1600" b="1" dirty="0">
                <a:latin typeface="Times New Roman" pitchFamily="18" charset="0"/>
                <a:cs typeface="Times New Roman" pitchFamily="18" charset="0"/>
              </a:rPr>
              <a:t>Algorithm: </a:t>
            </a:r>
          </a:p>
          <a:p>
            <a:pPr algn="just">
              <a:lnSpc>
                <a:spcPct val="150000"/>
              </a:lnSpc>
            </a:pPr>
            <a:endParaRPr lang="en-US" sz="1400" b="1" dirty="0">
              <a:latin typeface="Times New Roman" pitchFamily="18" charset="0"/>
              <a:cs typeface="Times New Roman" pitchFamily="18" charset="0"/>
            </a:endParaRPr>
          </a:p>
          <a:p>
            <a:pPr algn="just">
              <a:lnSpc>
                <a:spcPct val="150000"/>
              </a:lnSpc>
            </a:pPr>
            <a:r>
              <a:rPr lang="en-US" sz="1600" dirty="0">
                <a:latin typeface="Times New Roman" pitchFamily="18" charset="0"/>
                <a:cs typeface="Times New Roman" pitchFamily="18" charset="0"/>
              </a:rPr>
              <a:t>Step 1: Data Acquisition and Preprocessing</a:t>
            </a:r>
          </a:p>
          <a:p>
            <a:pPr marL="742950" lvl="1" indent="-285750" algn="just">
              <a:lnSpc>
                <a:spcPct val="150000"/>
              </a:lnSpc>
              <a:buFont typeface="Arial" pitchFamily="34" charset="0"/>
              <a:buChar char="•"/>
            </a:pPr>
            <a:r>
              <a:rPr lang="en-US" sz="1600" dirty="0">
                <a:latin typeface="Times New Roman" pitchFamily="18" charset="0"/>
                <a:cs typeface="Times New Roman" pitchFamily="18" charset="0"/>
              </a:rPr>
              <a:t>Obtain the raw dataset containing network traffic features and the target variable (e.g., DNS server requests, source IP addresses, request types).Normalize the features in the dataset using techniques like min-max normalization or f-score normalization . Apply feature scaling to ensure all features have a similar range.</a:t>
            </a:r>
          </a:p>
          <a:p>
            <a:pPr lvl="1" algn="just">
              <a:lnSpc>
                <a:spcPct val="150000"/>
              </a:lnSpc>
            </a:pPr>
            <a:endParaRPr lang="en-US" sz="1400" dirty="0">
              <a:latin typeface="Times New Roman" pitchFamily="18" charset="0"/>
              <a:cs typeface="Times New Roman" pitchFamily="18" charset="0"/>
            </a:endParaRPr>
          </a:p>
          <a:p>
            <a:pPr algn="just">
              <a:lnSpc>
                <a:spcPct val="150000"/>
              </a:lnSpc>
            </a:pPr>
            <a:r>
              <a:rPr lang="en-US" sz="1600" dirty="0">
                <a:latin typeface="Times New Roman" pitchFamily="18" charset="0"/>
                <a:cs typeface="Times New Roman" pitchFamily="18" charset="0"/>
              </a:rPr>
              <a:t>Step 2: Feature Selection</a:t>
            </a:r>
          </a:p>
          <a:p>
            <a:pPr marL="742950" lvl="1" indent="-285750" algn="just">
              <a:lnSpc>
                <a:spcPct val="150000"/>
              </a:lnSpc>
              <a:buFont typeface="Arial" pitchFamily="34" charset="0"/>
              <a:buChar char="•"/>
            </a:pPr>
            <a:r>
              <a:rPr lang="en-US" sz="1600" dirty="0">
                <a:latin typeface="Times New Roman" pitchFamily="18" charset="0"/>
                <a:cs typeface="Times New Roman" pitchFamily="18" charset="0"/>
              </a:rPr>
              <a:t>Train a Random Forest model on the preprocessed dataset to identify important features. Obtain feature importance scores from the Random Forest model. Select the most important features based on the feature importance scores.</a:t>
            </a:r>
          </a:p>
          <a:p>
            <a:endParaRPr lang="en-IN" dirty="0"/>
          </a:p>
        </p:txBody>
      </p:sp>
      <p:sp>
        <p:nvSpPr>
          <p:cNvPr id="8" name="Date Placeholder 7">
            <a:extLst>
              <a:ext uri="{FF2B5EF4-FFF2-40B4-BE49-F238E27FC236}">
                <a16:creationId xmlns:a16="http://schemas.microsoft.com/office/drawing/2014/main" xmlns="" id="{BA7DFADA-F67A-FC64-557F-15FA2138306A}"/>
              </a:ext>
            </a:extLst>
          </p:cNvPr>
          <p:cNvSpPr>
            <a:spLocks noGrp="1"/>
          </p:cNvSpPr>
          <p:nvPr>
            <p:ph type="dt" sz="half" idx="10"/>
          </p:nvPr>
        </p:nvSpPr>
        <p:spPr/>
        <p:txBody>
          <a:bodyPr/>
          <a:lstStyle/>
          <a:p>
            <a:r>
              <a:rPr lang="en-US" dirty="0"/>
              <a:t>Date : </a:t>
            </a:r>
            <a:fld id="{FB501293-0C8E-4CBA-A83C-29E1B84CF51F}" type="datetime1">
              <a:rPr lang="en-US" smtClean="0"/>
              <a:t>5/13/2024</a:t>
            </a:fld>
            <a:endParaRPr lang="en-US" dirty="0"/>
          </a:p>
        </p:txBody>
      </p:sp>
      <p:sp>
        <p:nvSpPr>
          <p:cNvPr id="9" name="Slide Number Placeholder 8">
            <a:extLst>
              <a:ext uri="{FF2B5EF4-FFF2-40B4-BE49-F238E27FC236}">
                <a16:creationId xmlns:a16="http://schemas.microsoft.com/office/drawing/2014/main" xmlns="" id="{D28D4114-1C95-685A-24D1-4FD601CF3508}"/>
              </a:ext>
            </a:extLst>
          </p:cNvPr>
          <p:cNvSpPr>
            <a:spLocks noGrp="1"/>
          </p:cNvSpPr>
          <p:nvPr>
            <p:ph type="sldNum" sz="quarter" idx="12"/>
          </p:nvPr>
        </p:nvSpPr>
        <p:spPr/>
        <p:txBody>
          <a:bodyPr/>
          <a:lstStyle/>
          <a:p>
            <a:r>
              <a:rPr lang="en-US" dirty="0"/>
              <a:t>Slide Number: </a:t>
            </a:r>
            <a:fld id="{BECDEB80-DBCE-406A-80BF-FEBEE692EE79}" type="slidenum">
              <a:rPr lang="en-US" smtClean="0"/>
              <a:t>26</a:t>
            </a:fld>
            <a:endParaRPr lang="en-US" dirty="0"/>
          </a:p>
        </p:txBody>
      </p:sp>
    </p:spTree>
    <p:extLst>
      <p:ext uri="{BB962C8B-B14F-4D97-AF65-F5344CB8AC3E}">
        <p14:creationId xmlns:p14="http://schemas.microsoft.com/office/powerpoint/2010/main" val="151250418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latin typeface="Times New Roman" pitchFamily="18" charset="0"/>
                <a:cs typeface="Times New Roman" pitchFamily="18" charset="0"/>
              </a:rPr>
              <a:t>Implementation</a:t>
            </a:r>
          </a:p>
        </p:txBody>
      </p:sp>
      <p:sp>
        <p:nvSpPr>
          <p:cNvPr id="3" name="Rectangle 2"/>
          <p:cNvSpPr/>
          <p:nvPr/>
        </p:nvSpPr>
        <p:spPr>
          <a:xfrm>
            <a:off x="838200" y="1219200"/>
            <a:ext cx="7696200" cy="5126403"/>
          </a:xfrm>
          <a:prstGeom prst="rect">
            <a:avLst/>
          </a:prstGeom>
        </p:spPr>
        <p:txBody>
          <a:bodyPr wrap="square">
            <a:spAutoFit/>
          </a:bodyPr>
          <a:lstStyle/>
          <a:p>
            <a:pPr algn="just">
              <a:lnSpc>
                <a:spcPct val="150000"/>
              </a:lnSpc>
            </a:pPr>
            <a:r>
              <a:rPr lang="en-US" sz="1600" dirty="0">
                <a:latin typeface="Times New Roman" pitchFamily="18" charset="0"/>
                <a:cs typeface="Times New Roman" pitchFamily="18" charset="0"/>
              </a:rPr>
              <a:t>Step 3: Data Splitting</a:t>
            </a:r>
          </a:p>
          <a:p>
            <a:pPr marL="742950" lvl="1" indent="-285750" algn="just">
              <a:lnSpc>
                <a:spcPct val="150000"/>
              </a:lnSpc>
              <a:buFont typeface="Arial" pitchFamily="34" charset="0"/>
              <a:buChar char="•"/>
            </a:pPr>
            <a:r>
              <a:rPr lang="en-US" sz="1600" dirty="0">
                <a:latin typeface="Times New Roman" pitchFamily="18" charset="0"/>
                <a:cs typeface="Times New Roman" pitchFamily="18" charset="0"/>
              </a:rPr>
              <a:t>Split the preprocessed dataset into a training set and a test set . Extract the selected features from both the training and test sets.</a:t>
            </a:r>
          </a:p>
          <a:p>
            <a:pPr lvl="1" algn="just">
              <a:lnSpc>
                <a:spcPct val="150000"/>
              </a:lnSpc>
            </a:pPr>
            <a:endParaRPr lang="en-US" sz="1400" dirty="0">
              <a:latin typeface="Times New Roman" pitchFamily="18" charset="0"/>
              <a:cs typeface="Times New Roman" pitchFamily="18" charset="0"/>
            </a:endParaRPr>
          </a:p>
          <a:p>
            <a:pPr algn="just">
              <a:lnSpc>
                <a:spcPct val="150000"/>
              </a:lnSpc>
            </a:pPr>
            <a:r>
              <a:rPr lang="en-US" sz="1600" dirty="0">
                <a:latin typeface="Times New Roman" pitchFamily="18" charset="0"/>
                <a:cs typeface="Times New Roman" pitchFamily="18" charset="0"/>
              </a:rPr>
              <a:t>Step 4: Model Training</a:t>
            </a:r>
          </a:p>
          <a:p>
            <a:pPr marL="742950" lvl="1" indent="-285750" algn="just">
              <a:lnSpc>
                <a:spcPct val="150000"/>
              </a:lnSpc>
              <a:buFont typeface="Arial" pitchFamily="34" charset="0"/>
              <a:buChar char="•"/>
            </a:pPr>
            <a:r>
              <a:rPr lang="en-US" sz="1600" dirty="0">
                <a:latin typeface="Times New Roman" pitchFamily="18" charset="0"/>
                <a:cs typeface="Times New Roman" pitchFamily="18" charset="0"/>
              </a:rPr>
              <a:t>Choose a regression algorithm for contextual correlation modeling. Train the chosen regression model using the training set and selected features. Store the trained contextual correlation model.</a:t>
            </a:r>
          </a:p>
          <a:p>
            <a:pPr lvl="1" algn="just">
              <a:lnSpc>
                <a:spcPct val="150000"/>
              </a:lnSpc>
            </a:pPr>
            <a:endParaRPr lang="en-IN" sz="1400" b="1" dirty="0">
              <a:latin typeface="Times New Roman" pitchFamily="18" charset="0"/>
              <a:cs typeface="Times New Roman" pitchFamily="18" charset="0"/>
            </a:endParaRPr>
          </a:p>
          <a:p>
            <a:pPr>
              <a:lnSpc>
                <a:spcPct val="150000"/>
              </a:lnSpc>
            </a:pPr>
            <a:r>
              <a:rPr lang="en-IN" sz="1600" dirty="0">
                <a:latin typeface="Times New Roman" pitchFamily="18" charset="0"/>
                <a:cs typeface="Times New Roman" pitchFamily="18" charset="0"/>
              </a:rPr>
              <a:t>Step 5: Model Evaluation </a:t>
            </a:r>
          </a:p>
          <a:p>
            <a:pPr marL="742950" lvl="1" indent="-285750">
              <a:lnSpc>
                <a:spcPct val="150000"/>
              </a:lnSpc>
              <a:buFont typeface="Arial" pitchFamily="34" charset="0"/>
              <a:buChar char="•"/>
            </a:pPr>
            <a:r>
              <a:rPr lang="en-US" sz="1600" dirty="0">
                <a:latin typeface="Times New Roman" pitchFamily="18" charset="0"/>
                <a:cs typeface="Times New Roman" pitchFamily="18" charset="0"/>
              </a:rPr>
              <a:t>Extract the selected features from the test set. Use the trained contextual correlation model to predict the expected behavior of DNS server requests. Calculate evaluation metrics by comparing the predicted behavior with the actual DNS server requests. </a:t>
            </a:r>
          </a:p>
        </p:txBody>
      </p:sp>
      <p:sp>
        <p:nvSpPr>
          <p:cNvPr id="7" name="Footer Placeholder 3"/>
          <p:cNvSpPr>
            <a:spLocks noGrp="1"/>
          </p:cNvSpPr>
          <p:nvPr>
            <p:ph type="ftr" sz="quarter" idx="11"/>
          </p:nvPr>
        </p:nvSpPr>
        <p:spPr>
          <a:xfrm>
            <a:off x="3124200" y="6356350"/>
            <a:ext cx="2895600" cy="365125"/>
          </a:xfrm>
        </p:spPr>
        <p:txBody>
          <a:bodyPr/>
          <a:lstStyle/>
          <a:p>
            <a:r>
              <a:rPr lang="en-US"/>
              <a:t>DEPARTMENT OF COMPUTER SCIENCE AND ENGINEERING – CYBER SECURITY</a:t>
            </a:r>
            <a:endParaRPr lang="en-US" dirty="0"/>
          </a:p>
        </p:txBody>
      </p:sp>
      <p:sp>
        <p:nvSpPr>
          <p:cNvPr id="8" name="Date Placeholder 7">
            <a:extLst>
              <a:ext uri="{FF2B5EF4-FFF2-40B4-BE49-F238E27FC236}">
                <a16:creationId xmlns:a16="http://schemas.microsoft.com/office/drawing/2014/main" xmlns="" id="{604F6F41-4FC1-6587-4B7C-67D3FDC9904B}"/>
              </a:ext>
            </a:extLst>
          </p:cNvPr>
          <p:cNvSpPr>
            <a:spLocks noGrp="1"/>
          </p:cNvSpPr>
          <p:nvPr>
            <p:ph type="dt" sz="half" idx="10"/>
          </p:nvPr>
        </p:nvSpPr>
        <p:spPr/>
        <p:txBody>
          <a:bodyPr/>
          <a:lstStyle/>
          <a:p>
            <a:r>
              <a:rPr lang="en-US" dirty="0"/>
              <a:t>Date : </a:t>
            </a:r>
            <a:fld id="{2CEC9AD6-8F3A-4409-AC30-BCF482901F50}" type="datetime1">
              <a:rPr lang="en-US" smtClean="0"/>
              <a:t>5/13/2024</a:t>
            </a:fld>
            <a:endParaRPr lang="en-US" dirty="0"/>
          </a:p>
        </p:txBody>
      </p:sp>
      <p:sp>
        <p:nvSpPr>
          <p:cNvPr id="9" name="Slide Number Placeholder 8">
            <a:extLst>
              <a:ext uri="{FF2B5EF4-FFF2-40B4-BE49-F238E27FC236}">
                <a16:creationId xmlns:a16="http://schemas.microsoft.com/office/drawing/2014/main" xmlns="" id="{CE5F2E8F-D8BC-1F89-834F-9D20F8DC4BFA}"/>
              </a:ext>
            </a:extLst>
          </p:cNvPr>
          <p:cNvSpPr>
            <a:spLocks noGrp="1"/>
          </p:cNvSpPr>
          <p:nvPr>
            <p:ph type="sldNum" sz="quarter" idx="12"/>
          </p:nvPr>
        </p:nvSpPr>
        <p:spPr/>
        <p:txBody>
          <a:bodyPr/>
          <a:lstStyle/>
          <a:p>
            <a:r>
              <a:rPr lang="en-US" dirty="0"/>
              <a:t>Slide Number: </a:t>
            </a:r>
            <a:fld id="{BECDEB80-DBCE-406A-80BF-FEBEE692EE79}" type="slidenum">
              <a:rPr lang="en-US" smtClean="0"/>
              <a:t>27</a:t>
            </a:fld>
            <a:endParaRPr lang="en-US" dirty="0"/>
          </a:p>
        </p:txBody>
      </p:sp>
    </p:spTree>
    <p:extLst>
      <p:ext uri="{BB962C8B-B14F-4D97-AF65-F5344CB8AC3E}">
        <p14:creationId xmlns:p14="http://schemas.microsoft.com/office/powerpoint/2010/main" val="293685445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latin typeface="Times New Roman" pitchFamily="18" charset="0"/>
                <a:cs typeface="Times New Roman" pitchFamily="18" charset="0"/>
              </a:rPr>
              <a:t>Implementation</a:t>
            </a:r>
          </a:p>
        </p:txBody>
      </p:sp>
      <p:sp>
        <p:nvSpPr>
          <p:cNvPr id="3" name="Rectangle 2"/>
          <p:cNvSpPr/>
          <p:nvPr/>
        </p:nvSpPr>
        <p:spPr>
          <a:xfrm>
            <a:off x="838200" y="1371600"/>
            <a:ext cx="7696200" cy="4849404"/>
          </a:xfrm>
          <a:prstGeom prst="rect">
            <a:avLst/>
          </a:prstGeom>
        </p:spPr>
        <p:txBody>
          <a:bodyPr wrap="square">
            <a:spAutoFit/>
          </a:bodyPr>
          <a:lstStyle/>
          <a:p>
            <a:pPr>
              <a:lnSpc>
                <a:spcPct val="150000"/>
              </a:lnSpc>
            </a:pPr>
            <a:r>
              <a:rPr lang="en-US" sz="1600" dirty="0">
                <a:latin typeface="Times New Roman" pitchFamily="18" charset="0"/>
                <a:cs typeface="Times New Roman" pitchFamily="18" charset="0"/>
              </a:rPr>
              <a:t>Step 6: Network Traffic Anomaly Detection</a:t>
            </a:r>
            <a:r>
              <a:rPr lang="en-US" sz="1600" b="1" dirty="0">
                <a:latin typeface="Times New Roman" pitchFamily="18" charset="0"/>
                <a:cs typeface="Times New Roman" pitchFamily="18" charset="0"/>
              </a:rPr>
              <a:t> </a:t>
            </a:r>
          </a:p>
          <a:p>
            <a:pPr marL="800100" lvl="1" indent="-342900">
              <a:lnSpc>
                <a:spcPct val="150000"/>
              </a:lnSpc>
              <a:buFont typeface="Arial" pitchFamily="34" charset="0"/>
              <a:buChar char="•"/>
            </a:pPr>
            <a:r>
              <a:rPr lang="en-US" sz="1600" dirty="0">
                <a:latin typeface="Times New Roman" pitchFamily="18" charset="0"/>
                <a:cs typeface="Times New Roman" pitchFamily="18" charset="0"/>
              </a:rPr>
              <a:t>Preprocess the new data using the same normalization and scaling techniques as in Step 1. Extract the selected features from the preprocessed new data. Use the trained Random Forest model to identify anomalies in the network traffic features. Use the trained contextual correlation model to verify if the identified anomalies align with expected behavior. If anomalies are detected and verified, take appropriate actions . </a:t>
            </a:r>
            <a:endParaRPr lang="en-IN" sz="1600" dirty="0">
              <a:latin typeface="Times New Roman" pitchFamily="18" charset="0"/>
              <a:cs typeface="Times New Roman" pitchFamily="18" charset="0"/>
            </a:endParaRPr>
          </a:p>
          <a:p>
            <a:pPr>
              <a:lnSpc>
                <a:spcPct val="150000"/>
              </a:lnSpc>
            </a:pPr>
            <a:endParaRPr lang="en-US" sz="900" dirty="0">
              <a:latin typeface="Times New Roman" pitchFamily="18" charset="0"/>
              <a:cs typeface="Times New Roman" pitchFamily="18" charset="0"/>
            </a:endParaRPr>
          </a:p>
          <a:p>
            <a:pPr>
              <a:lnSpc>
                <a:spcPct val="150000"/>
              </a:lnSpc>
            </a:pPr>
            <a:r>
              <a:rPr lang="en-US" sz="1600" dirty="0">
                <a:latin typeface="Times New Roman" pitchFamily="18" charset="0"/>
                <a:cs typeface="Times New Roman" pitchFamily="18" charset="0"/>
              </a:rPr>
              <a:t>Step 7: Model Retraining</a:t>
            </a:r>
          </a:p>
          <a:p>
            <a:pPr marL="742950" lvl="1" indent="-285750">
              <a:lnSpc>
                <a:spcPct val="150000"/>
              </a:lnSpc>
              <a:buFont typeface="Arial" pitchFamily="34" charset="0"/>
              <a:buChar char="•"/>
            </a:pPr>
            <a:r>
              <a:rPr lang="en-US" sz="1600" dirty="0">
                <a:latin typeface="Times New Roman" pitchFamily="18" charset="0"/>
                <a:cs typeface="Times New Roman" pitchFamily="18" charset="0"/>
              </a:rPr>
              <a:t>Obtain a new dataset containing the latest network traffic data. Repeat Steps 1 to 4 using the new dataset to retrain the models. Evaluate the retrained models on a separate test set (repeat Step 5). Deploy the retrained models for network traffic anomaly detection (repeat Step 6).</a:t>
            </a:r>
            <a:endParaRPr lang="en-IN" sz="1600" dirty="0">
              <a:latin typeface="Times New Roman" pitchFamily="18" charset="0"/>
              <a:cs typeface="Times New Roman" pitchFamily="18" charset="0"/>
            </a:endParaRPr>
          </a:p>
        </p:txBody>
      </p:sp>
      <p:sp>
        <p:nvSpPr>
          <p:cNvPr id="7" name="Footer Placeholder 3"/>
          <p:cNvSpPr>
            <a:spLocks noGrp="1"/>
          </p:cNvSpPr>
          <p:nvPr>
            <p:ph type="ftr" sz="quarter" idx="11"/>
          </p:nvPr>
        </p:nvSpPr>
        <p:spPr>
          <a:xfrm>
            <a:off x="3124200" y="6356350"/>
            <a:ext cx="2895600" cy="365125"/>
          </a:xfrm>
        </p:spPr>
        <p:txBody>
          <a:bodyPr/>
          <a:lstStyle/>
          <a:p>
            <a:r>
              <a:rPr lang="en-US"/>
              <a:t>DEPARTMENT OF COMPUTER SCIENCE AND ENGINEERING – CYBER SECURITY</a:t>
            </a:r>
            <a:endParaRPr lang="en-US" dirty="0"/>
          </a:p>
        </p:txBody>
      </p:sp>
      <p:sp>
        <p:nvSpPr>
          <p:cNvPr id="8" name="Date Placeholder 7">
            <a:extLst>
              <a:ext uri="{FF2B5EF4-FFF2-40B4-BE49-F238E27FC236}">
                <a16:creationId xmlns:a16="http://schemas.microsoft.com/office/drawing/2014/main" xmlns="" id="{3621EAA5-8562-2678-03F7-D402484C4963}"/>
              </a:ext>
            </a:extLst>
          </p:cNvPr>
          <p:cNvSpPr>
            <a:spLocks noGrp="1"/>
          </p:cNvSpPr>
          <p:nvPr>
            <p:ph type="dt" sz="half" idx="10"/>
          </p:nvPr>
        </p:nvSpPr>
        <p:spPr/>
        <p:txBody>
          <a:bodyPr/>
          <a:lstStyle/>
          <a:p>
            <a:r>
              <a:rPr lang="en-US" dirty="0"/>
              <a:t>Date : </a:t>
            </a:r>
            <a:fld id="{ED278DD2-7EA1-4907-B1A5-808FDE4DC3A7}" type="datetime1">
              <a:rPr lang="en-US" smtClean="0"/>
              <a:t>5/13/2024</a:t>
            </a:fld>
            <a:endParaRPr lang="en-US" dirty="0"/>
          </a:p>
        </p:txBody>
      </p:sp>
      <p:sp>
        <p:nvSpPr>
          <p:cNvPr id="9" name="Slide Number Placeholder 8">
            <a:extLst>
              <a:ext uri="{FF2B5EF4-FFF2-40B4-BE49-F238E27FC236}">
                <a16:creationId xmlns:a16="http://schemas.microsoft.com/office/drawing/2014/main" xmlns="" id="{D8990351-AB41-4C9C-C7A3-F762F5774D15}"/>
              </a:ext>
            </a:extLst>
          </p:cNvPr>
          <p:cNvSpPr>
            <a:spLocks noGrp="1"/>
          </p:cNvSpPr>
          <p:nvPr>
            <p:ph type="sldNum" sz="quarter" idx="12"/>
          </p:nvPr>
        </p:nvSpPr>
        <p:spPr/>
        <p:txBody>
          <a:bodyPr/>
          <a:lstStyle/>
          <a:p>
            <a:r>
              <a:rPr lang="en-US" dirty="0"/>
              <a:t>Slide Number: </a:t>
            </a:r>
            <a:fld id="{BECDEB80-DBCE-406A-80BF-FEBEE692EE79}" type="slidenum">
              <a:rPr lang="en-US" smtClean="0"/>
              <a:t>28</a:t>
            </a:fld>
            <a:endParaRPr lang="en-US" dirty="0"/>
          </a:p>
        </p:txBody>
      </p:sp>
    </p:spTree>
    <p:extLst>
      <p:ext uri="{BB962C8B-B14F-4D97-AF65-F5344CB8AC3E}">
        <p14:creationId xmlns:p14="http://schemas.microsoft.com/office/powerpoint/2010/main" val="342531065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87362"/>
          </a:xfrm>
        </p:spPr>
        <p:txBody>
          <a:bodyPr>
            <a:normAutofit fontScale="90000"/>
          </a:bodyPr>
          <a:lstStyle/>
          <a:p>
            <a:r>
              <a:rPr lang="en-IN" b="1" dirty="0">
                <a:latin typeface="Times New Roman" pitchFamily="18" charset="0"/>
                <a:cs typeface="Times New Roman" pitchFamily="18" charset="0"/>
              </a:rPr>
              <a:t>Implementation</a:t>
            </a:r>
          </a:p>
        </p:txBody>
      </p:sp>
      <p:sp>
        <p:nvSpPr>
          <p:cNvPr id="7" name="Footer Placeholder 3"/>
          <p:cNvSpPr>
            <a:spLocks noGrp="1"/>
          </p:cNvSpPr>
          <p:nvPr>
            <p:ph type="ftr" sz="quarter" idx="11"/>
          </p:nvPr>
        </p:nvSpPr>
        <p:spPr>
          <a:xfrm>
            <a:off x="3124200" y="6356350"/>
            <a:ext cx="2895600" cy="365125"/>
          </a:xfrm>
        </p:spPr>
        <p:txBody>
          <a:bodyPr/>
          <a:lstStyle/>
          <a:p>
            <a:r>
              <a:rPr lang="en-US"/>
              <a:t>DEPARTMENT OF COMPUTER SCIENCE AND ENGINEERING – CYBER SECURITY</a:t>
            </a:r>
            <a:endParaRPr lang="en-US" dirty="0"/>
          </a:p>
        </p:txBody>
      </p:sp>
      <p:sp>
        <p:nvSpPr>
          <p:cNvPr id="8" name="Date Placeholder 7">
            <a:extLst>
              <a:ext uri="{FF2B5EF4-FFF2-40B4-BE49-F238E27FC236}">
                <a16:creationId xmlns:a16="http://schemas.microsoft.com/office/drawing/2014/main" xmlns="" id="{3621EAA5-8562-2678-03F7-D402484C4963}"/>
              </a:ext>
            </a:extLst>
          </p:cNvPr>
          <p:cNvSpPr>
            <a:spLocks noGrp="1"/>
          </p:cNvSpPr>
          <p:nvPr>
            <p:ph type="dt" sz="half" idx="10"/>
          </p:nvPr>
        </p:nvSpPr>
        <p:spPr/>
        <p:txBody>
          <a:bodyPr/>
          <a:lstStyle/>
          <a:p>
            <a:r>
              <a:rPr lang="en-US" dirty="0"/>
              <a:t>Date : </a:t>
            </a:r>
            <a:fld id="{ED278DD2-7EA1-4907-B1A5-808FDE4DC3A7}" type="datetime1">
              <a:rPr lang="en-US" smtClean="0"/>
              <a:t>5/13/2024</a:t>
            </a:fld>
            <a:endParaRPr lang="en-US" dirty="0"/>
          </a:p>
        </p:txBody>
      </p:sp>
      <p:sp>
        <p:nvSpPr>
          <p:cNvPr id="9" name="Slide Number Placeholder 8">
            <a:extLst>
              <a:ext uri="{FF2B5EF4-FFF2-40B4-BE49-F238E27FC236}">
                <a16:creationId xmlns:a16="http://schemas.microsoft.com/office/drawing/2014/main" xmlns="" id="{D8990351-AB41-4C9C-C7A3-F762F5774D15}"/>
              </a:ext>
            </a:extLst>
          </p:cNvPr>
          <p:cNvSpPr>
            <a:spLocks noGrp="1"/>
          </p:cNvSpPr>
          <p:nvPr>
            <p:ph type="sldNum" sz="quarter" idx="12"/>
          </p:nvPr>
        </p:nvSpPr>
        <p:spPr/>
        <p:txBody>
          <a:bodyPr/>
          <a:lstStyle/>
          <a:p>
            <a:r>
              <a:rPr lang="en-US" dirty="0"/>
              <a:t>Slide Number: </a:t>
            </a:r>
            <a:fld id="{BECDEB80-DBCE-406A-80BF-FEBEE692EE79}" type="slidenum">
              <a:rPr lang="en-US" smtClean="0"/>
              <a:t>29</a:t>
            </a:fld>
            <a:endParaRPr lang="en-US" dirty="0"/>
          </a:p>
        </p:txBody>
      </p:sp>
      <p:pic>
        <p:nvPicPr>
          <p:cNvPr id="5" name="Picture 4">
            <a:extLst>
              <a:ext uri="{FF2B5EF4-FFF2-40B4-BE49-F238E27FC236}">
                <a16:creationId xmlns:a16="http://schemas.microsoft.com/office/drawing/2014/main" xmlns="" id="{7D96C642-FED1-0BD7-2B43-0512035C1FE2}"/>
              </a:ext>
            </a:extLst>
          </p:cNvPr>
          <p:cNvPicPr>
            <a:picLocks noChangeAspect="1"/>
          </p:cNvPicPr>
          <p:nvPr/>
        </p:nvPicPr>
        <p:blipFill>
          <a:blip r:embed="rId2"/>
          <a:stretch>
            <a:fillRect/>
          </a:stretch>
        </p:blipFill>
        <p:spPr>
          <a:xfrm>
            <a:off x="2121764" y="1792748"/>
            <a:ext cx="4900472" cy="2308954"/>
          </a:xfrm>
          <a:prstGeom prst="rect">
            <a:avLst/>
          </a:prstGeom>
        </p:spPr>
      </p:pic>
      <p:sp>
        <p:nvSpPr>
          <p:cNvPr id="6" name="Rectangle 5">
            <a:extLst>
              <a:ext uri="{FF2B5EF4-FFF2-40B4-BE49-F238E27FC236}">
                <a16:creationId xmlns:a16="http://schemas.microsoft.com/office/drawing/2014/main" xmlns="" id="{8507B5B0-DAAF-A4B2-5687-961382D3182D}"/>
              </a:ext>
            </a:extLst>
          </p:cNvPr>
          <p:cNvSpPr/>
          <p:nvPr/>
        </p:nvSpPr>
        <p:spPr>
          <a:xfrm>
            <a:off x="3956686" y="4230335"/>
            <a:ext cx="2063114" cy="276999"/>
          </a:xfrm>
          <a:prstGeom prst="rect">
            <a:avLst/>
          </a:prstGeom>
        </p:spPr>
        <p:txBody>
          <a:bodyPr wrap="square">
            <a:spAutoFit/>
          </a:bodyPr>
          <a:lstStyle/>
          <a:p>
            <a:r>
              <a:rPr lang="en-US" sz="1200" dirty="0">
                <a:latin typeface="Times New Roman" panose="02020603050405020304" pitchFamily="18" charset="0"/>
                <a:cs typeface="Times New Roman" pitchFamily="18" charset="0"/>
              </a:rPr>
              <a:t>Figure 2 Data set </a:t>
            </a:r>
            <a:endParaRPr lang="en-IN" sz="1200" dirty="0">
              <a:latin typeface="Times New Roman" pitchFamily="18" charset="0"/>
              <a:cs typeface="Times New Roman" pitchFamily="18" charset="0"/>
            </a:endParaRPr>
          </a:p>
        </p:txBody>
      </p:sp>
      <p:sp>
        <p:nvSpPr>
          <p:cNvPr id="11" name="TextBox 10">
            <a:extLst>
              <a:ext uri="{FF2B5EF4-FFF2-40B4-BE49-F238E27FC236}">
                <a16:creationId xmlns:a16="http://schemas.microsoft.com/office/drawing/2014/main" xmlns="" id="{CD841C66-FD32-2D33-55F8-90F60B83B710}"/>
              </a:ext>
            </a:extLst>
          </p:cNvPr>
          <p:cNvSpPr txBox="1"/>
          <p:nvPr/>
        </p:nvSpPr>
        <p:spPr>
          <a:xfrm>
            <a:off x="1140143" y="4764600"/>
            <a:ext cx="7696200" cy="1077218"/>
          </a:xfrm>
          <a:prstGeom prst="rect">
            <a:avLst/>
          </a:prstGeom>
          <a:noFill/>
        </p:spPr>
        <p:txBody>
          <a:bodyPr wrap="square">
            <a:spAutoFit/>
          </a:bodyPr>
          <a:lstStyle/>
          <a:p>
            <a:pPr algn="just"/>
            <a:r>
              <a:rPr lang="en-US" sz="1600" dirty="0">
                <a:latin typeface="Times New Roman" panose="02020603050405020304" pitchFamily="18" charset="0"/>
                <a:cs typeface="Times New Roman" panose="02020603050405020304" pitchFamily="18" charset="0"/>
              </a:rPr>
              <a:t>Source IP Address: The source IP address refers to the numerical label assigned to devices (such as computers or servers) within a network that originates the data packets. It identifies the sender or originator of the network traffic. </a:t>
            </a:r>
          </a:p>
          <a:p>
            <a:pPr algn="just"/>
            <a:endParaRPr lang="en-US" sz="1600" dirty="0">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xmlns="" id="{94832E09-B011-8E93-F22F-27D14059038D}"/>
              </a:ext>
            </a:extLst>
          </p:cNvPr>
          <p:cNvSpPr txBox="1"/>
          <p:nvPr/>
        </p:nvSpPr>
        <p:spPr>
          <a:xfrm>
            <a:off x="1140142" y="1219200"/>
            <a:ext cx="2746057"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Data set:</a:t>
            </a:r>
            <a:endParaRPr lang="en-IN"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9096515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33400"/>
            <a:ext cx="8229600" cy="487362"/>
          </a:xfrm>
        </p:spPr>
        <p:txBody>
          <a:bodyPr>
            <a:normAutofit fontScale="90000"/>
          </a:bodyPr>
          <a:lstStyle/>
          <a:p>
            <a:r>
              <a:rPr lang="en-IN" b="1" dirty="0">
                <a:latin typeface="Times New Roman" pitchFamily="18" charset="0"/>
                <a:cs typeface="Times New Roman" pitchFamily="18" charset="0"/>
              </a:rPr>
              <a:t>Implementation</a:t>
            </a:r>
          </a:p>
        </p:txBody>
      </p:sp>
      <p:sp>
        <p:nvSpPr>
          <p:cNvPr id="7" name="Footer Placeholder 3"/>
          <p:cNvSpPr>
            <a:spLocks noGrp="1"/>
          </p:cNvSpPr>
          <p:nvPr>
            <p:ph type="ftr" sz="quarter" idx="11"/>
          </p:nvPr>
        </p:nvSpPr>
        <p:spPr>
          <a:xfrm>
            <a:off x="3124200" y="6356350"/>
            <a:ext cx="2895600" cy="365125"/>
          </a:xfrm>
        </p:spPr>
        <p:txBody>
          <a:bodyPr/>
          <a:lstStyle/>
          <a:p>
            <a:r>
              <a:rPr lang="en-US"/>
              <a:t>DEPARTMENT OF COMPUTER SCIENCE AND ENGINEERING – CYBER SECURITY</a:t>
            </a:r>
            <a:endParaRPr lang="en-US" dirty="0"/>
          </a:p>
        </p:txBody>
      </p:sp>
      <p:sp>
        <p:nvSpPr>
          <p:cNvPr id="8" name="Date Placeholder 7">
            <a:extLst>
              <a:ext uri="{FF2B5EF4-FFF2-40B4-BE49-F238E27FC236}">
                <a16:creationId xmlns:a16="http://schemas.microsoft.com/office/drawing/2014/main" xmlns="" id="{3621EAA5-8562-2678-03F7-D402484C4963}"/>
              </a:ext>
            </a:extLst>
          </p:cNvPr>
          <p:cNvSpPr>
            <a:spLocks noGrp="1"/>
          </p:cNvSpPr>
          <p:nvPr>
            <p:ph type="dt" sz="half" idx="10"/>
          </p:nvPr>
        </p:nvSpPr>
        <p:spPr/>
        <p:txBody>
          <a:bodyPr/>
          <a:lstStyle/>
          <a:p>
            <a:r>
              <a:rPr lang="en-US" dirty="0"/>
              <a:t>Date : </a:t>
            </a:r>
            <a:fld id="{ED278DD2-7EA1-4907-B1A5-808FDE4DC3A7}" type="datetime1">
              <a:rPr lang="en-US" smtClean="0"/>
              <a:t>5/13/2024</a:t>
            </a:fld>
            <a:endParaRPr lang="en-US" dirty="0"/>
          </a:p>
        </p:txBody>
      </p:sp>
      <p:sp>
        <p:nvSpPr>
          <p:cNvPr id="9" name="Slide Number Placeholder 8">
            <a:extLst>
              <a:ext uri="{FF2B5EF4-FFF2-40B4-BE49-F238E27FC236}">
                <a16:creationId xmlns:a16="http://schemas.microsoft.com/office/drawing/2014/main" xmlns="" id="{D8990351-AB41-4C9C-C7A3-F762F5774D15}"/>
              </a:ext>
            </a:extLst>
          </p:cNvPr>
          <p:cNvSpPr>
            <a:spLocks noGrp="1"/>
          </p:cNvSpPr>
          <p:nvPr>
            <p:ph type="sldNum" sz="quarter" idx="12"/>
          </p:nvPr>
        </p:nvSpPr>
        <p:spPr/>
        <p:txBody>
          <a:bodyPr/>
          <a:lstStyle/>
          <a:p>
            <a:r>
              <a:rPr lang="en-US" dirty="0"/>
              <a:t>Slide Number: </a:t>
            </a:r>
            <a:fld id="{BECDEB80-DBCE-406A-80BF-FEBEE692EE79}" type="slidenum">
              <a:rPr lang="en-US" smtClean="0"/>
              <a:t>30</a:t>
            </a:fld>
            <a:endParaRPr lang="en-US" dirty="0"/>
          </a:p>
        </p:txBody>
      </p:sp>
      <p:sp>
        <p:nvSpPr>
          <p:cNvPr id="10" name="TextBox 9">
            <a:extLst>
              <a:ext uri="{FF2B5EF4-FFF2-40B4-BE49-F238E27FC236}">
                <a16:creationId xmlns:a16="http://schemas.microsoft.com/office/drawing/2014/main" xmlns="" id="{9CFEA3A6-2C43-29D6-0723-34443C1714A5}"/>
              </a:ext>
            </a:extLst>
          </p:cNvPr>
          <p:cNvSpPr txBox="1"/>
          <p:nvPr/>
        </p:nvSpPr>
        <p:spPr>
          <a:xfrm>
            <a:off x="990600" y="1447800"/>
            <a:ext cx="7543800" cy="4278094"/>
          </a:xfrm>
          <a:prstGeom prst="rect">
            <a:avLst/>
          </a:prstGeom>
          <a:noFill/>
        </p:spPr>
        <p:txBody>
          <a:bodyPr wrap="square">
            <a:spAutoFit/>
          </a:bodyPr>
          <a:lstStyle/>
          <a:p>
            <a:pPr algn="just"/>
            <a:r>
              <a:rPr lang="en-US" sz="1600" dirty="0">
                <a:latin typeface="Times New Roman" panose="02020603050405020304" pitchFamily="18" charset="0"/>
                <a:cs typeface="Times New Roman" panose="02020603050405020304" pitchFamily="18" charset="0"/>
              </a:rPr>
              <a:t>Destination IP Address: The destination IP address represents the numerical label assigned to devices within a network that receives the data packets. It identifies the intended recipient or destination of the network traffic.</a:t>
            </a:r>
            <a:endParaRPr lang="en-IN" sz="1600" dirty="0">
              <a:latin typeface="Times New Roman" panose="02020603050405020304" pitchFamily="18" charset="0"/>
              <a:cs typeface="Times New Roman" panose="02020603050405020304" pitchFamily="18" charset="0"/>
            </a:endParaRPr>
          </a:p>
          <a:p>
            <a:pPr algn="just"/>
            <a:endParaRPr lang="en-US" sz="1600" b="1" dirty="0">
              <a:latin typeface="Times New Roman" panose="02020603050405020304" pitchFamily="18" charset="0"/>
              <a:cs typeface="Times New Roman" panose="02020603050405020304" pitchFamily="18" charset="0"/>
            </a:endParaRPr>
          </a:p>
          <a:p>
            <a:pPr algn="just"/>
            <a:r>
              <a:rPr lang="en-US" sz="1600" dirty="0">
                <a:latin typeface="Times New Roman" panose="02020603050405020304" pitchFamily="18" charset="0"/>
                <a:cs typeface="Times New Roman" panose="02020603050405020304" pitchFamily="18" charset="0"/>
              </a:rPr>
              <a:t>Source Port: The source port is a numeric identifier associated with the application or service on the sending device that generates the network traffic. It helps in distinguishing between different communication channels or processes on the sender's end.</a:t>
            </a:r>
          </a:p>
          <a:p>
            <a:pPr algn="just"/>
            <a:endParaRPr lang="en-US" sz="1600" dirty="0">
              <a:latin typeface="Times New Roman" panose="02020603050405020304" pitchFamily="18" charset="0"/>
              <a:cs typeface="Times New Roman" panose="02020603050405020304" pitchFamily="18" charset="0"/>
            </a:endParaRPr>
          </a:p>
          <a:p>
            <a:pPr algn="just"/>
            <a:r>
              <a:rPr lang="en-US" sz="1600" dirty="0">
                <a:latin typeface="Times New Roman" panose="02020603050405020304" pitchFamily="18" charset="0"/>
                <a:cs typeface="Times New Roman" panose="02020603050405020304" pitchFamily="18" charset="0"/>
              </a:rPr>
              <a:t> Destination Port: The destination port is a numeric identifier associated with the application or service on the receiving device that listens for incoming network traffic. It assists in routing the data packets to the appropriate application or service on the recipient's end.</a:t>
            </a:r>
          </a:p>
          <a:p>
            <a:pPr algn="just"/>
            <a:endParaRPr lang="en-US" sz="1600" dirty="0">
              <a:latin typeface="Times New Roman" panose="02020603050405020304" pitchFamily="18" charset="0"/>
              <a:cs typeface="Times New Roman" panose="02020603050405020304" pitchFamily="18" charset="0"/>
            </a:endParaRPr>
          </a:p>
          <a:p>
            <a:pPr algn="just"/>
            <a:r>
              <a:rPr lang="en-US" sz="1600" dirty="0">
                <a:latin typeface="Times New Roman" panose="02020603050405020304" pitchFamily="18" charset="0"/>
                <a:cs typeface="Times New Roman" panose="02020603050405020304" pitchFamily="18" charset="0"/>
              </a:rPr>
              <a:t> Timestamp: The timestamp indicates the date and time when the network traffic occurred. It provides temporal information about when the data packets were transmitted or received, which is crucial for analyzing traffic patterns and identifying anomalies over time. </a:t>
            </a:r>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4637735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82142"/>
            <a:ext cx="8229600" cy="563563"/>
          </a:xfrm>
        </p:spPr>
        <p:txBody>
          <a:bodyPr>
            <a:noAutofit/>
          </a:bodyPr>
          <a:lstStyle/>
          <a:p>
            <a:r>
              <a:rPr lang="en-IN" b="1" dirty="0">
                <a:latin typeface="Times New Roman" pitchFamily="18" charset="0"/>
                <a:cs typeface="Times New Roman" pitchFamily="18" charset="0"/>
              </a:rPr>
              <a:t>Results and Discussion</a:t>
            </a:r>
          </a:p>
        </p:txBody>
      </p:sp>
      <p:sp>
        <p:nvSpPr>
          <p:cNvPr id="3" name="Content Placeholder 2"/>
          <p:cNvSpPr>
            <a:spLocks noGrp="1"/>
          </p:cNvSpPr>
          <p:nvPr>
            <p:ph idx="1"/>
          </p:nvPr>
        </p:nvSpPr>
        <p:spPr>
          <a:xfrm>
            <a:off x="838200" y="1219200"/>
            <a:ext cx="7696200" cy="5137150"/>
          </a:xfrm>
        </p:spPr>
        <p:txBody>
          <a:bodyPr>
            <a:noAutofit/>
          </a:bodyPr>
          <a:lstStyle/>
          <a:p>
            <a:pPr algn="just"/>
            <a:r>
              <a:rPr lang="en-US" sz="1600" dirty="0">
                <a:latin typeface="Times New Roman" pitchFamily="18" charset="0"/>
                <a:cs typeface="Times New Roman" pitchFamily="18" charset="0"/>
              </a:rPr>
              <a:t>The Combination of Random Forest and Context Correlation algorithm is developed successfully for the proposed system.</a:t>
            </a:r>
          </a:p>
          <a:p>
            <a:pPr marL="0" indent="0" algn="just">
              <a:buNone/>
            </a:pPr>
            <a:endParaRPr lang="en-US" sz="1600" dirty="0">
              <a:latin typeface="Times New Roman" pitchFamily="18" charset="0"/>
              <a:cs typeface="Times New Roman" pitchFamily="18" charset="0"/>
            </a:endParaRPr>
          </a:p>
          <a:p>
            <a:pPr algn="just"/>
            <a:r>
              <a:rPr lang="en-US" sz="1600" dirty="0">
                <a:latin typeface="Times New Roman" pitchFamily="18" charset="0"/>
                <a:cs typeface="Times New Roman" pitchFamily="18" charset="0"/>
              </a:rPr>
              <a:t>In Data preprocessing the DNS data traffic is successfully filtered and splitted to train and work on the anomaly detection.</a:t>
            </a:r>
          </a:p>
          <a:p>
            <a:pPr marL="0" indent="0" algn="just">
              <a:buNone/>
            </a:pPr>
            <a:endParaRPr lang="en-US" sz="1600" dirty="0">
              <a:latin typeface="Times New Roman" pitchFamily="18" charset="0"/>
              <a:cs typeface="Times New Roman" pitchFamily="18" charset="0"/>
            </a:endParaRPr>
          </a:p>
          <a:p>
            <a:pPr algn="just"/>
            <a:r>
              <a:rPr lang="en-US" sz="1600" dirty="0">
                <a:latin typeface="Times New Roman" pitchFamily="18" charset="0"/>
                <a:cs typeface="Times New Roman" pitchFamily="18" charset="0"/>
              </a:rPr>
              <a:t>The Random Forest and Context correlation algorithms have processed the data and are able to identify and correlate the similarities from the traffic.</a:t>
            </a:r>
          </a:p>
          <a:p>
            <a:pPr marL="0" indent="0" algn="just">
              <a:buNone/>
            </a:pPr>
            <a:endParaRPr lang="en-US" sz="1600" dirty="0">
              <a:latin typeface="Times New Roman" pitchFamily="18" charset="0"/>
              <a:cs typeface="Times New Roman" pitchFamily="18" charset="0"/>
            </a:endParaRPr>
          </a:p>
          <a:p>
            <a:pPr algn="just"/>
            <a:r>
              <a:rPr lang="en-US" sz="1600" dirty="0">
                <a:latin typeface="Times New Roman" pitchFamily="18" charset="0"/>
                <a:cs typeface="Times New Roman" pitchFamily="18" charset="0"/>
              </a:rPr>
              <a:t>The proposed model is able to segregate the DNS Traffic into Malicious and Non – malicious traffic successfully.</a:t>
            </a:r>
          </a:p>
          <a:p>
            <a:pPr marL="0" indent="0" algn="just">
              <a:buNone/>
            </a:pPr>
            <a:endParaRPr lang="en-US" sz="1600" dirty="0">
              <a:latin typeface="Times New Roman" pitchFamily="18" charset="0"/>
              <a:cs typeface="Times New Roman" pitchFamily="18" charset="0"/>
            </a:endParaRPr>
          </a:p>
          <a:p>
            <a:pPr algn="just"/>
            <a:r>
              <a:rPr lang="en-US" sz="1600" dirty="0">
                <a:latin typeface="Times New Roman" pitchFamily="18" charset="0"/>
                <a:cs typeface="Times New Roman" pitchFamily="18" charset="0"/>
              </a:rPr>
              <a:t>The analysis shows that the training loss score values are high during the first three training epochs.</a:t>
            </a:r>
          </a:p>
          <a:p>
            <a:pPr algn="just"/>
            <a:endParaRPr lang="en-US" sz="1600" dirty="0">
              <a:latin typeface="Times New Roman" pitchFamily="18" charset="0"/>
              <a:cs typeface="Times New Roman" pitchFamily="18" charset="0"/>
            </a:endParaRPr>
          </a:p>
          <a:p>
            <a:pPr algn="just"/>
            <a:r>
              <a:rPr lang="en-US" sz="1600" dirty="0">
                <a:latin typeface="Times New Roman" pitchFamily="18" charset="0"/>
                <a:cs typeface="Times New Roman" pitchFamily="18" charset="0"/>
              </a:rPr>
              <a:t>With the increase in the number of epochs, the loss scores are decreased, and the accuracy scores are increased.</a:t>
            </a:r>
          </a:p>
          <a:p>
            <a:pPr algn="just"/>
            <a:endParaRPr lang="en-US" sz="1600" dirty="0">
              <a:latin typeface="Times New Roman" pitchFamily="18" charset="0"/>
              <a:cs typeface="Times New Roman" pitchFamily="18" charset="0"/>
            </a:endParaRPr>
          </a:p>
          <a:p>
            <a:pPr marL="0" indent="0" algn="just">
              <a:buNone/>
            </a:pPr>
            <a:endParaRPr lang="en-US" sz="1600" dirty="0">
              <a:latin typeface="Times New Roman" pitchFamily="18" charset="0"/>
              <a:cs typeface="Times New Roman" pitchFamily="18" charset="0"/>
            </a:endParaRPr>
          </a:p>
        </p:txBody>
      </p:sp>
      <p:sp>
        <p:nvSpPr>
          <p:cNvPr id="4" name="Footer Placeholder 3"/>
          <p:cNvSpPr>
            <a:spLocks noGrp="1"/>
          </p:cNvSpPr>
          <p:nvPr>
            <p:ph type="ftr" sz="quarter" idx="11"/>
          </p:nvPr>
        </p:nvSpPr>
        <p:spPr/>
        <p:txBody>
          <a:bodyPr/>
          <a:lstStyle/>
          <a:p>
            <a:r>
              <a:rPr lang="en-US"/>
              <a:t>DEPARTMENT OF COMPUTER SCIENCE AND ENGINEERING – CYBER SECURITY</a:t>
            </a:r>
            <a:endParaRPr lang="en-US" dirty="0"/>
          </a:p>
        </p:txBody>
      </p:sp>
      <p:sp>
        <p:nvSpPr>
          <p:cNvPr id="8" name="Date Placeholder 7">
            <a:extLst>
              <a:ext uri="{FF2B5EF4-FFF2-40B4-BE49-F238E27FC236}">
                <a16:creationId xmlns:a16="http://schemas.microsoft.com/office/drawing/2014/main" xmlns="" id="{D0D26AFD-FAF3-CACC-7CC3-408F135C4A6F}"/>
              </a:ext>
            </a:extLst>
          </p:cNvPr>
          <p:cNvSpPr>
            <a:spLocks noGrp="1"/>
          </p:cNvSpPr>
          <p:nvPr>
            <p:ph type="dt" sz="half" idx="10"/>
          </p:nvPr>
        </p:nvSpPr>
        <p:spPr>
          <a:xfrm>
            <a:off x="457200" y="6356350"/>
            <a:ext cx="2133600" cy="365125"/>
          </a:xfrm>
        </p:spPr>
        <p:txBody>
          <a:bodyPr/>
          <a:lstStyle/>
          <a:p>
            <a:r>
              <a:rPr lang="en-US" dirty="0"/>
              <a:t>Date : </a:t>
            </a:r>
            <a:fld id="{E53FB423-E045-462D-8121-E1B209A8BA0F}" type="datetime1">
              <a:rPr lang="en-US" smtClean="0"/>
              <a:t>5/13/2024</a:t>
            </a:fld>
            <a:endParaRPr lang="en-US" dirty="0"/>
          </a:p>
        </p:txBody>
      </p:sp>
      <p:sp>
        <p:nvSpPr>
          <p:cNvPr id="9" name="Slide Number Placeholder 8">
            <a:extLst>
              <a:ext uri="{FF2B5EF4-FFF2-40B4-BE49-F238E27FC236}">
                <a16:creationId xmlns:a16="http://schemas.microsoft.com/office/drawing/2014/main" xmlns="" id="{6E1D91E9-9FEC-442E-CC78-409636607256}"/>
              </a:ext>
            </a:extLst>
          </p:cNvPr>
          <p:cNvSpPr>
            <a:spLocks noGrp="1"/>
          </p:cNvSpPr>
          <p:nvPr>
            <p:ph type="sldNum" sz="quarter" idx="12"/>
          </p:nvPr>
        </p:nvSpPr>
        <p:spPr/>
        <p:txBody>
          <a:bodyPr/>
          <a:lstStyle/>
          <a:p>
            <a:r>
              <a:rPr lang="en-US" dirty="0"/>
              <a:t>Slide Number: </a:t>
            </a:r>
            <a:fld id="{BECDEB80-DBCE-406A-80BF-FEBEE692EE79}" type="slidenum">
              <a:rPr lang="en-US" smtClean="0"/>
              <a:t>31</a:t>
            </a:fld>
            <a:endParaRPr lang="en-US" dirty="0"/>
          </a:p>
        </p:txBody>
      </p:sp>
    </p:spTree>
    <p:extLst>
      <p:ext uri="{BB962C8B-B14F-4D97-AF65-F5344CB8AC3E}">
        <p14:creationId xmlns:p14="http://schemas.microsoft.com/office/powerpoint/2010/main" val="386631892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838200"/>
          </a:xfrm>
        </p:spPr>
        <p:txBody>
          <a:bodyPr/>
          <a:lstStyle/>
          <a:p>
            <a:r>
              <a:rPr lang="en-IN" b="1" dirty="0">
                <a:latin typeface="Times New Roman" pitchFamily="18" charset="0"/>
                <a:cs typeface="Times New Roman" pitchFamily="18" charset="0"/>
              </a:rPr>
              <a:t>Results and Discussion</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1018309"/>
                <a:ext cx="8229600" cy="5060950"/>
              </a:xfrm>
            </p:spPr>
            <p:txBody>
              <a:bodyPr>
                <a:noAutofit/>
              </a:bodyPr>
              <a:lstStyle/>
              <a:p>
                <a:pPr algn="just"/>
                <a:r>
                  <a:rPr lang="en-US" sz="1600" dirty="0">
                    <a:latin typeface="Times New Roman" panose="02020603050405020304" pitchFamily="18" charset="0"/>
                    <a:cs typeface="Times New Roman" pitchFamily="18" charset="0"/>
                  </a:rPr>
                  <a:t>This is because as the model is trained by different datasets it is gathering the info of malicious traffic, and learning to locate them further then on.</a:t>
                </a:r>
              </a:p>
              <a:p>
                <a:pPr algn="just"/>
                <a:endParaRPr lang="en-US" sz="1050" dirty="0">
                  <a:latin typeface="Times New Roman" panose="02020603050405020304" pitchFamily="18" charset="0"/>
                  <a:cs typeface="Times New Roman" pitchFamily="18" charset="0"/>
                </a:endParaRPr>
              </a:p>
              <a:p>
                <a:pPr algn="just"/>
                <a:r>
                  <a:rPr lang="en-US" sz="1600" dirty="0">
                    <a:latin typeface="Times New Roman" panose="02020603050405020304" pitchFamily="18" charset="0"/>
                    <a:cs typeface="Times New Roman" pitchFamily="18" charset="0"/>
                  </a:rPr>
                  <a:t>The analysis concludes that the proposed model achieved above 80% accuracy at the final epoch. </a:t>
                </a:r>
              </a:p>
              <a:p>
                <a:pPr marL="0" indent="0" algn="just">
                  <a:buNone/>
                </a:pPr>
                <a:endParaRPr lang="en-US" sz="1100" dirty="0">
                  <a:latin typeface="Times New Roman" panose="02020603050405020304" pitchFamily="18" charset="0"/>
                  <a:cs typeface="Times New Roman" pitchFamily="18" charset="0"/>
                </a:endParaRPr>
              </a:p>
              <a:p>
                <a:pPr algn="just"/>
                <a:r>
                  <a:rPr lang="en-US" sz="1600" dirty="0">
                    <a:latin typeface="Times New Roman" panose="02020603050405020304" pitchFamily="18" charset="0"/>
                    <a:cs typeface="Times New Roman" pitchFamily="18" charset="0"/>
                  </a:rPr>
                  <a:t>The following metrics are used to evaluate the performance.</a:t>
                </a:r>
              </a:p>
              <a:p>
                <a:pPr lvl="1" algn="just">
                  <a:lnSpc>
                    <a:spcPct val="150000"/>
                  </a:lnSpc>
                  <a:buFont typeface="Wingdings" panose="05000000000000000000" pitchFamily="2" charset="2"/>
                  <a:buChar char="Ø"/>
                </a:pPr>
                <a:r>
                  <a:rPr lang="en-US" sz="1600" b="1" dirty="0">
                    <a:latin typeface="Times New Roman" panose="02020603050405020304" pitchFamily="18" charset="0"/>
                    <a:cs typeface="Times New Roman" pitchFamily="18" charset="0"/>
                  </a:rPr>
                  <a:t>Accuracy: </a:t>
                </a:r>
                <a:r>
                  <a:rPr lang="en-US" sz="1600" dirty="0">
                    <a:latin typeface="Times New Roman" panose="02020603050405020304" pitchFamily="18" charset="0"/>
                    <a:cs typeface="Times New Roman" pitchFamily="18" charset="0"/>
                  </a:rPr>
                  <a:t>It is defined as the number of correct predictions made by the model divided by the total number of predictions. Mathematically represented as </a:t>
                </a:r>
                <a:r>
                  <a:rPr lang="en-IN" sz="1600" i="1" dirty="0">
                    <a:latin typeface="Times New Roman" panose="02020603050405020304" pitchFamily="18" charset="0"/>
                    <a:cs typeface="Times New Roman" pitchFamily="18" charset="0"/>
                  </a:rPr>
                  <a:t>	</a:t>
                </a:r>
              </a:p>
              <a:p>
                <a:pPr marL="457200" lvl="1" indent="0" algn="just">
                  <a:lnSpc>
                    <a:spcPct val="150000"/>
                  </a:lnSpc>
                  <a:buNone/>
                </a:pPr>
                <a:r>
                  <a:rPr lang="en-IN" sz="1600" i="1" dirty="0">
                    <a:latin typeface="Times New Roman" panose="02020603050405020304" pitchFamily="18" charset="0"/>
                    <a:cs typeface="Times New Roman" pitchFamily="18" charset="0"/>
                  </a:rPr>
                  <a:t>                          Accuracy = </a:t>
                </a:r>
                <a14:m>
                  <m:oMath xmlns:m="http://schemas.openxmlformats.org/officeDocument/2006/math">
                    <m:f>
                      <m:fPr>
                        <m:ctrlPr>
                          <a:rPr lang="en-IN" sz="1600" i="1" dirty="0">
                            <a:latin typeface="Cambria Math"/>
                            <a:cs typeface="Times New Roman" pitchFamily="18" charset="0"/>
                          </a:rPr>
                        </m:ctrlPr>
                      </m:fPr>
                      <m:num>
                        <m:r>
                          <a:rPr lang="en-IN" sz="1600" i="1" dirty="0">
                            <a:latin typeface="Cambria Math"/>
                            <a:cs typeface="Times New Roman" pitchFamily="18" charset="0"/>
                          </a:rPr>
                          <m:t>𝑇𝑃</m:t>
                        </m:r>
                        <m:r>
                          <a:rPr lang="en-US" sz="1600" b="0" i="1" dirty="0" smtClean="0">
                            <a:latin typeface="Cambria Math"/>
                            <a:cs typeface="Times New Roman" pitchFamily="18" charset="0"/>
                          </a:rPr>
                          <m:t>+</m:t>
                        </m:r>
                        <m:r>
                          <a:rPr lang="en-US" sz="1600" b="0" i="1" dirty="0" smtClean="0">
                            <a:latin typeface="Cambria Math"/>
                            <a:cs typeface="Times New Roman" pitchFamily="18" charset="0"/>
                          </a:rPr>
                          <m:t>𝑇𝑁</m:t>
                        </m:r>
                      </m:num>
                      <m:den>
                        <m:r>
                          <a:rPr lang="en-IN" sz="1600" i="1" dirty="0">
                            <a:latin typeface="Cambria Math"/>
                            <a:cs typeface="Times New Roman" pitchFamily="18" charset="0"/>
                          </a:rPr>
                          <m:t>𝑇𝑃</m:t>
                        </m:r>
                        <m:r>
                          <a:rPr lang="en-IN" sz="1600" i="1" dirty="0">
                            <a:latin typeface="Cambria Math"/>
                            <a:cs typeface="Times New Roman" pitchFamily="18" charset="0"/>
                          </a:rPr>
                          <m:t> +</m:t>
                        </m:r>
                        <m:r>
                          <a:rPr lang="en-US" sz="1600" b="0" i="1" dirty="0" smtClean="0">
                            <a:latin typeface="Cambria Math"/>
                            <a:cs typeface="Times New Roman" pitchFamily="18" charset="0"/>
                          </a:rPr>
                          <m:t>𝑇𝑁</m:t>
                        </m:r>
                        <m:r>
                          <a:rPr lang="en-US" sz="1600" b="0" i="1" dirty="0" smtClean="0">
                            <a:latin typeface="Cambria Math"/>
                            <a:cs typeface="Times New Roman" pitchFamily="18" charset="0"/>
                          </a:rPr>
                          <m:t>+</m:t>
                        </m:r>
                        <m:r>
                          <a:rPr lang="en-US" sz="1600" i="1" dirty="0">
                            <a:latin typeface="Cambria Math"/>
                            <a:cs typeface="Times New Roman" pitchFamily="18" charset="0"/>
                          </a:rPr>
                          <m:t>𝐹𝑃</m:t>
                        </m:r>
                        <m:r>
                          <a:rPr lang="en-US" sz="1600" b="0" i="1" dirty="0" smtClean="0">
                            <a:latin typeface="Cambria Math"/>
                            <a:cs typeface="Times New Roman" pitchFamily="18" charset="0"/>
                          </a:rPr>
                          <m:t>+</m:t>
                        </m:r>
                        <m:r>
                          <a:rPr lang="en-US" sz="1600" b="0" i="1" dirty="0" smtClean="0">
                            <a:latin typeface="Cambria Math"/>
                            <a:cs typeface="Times New Roman" pitchFamily="18" charset="0"/>
                          </a:rPr>
                          <m:t>𝐹𝑁</m:t>
                        </m:r>
                      </m:den>
                    </m:f>
                  </m:oMath>
                </a14:m>
                <a:r>
                  <a:rPr lang="en-IN" sz="1600" i="1" dirty="0">
                    <a:latin typeface="Times New Roman" panose="02020603050405020304" pitchFamily="18" charset="0"/>
                    <a:cs typeface="Times New Roman" pitchFamily="18" charset="0"/>
                  </a:rPr>
                  <a:t>     ...................................................</a:t>
                </a:r>
                <a:r>
                  <a:rPr lang="en-IN" sz="1600" dirty="0">
                    <a:latin typeface="Times New Roman" panose="02020603050405020304" pitchFamily="18" charset="0"/>
                    <a:cs typeface="Times New Roman" pitchFamily="18" charset="0"/>
                  </a:rPr>
                  <a:t>(1)</a:t>
                </a:r>
              </a:p>
              <a:p>
                <a:pPr lvl="1" algn="just">
                  <a:lnSpc>
                    <a:spcPct val="150000"/>
                  </a:lnSpc>
                  <a:buFont typeface="Wingdings" panose="05000000000000000000" pitchFamily="2" charset="2"/>
                  <a:buChar char="Ø"/>
                </a:pPr>
                <a:r>
                  <a:rPr lang="en-US" sz="1600" b="1" dirty="0">
                    <a:latin typeface="Times New Roman" panose="02020603050405020304" pitchFamily="18" charset="0"/>
                    <a:cs typeface="Times New Roman" pitchFamily="18" charset="0"/>
                  </a:rPr>
                  <a:t>Precision:</a:t>
                </a:r>
                <a:r>
                  <a:rPr lang="en-US" sz="1600" dirty="0">
                    <a:latin typeface="Times New Roman" panose="02020603050405020304" pitchFamily="18" charset="0"/>
                    <a:cs typeface="Times New Roman" pitchFamily="18" charset="0"/>
                  </a:rPr>
                  <a:t> This metric is used to measure the precision of a classifier, and it is defined as the number of true positive predictions made by the model divided by the total number of positive predictions </a:t>
                </a:r>
              </a:p>
              <a:p>
                <a:pPr marL="0" indent="0" algn="just">
                  <a:lnSpc>
                    <a:spcPct val="150000"/>
                  </a:lnSpc>
                  <a:buNone/>
                </a:pPr>
                <a:r>
                  <a:rPr lang="en-IN" sz="1600" i="1" dirty="0">
                    <a:latin typeface="Times New Roman" panose="02020603050405020304" pitchFamily="18" charset="0"/>
                    <a:cs typeface="Times New Roman" pitchFamily="18" charset="0"/>
                  </a:rPr>
                  <a:t>	                Precision = </a:t>
                </a:r>
                <a14:m>
                  <m:oMath xmlns:m="http://schemas.openxmlformats.org/officeDocument/2006/math">
                    <m:f>
                      <m:fPr>
                        <m:ctrlPr>
                          <a:rPr lang="en-IN" sz="1600" i="1" dirty="0">
                            <a:latin typeface="Cambria Math"/>
                            <a:cs typeface="Times New Roman" pitchFamily="18" charset="0"/>
                          </a:rPr>
                        </m:ctrlPr>
                      </m:fPr>
                      <m:num>
                        <m:r>
                          <a:rPr lang="en-IN" sz="1600" i="1" dirty="0">
                            <a:latin typeface="Cambria Math"/>
                            <a:cs typeface="Times New Roman" pitchFamily="18" charset="0"/>
                          </a:rPr>
                          <m:t>𝑇𝑃</m:t>
                        </m:r>
                      </m:num>
                      <m:den>
                        <m:r>
                          <a:rPr lang="en-IN" sz="1600" i="1" dirty="0">
                            <a:latin typeface="Cambria Math"/>
                            <a:cs typeface="Times New Roman" pitchFamily="18" charset="0"/>
                          </a:rPr>
                          <m:t>𝑇𝑃</m:t>
                        </m:r>
                        <m:r>
                          <a:rPr lang="en-IN" sz="1600" i="1" dirty="0">
                            <a:latin typeface="Cambria Math"/>
                            <a:cs typeface="Times New Roman" pitchFamily="18" charset="0"/>
                          </a:rPr>
                          <m:t> +</m:t>
                        </m:r>
                        <m:r>
                          <a:rPr lang="en-US" sz="1600" b="0" i="1" dirty="0" smtClean="0">
                            <a:latin typeface="Cambria Math"/>
                            <a:cs typeface="Times New Roman" pitchFamily="18" charset="0"/>
                          </a:rPr>
                          <m:t>𝐹𝑃</m:t>
                        </m:r>
                      </m:den>
                    </m:f>
                    <m:r>
                      <a:rPr lang="en-US" sz="1600" b="0" i="1" dirty="0" smtClean="0">
                        <a:latin typeface="Cambria Math"/>
                        <a:cs typeface="Times New Roman" pitchFamily="18" charset="0"/>
                      </a:rPr>
                      <m:t> </m:t>
                    </m:r>
                    <m:r>
                      <a:rPr lang="en-US" sz="1600" b="0" i="1" dirty="0" smtClean="0">
                        <a:latin typeface="Cambria Math" panose="02040503050406030204" pitchFamily="18" charset="0"/>
                        <a:cs typeface="Times New Roman" pitchFamily="18" charset="0"/>
                      </a:rPr>
                      <m:t> </m:t>
                    </m:r>
                  </m:oMath>
                </a14:m>
                <a:r>
                  <a:rPr lang="en-IN" sz="1600" dirty="0">
                    <a:latin typeface="Times New Roman" panose="02020603050405020304" pitchFamily="18" charset="0"/>
                    <a:cs typeface="Times New Roman" pitchFamily="18" charset="0"/>
                  </a:rPr>
                  <a:t>.....................................................................(2)</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57200" y="1018309"/>
                <a:ext cx="8229600" cy="5060950"/>
              </a:xfrm>
              <a:blipFill>
                <a:blip r:embed="rId2"/>
                <a:stretch>
                  <a:fillRect l="-296" t="-361" r="-370"/>
                </a:stretch>
              </a:blipFill>
            </p:spPr>
            <p:txBody>
              <a:bodyPr/>
              <a:lstStyle/>
              <a:p>
                <a:r>
                  <a:rPr lang="en-IN">
                    <a:noFill/>
                  </a:rPr>
                  <a:t> </a:t>
                </a:r>
              </a:p>
            </p:txBody>
          </p:sp>
        </mc:Fallback>
      </mc:AlternateContent>
      <p:sp>
        <p:nvSpPr>
          <p:cNvPr id="6" name="Footer Placeholder 3"/>
          <p:cNvSpPr>
            <a:spLocks noGrp="1"/>
          </p:cNvSpPr>
          <p:nvPr>
            <p:ph type="ftr" sz="quarter" idx="11"/>
          </p:nvPr>
        </p:nvSpPr>
        <p:spPr>
          <a:xfrm>
            <a:off x="3124200" y="6356350"/>
            <a:ext cx="2895600" cy="365125"/>
          </a:xfrm>
        </p:spPr>
        <p:txBody>
          <a:bodyPr/>
          <a:lstStyle/>
          <a:p>
            <a:r>
              <a:rPr lang="en-US"/>
              <a:t>DEPARTMENT OF COMPUTER SCIENCE AND ENGINEERING – CYBER SECURITY</a:t>
            </a:r>
            <a:endParaRPr lang="en-US" dirty="0"/>
          </a:p>
        </p:txBody>
      </p:sp>
      <p:sp>
        <p:nvSpPr>
          <p:cNvPr id="8" name="Date Placeholder 7">
            <a:extLst>
              <a:ext uri="{FF2B5EF4-FFF2-40B4-BE49-F238E27FC236}">
                <a16:creationId xmlns:a16="http://schemas.microsoft.com/office/drawing/2014/main" xmlns="" id="{081819B0-F785-E0CC-5345-78DB27A08AC2}"/>
              </a:ext>
            </a:extLst>
          </p:cNvPr>
          <p:cNvSpPr>
            <a:spLocks noGrp="1"/>
          </p:cNvSpPr>
          <p:nvPr>
            <p:ph type="dt" sz="half" idx="10"/>
          </p:nvPr>
        </p:nvSpPr>
        <p:spPr/>
        <p:txBody>
          <a:bodyPr/>
          <a:lstStyle/>
          <a:p>
            <a:r>
              <a:rPr lang="en-US" dirty="0"/>
              <a:t>Date : </a:t>
            </a:r>
            <a:fld id="{086A6445-2189-435B-8244-86CC06962BE0}" type="datetime1">
              <a:rPr lang="en-US" smtClean="0"/>
              <a:t>5/13/2024</a:t>
            </a:fld>
            <a:endParaRPr lang="en-US" dirty="0"/>
          </a:p>
        </p:txBody>
      </p:sp>
      <p:sp>
        <p:nvSpPr>
          <p:cNvPr id="9" name="Slide Number Placeholder 8">
            <a:extLst>
              <a:ext uri="{FF2B5EF4-FFF2-40B4-BE49-F238E27FC236}">
                <a16:creationId xmlns:a16="http://schemas.microsoft.com/office/drawing/2014/main" xmlns="" id="{AA7623A2-FD4F-A427-6FED-2A006D38F1EC}"/>
              </a:ext>
            </a:extLst>
          </p:cNvPr>
          <p:cNvSpPr>
            <a:spLocks noGrp="1"/>
          </p:cNvSpPr>
          <p:nvPr>
            <p:ph type="sldNum" sz="quarter" idx="12"/>
          </p:nvPr>
        </p:nvSpPr>
        <p:spPr/>
        <p:txBody>
          <a:bodyPr/>
          <a:lstStyle/>
          <a:p>
            <a:r>
              <a:rPr lang="en-US" dirty="0"/>
              <a:t>Slide Number: </a:t>
            </a:r>
            <a:fld id="{BECDEB80-DBCE-406A-80BF-FEBEE692EE79}" type="slidenum">
              <a:rPr lang="en-US" smtClean="0"/>
              <a:t>32</a:t>
            </a:fld>
            <a:endParaRPr lang="en-US" dirty="0"/>
          </a:p>
        </p:txBody>
      </p:sp>
    </p:spTree>
    <p:extLst>
      <p:ext uri="{BB962C8B-B14F-4D97-AF65-F5344CB8AC3E}">
        <p14:creationId xmlns:p14="http://schemas.microsoft.com/office/powerpoint/2010/main" val="280772752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2564" y="92524"/>
            <a:ext cx="8229600" cy="728281"/>
          </a:xfrm>
        </p:spPr>
        <p:txBody>
          <a:bodyPr>
            <a:noAutofit/>
          </a:bodyPr>
          <a:lstStyle/>
          <a:p>
            <a:r>
              <a:rPr lang="en-IN" b="1" dirty="0">
                <a:latin typeface="Times New Roman" pitchFamily="18" charset="0"/>
                <a:cs typeface="Times New Roman" pitchFamily="18" charset="0"/>
              </a:rPr>
              <a:t>Results and Discussion</a:t>
            </a:r>
          </a:p>
        </p:txBody>
      </p:sp>
      <p:sp>
        <p:nvSpPr>
          <p:cNvPr id="6" name="Footer Placeholder 3"/>
          <p:cNvSpPr>
            <a:spLocks noGrp="1"/>
          </p:cNvSpPr>
          <p:nvPr>
            <p:ph type="ftr" sz="quarter" idx="11"/>
          </p:nvPr>
        </p:nvSpPr>
        <p:spPr/>
        <p:txBody>
          <a:bodyPr/>
          <a:lstStyle/>
          <a:p>
            <a:r>
              <a:rPr lang="en-US"/>
              <a:t>DEPARTMENT OF COMPUTER SCIENCE AND ENGINEERING – CYBER SECURITY</a:t>
            </a:r>
            <a:endParaRPr lang="en-US" dirty="0"/>
          </a:p>
        </p:txBody>
      </p:sp>
      <p:sp>
        <p:nvSpPr>
          <p:cNvPr id="5" name="AutoShape 2" descr="data:image/png;base64,iVBORw0KGgoAAAANSUhEUgAABLAAAALmCAYAAABSJm0fAAAAAXNSR0IArs4c6QAAIABJREFUeF7s3QvYHdOh//H1Jogg2oioRkmKNKgKjVYiKUJIKy6pSxKXukbd24M/RzmnqFa1Pa3jGnEvcUtdUqQqBAlB0xJxUCl1Cy3iHkRI8v6f39L1dt6V2Xtm9p6991y+8zyelncuaz5r7dkzv73Wmrb29vZ2w4IAAggggAACCCCAAAIIIIAAAggggEBGBdoIsDJaMxQLAQQQQAABBBBAAAEEEEAAAQQQQMAKEGDREBBAAAEEEEAAAQQQQAABBBBAAAEEMi1AgJXp6qFwDRPQwNm2hu2dHSOAAAIIIIAAAggggAACCCCAQIoCBFgpYrIrBBBAAAEEEEAAAQQQQAABBBBAAIH0BQiw0jdljwgggAACCCCAAAIIIIAAAggggAACKQoQYKWIya4QQACBZggwArYZyhwDAQQQQAABBBBAAAEEsiRAgJWl2qAsCCCAAAIIIIAAAggggAACCCCAAALLCRBg0SgQQAABBIotQJe1YtcvZ4cAAggggAACCCBQCgECrFJUMyeJAAIIIIAAAggggAACCCCAAAII5FeAACu/dUfJEUAAAQQQQAABBBBAAAEEEEAAgVIIEGCVopo5SQQQQAABBBBAAAEEEEAAAQQQQCC/AgRY+a07So4AAggggAACCCCAAAIIIIAAAgiUQoAAqxTVzEkigAACCCCAAAIIIIAAAggggAAC+RUgwMpv3VFyBBBAAAEEEGiEAG+ubIQq+0QAAQQQQAABBOoSIMCqi4+NEUAAAQQQQAABBBBAAAEEEEAAAQQaLUCA1Whh9o8AAggggAACCCCAAAIIIIAAAgggUJcAAVZdfGyMAAIIIIAAAggggAACCCCAAAIIINBoAQKsRguzfwQQQAABBBBAAAEEEEAAAQQQQACBugQIsOriY2MEEEAAAQQQQAABBBBAAAEEEEAAgUYLEGA1Wpj9I4AAAhECvPCMJoIAAggggAACCCCAAAIIVBcgwKKFIIAAAggggAACCCCAAAIIIIAAAghkWoAAK9PVQ+EQQAABBIIC9FajPSCAAAIIIIAAAgggUE4BAqxy1jtnjQACCCCAAAIIIIAAAggggAACCORGgAArN1VFQREoiwB9bMpS05wnAggggAACCCCAAAIIIBBXgAArrhTrIYAAAggggAACCCCAAAIIIIAAAgi0RIAAqyXsHBQBBCRAXyvaAQIFEuADXaDK5FQQQAABBBBAAIHsCRBgZa9OKBECCCCAAAIIIIAAAggggAACCCCAQECAAIvmgAACCCCAAAIIIIAAAggggAACCCCQaQECrExXD4VDAAEEEEAAAQQQQAABBBBAAAEEECDAog0ggAACCCCAAAIIIIAAAggggAACCGRagAAr09VD4RBAAAEEEEAAAQQQQAABBBBAAAEECLBoA4US4CVYhapOTgYBBBBAAAEEEEAAAQQQQAABK0CARUNAAAEEEGicAKly42zZMwIIIIAAAggggAACJRIgwCpRZXOqCCCAAAIIIIAAAggggAACCCCAQB4FCLDyWGuUGQEEEEAAAQQQQAABBBBAAAEEECiRAAFWiSqbU0UAAQQQQAABBBBAAAEEEEAAAQTyKECAlcdao8wIIIAAAggggAACCCCAAAIIIIBAiQQIsEpU2ZwqAggggAACCCCAAAIIIIAAAgggkEcBAqw81hplRgABBBBAAAEEEEAAAQQQQAABBEokkOsA65lnnjG//e1vzdKlS22VrbTSSubQQw81X/7yl0tUhZxqXgU+/vhjc8UVV5gXX3wxlVPYaaedzIgRI1LZl9vJO++8Y+bMmWOefPJJo///4Ycfdux/1VVXNT179jSbbrqp2WKLLez/Z8mfQK3tcIUVVjBqA2uvvbb52te+Zv/p3r17/gBSKvF7771nLrzwQvPuu+/aPTbi8+gXtRXHTImL3SQQ8D+jAwcONPvtt1+CPSy/6v/93/+Za665pqZ9BD/7m2yyidlss83stYClusA999xjpk2bZlf6/Oc/b44++mjzuc99rtNG1157rZk7d679b/369TOHHHKIWXnllaFFAAEEEEAAgX8J5DbAam9vNzfffLOZPXt2p8r85je/afbcc0/T1tZGJSOQaYFag4NKJ5XmA/Prr79upkyZYp5//nmjz1rUos/bl770JbPXXnuZL37xi1Gr8/cMCaTVDldccUUzfPhws+222xr9/7ItrQiTWnHMstVrFs43awGWb6LPu75/vvWtb5kuXbpkgSyTZSDAymS1UCgEEEAAgZwJ5DbAevPNN83EiRONbuCDi37NOvzww82aa66Zs6qguGUTSCs4cG5pBVjqbTV58mSj8iVd9Mv8t7/9bfsgQ4icVK8166fdDtUjY+zYsaXrjdWKMKkVx2xNKy33UbMeYKl2dL3fcccdzQ477MC1v0JzJcAq9+eYs0cAAQQQSEcgtwHWo48+ah+y1TvkC1/4glm8eHHH0I1ddtnFbLPNNukIsRcEGiTgP5QodN1uu+1q7r2ink8azlXP8tJLL5krr7zSfPTRRx270S/q2reGM6iXlf592bJl5pVXXrHDH//5z3/af3eLQqwxY8aYzTffvJ6isG2TBGpthx988IHtoff3v/99ubBTD7IazlqmELMVYVIrjtmkZslhAgLNCLDUc3LYsGGR7pqyYf78+XZY+VNPPWWWLFnS6dq/zz772OHELMsLEGDRKhBAAAEEEKhfIJcB1qeffmofsp977jkroN4eCxcuNI8//rj9d+YNqL9hsIfGC/gPJa1ut2E9cQYMGGD22GOPqvNbaW6sW265xcybN68DbfXVV7c9IXv37t14SI5Ql0C97VDb/+53vzOaU8ct1H9dVcLGCHQSaEaAVUsPXl37r7vuOqMfPtyy4YYbmoMPPrjmH2KKXPUEWEWuXc4NAQQQQKBZArkMsP7xj3+YSy65xPYS0S/8BxxwgO0BMmnSJNsji8ncm9V8OE49AvUGB/UcO2xb9aTRpPIKiLX079/ffO9734s1gax+lb/xxhs7QmRtr95kO++8c9rFZH8pC6TRDhctWmRfqKEeWW6hJ2zKFcXuSiuQ1QBLFbJgwQI7ncP7779v60cTjo8fP96st956pa2vSidOgEWTQAABBBBAoH6BXAZYf/jDH8z9999vz15vPjvyyCPtsCbdROlmSguTudffONhDYwXSCA7SLGHw5lqT8urtRxtssEHsQ/gPMuuss4457LDDzCqrrBJ7H6zYfIG02uHTTz9t32rm3gqrubAUgHbt2rX5J8URESiQQJYDLDHrhTp/+tOfOsT33ntv841vfKNANZDOqRBgpePIXhBAAAEEyi2QuwBLva4uvfRS8+qrr9qa23TTTe3rpBVgBd9KyGTu5W7YeTj7tIKDtM41+PruSq/4rnYsBRcKMBRkaNFr1TWMsN55udI6P/YTLpBWO9SLNS6++OKOnhjqgaGeGLwCnpaHQH0CWQ+w/vznP9thxG6pZThifUL52JoAKx/1RCkRQACB8gjoTfNtuTvd3AVYwV/5NXxQk0UPGjTIwj/zzDN2GIvrAVDPEJYPP/zQPPHEE0Y3Zq+//nrHsCo9lGtC6yFDhhj1MIjbu6De/QXDhbhzJWlOGgUKWip16w+u4/ar4UB33XWXndNGw8l0zhpOprcLacJ8f9EE+qqXuXPnmpdfftnoXDWUU4t68ihM3GijjaxZkjmRtI833njD/rKr/b/77rt2qKjCSs2xo7k2NP+ZApLgZNHa7vrrr+8YzqYeQN///vdNnz59Yn1Agz38VF6FMDpe2ktawUFa5brjjjvMzJkzq7aXqGPpBv3ee++1bUZtbty4cUY9saotrv3os6ZgWu1PS/fu3U2vXr3M4MGDzcCBA023bt2iDm//rv2pLT7yyCPmrbfe6tif2qLa72abbWZ7B6iM1ZbgBNnu86PP/kMPPWQefPBB+wZU7VP/TcMldT0Ie4V8pfLUen6xEBKslFY79CcUDwtBgw9wqlP9+KCXAKjtvfDCC/barc/aV7/6VTN8+HB77fAXraPrwcMPP2y31fXGXWvUXvTygK222iqyfv396tqi69fs2bPNs88+a4M4XUv0UgKVQ2UaOnRoxfngkk6orvXV5tVW1U7dZNhqFzqe2qm+29TLuNKS9Jjaj85TL19QG9b/uuu12q7q7Ctf+Yq9VvvXVb8MfrtRbztN3q39q370OQl+nvV5+/KXv2xfsNK3b9+GTPDvvjPk+re//c26uiHR+o5QGXRe+vzrxy99fistYd+Nug7I/IEHHrCTmLvvJLURtb0tttjCbL311olCW/nrO27OnDkd7UD7Uzn1/aZ2oHPQ8G7Vlxb32UnwMV9u1eD56Y/1hE61BliaQ2vWrFl2Mni56jPg6kn3I5pUXv8bdl2tdu713m8F951mmyLAqqfFsi0CCCCAAAKfCeQqwPKDCT9c0IOvemfp7Wha9MY0DWHSA0HcRTeKM2bMMPfdd1/HjW+lbddYYw2jN+7oZrzSktb+mhVg6SZWb3fUjbm/+MMy9SCpoZwKLNxDQjVn3ZjqIV/DC6KGlenGdsqUKTaUdGFY2L4r7dMfzhQ3zPR7+OlBeM8994zbfBKtl1ZwkOigVVYOvtlTq+nhea+99ood0iYthx50H3vsMRteBN96GLYftReVRSFCpTfbJWmPenBVQKI3b1V6iPUDLIUtCk1cD7NgOcOCTp2fHnSnTZsW+fnQ+amNfv3rX0/8sJbU3V8/rXbohylhPbD8AEsP4rreqAz+4n9mdR3Qg+5NN90U2V7i1G/weArCVA7Xs7eSqR6kFe5obje/3cQNk9ROp06dagOe4Ns7w46p48nou9/9bmgoEveYbt8K5tRT+e23367abPQZ048Oo0ePrhighQVY+pFAk3rrLXWVliTfA0natn5ouuGGGyLr0O0z6priB1iamFzhZtTnOWq/7vhxrw+6tuiHOrWZrAZYSYcQ6nqvHlu6llb7fpeVfgDR+euHgqglrfstd5y02xQBVlQN8ncEEEAAAQSiBXIVYGmIiua50k27lrB5roK9Z9Q7Sr8KKzSJsygAU48l93bDONvoZlUPtuqh5C9p7q8ZAdaaa65pbyb1q7W/+BPj6yFMD5IKPZIu+oX/wAMPrBgcqBfEVVddZT744IPYu9avtJrMf7XVVrPbaFsNZ1IPLi1xe60Fe/E1+mUAaQUHsZEiVlSPk+A8cu4hdtdddzVqG2kuaj966FH76fQAU6Unq3ol6IFan/uwz5omkQ8Ll6qVW734dI0IC7n9AEs9ItwDpL9Pf8J6PUjdeuuty59flcLIW+GIvOP27EyjTtJqh2EvATjooIM6fc6DD3B6IFVPCTf5c/Bc/CHgethXUK7to0Kf4H507R87dmzVHzH09lo9TMcJ4d2+FSrpoToYYsUJk2q9bq6//vr2mum30zjHVJn1GVOY+sc//rGjp1ectqPrqeowbEJuv90o1FNPorDvj7BjRX0PxCmfW0dvwdObiaOCcH+fuqboe0Nhnb8EAyz9SKV/ZBgVuGg/1farv1e8/lU46R49etjg3n1WstQDy5/7MKrHs9ZXT3n33RynntXzTZ839ZqrtKR5v6VjNKJNEWDFqW3WQQABBBBAoLpArgIsDXm47bbb7BlVmmQ6+IZCrRd3MvewBwvdiKkLu4YbaFiLblx186WQLNgzSL+QqqeXhl+4Je39NSPAcmXXzaJ6P6gHjm6a1Tth3rx5djiDe2DTw6SGGbqbefVG23HHHe2DgBuapQdC/YKp9TScw61bLVhUzwD1ogs+BCk4GDFihB3aorJpv+pJoLYQ7Emw5ZZb2t5S7uE/GGbGeTOSyhecRy1u6FXrRSat4KDW44dtp4d59URxw5ncOqpfPTyoTay11lp1BSxynj59urn77rs7DTVV/enzpqE47mFNN/wanuJCC30mDz30ULPuuutW/aypnWq4l3rQqexa9PCnfek6EnzQrdTTzA8HtA+VS+XUw7raufapXmQbb7xxx/Ba93D6l7/8paOMKvf2229ve9PoWqL9uGEu+ny48ui/63Ok4bqVepqlWd/aVxrtUOesEEgWbgkbkhR8gHPr6bq5xx572M+32oZCQl3H1RacgX+9cfWra7Pai3oq6Tx0XVZIE7wuVOtJ6D+k6ngKi+SvwELH0X41nFzXk2A9jRw50tapW+KESSrf1Vdf3fH5Uu+SUaNG2d7Cbq6wSu0iOFw+yTG1rv+51nnKW+epz5KumTpPXadVR6+99lrHeclX32/uc+T+4Lcb7UPtQHWhnoTq4Vjts5z0B6ZK7V69hfWd4V7gouNrGKl6V7prldqVftTQsL/g5037VIit3lV+j7pggKV9ah/6Rw7f/va37Xddte+jSvvVMXUNuv322ztd/9Tedc3S9UGO+gyozenNnn5olpUAS58HhVEa/usW9ZLdf//9Q78j/LrSNvoM6Jqnz508da3X9796wet6Erz2q57Cerynfb/VqDZFgJX2txf7QwABBBAoo0BuAiyFFvqF1fWOqjQ80F8v7mTu/pAz3fjqF++wOZvCHsD9Hhhp769ZAZZ+OdbNZ7Vea35PnUoPOO4DFeYVNjTPD5D0kKWHTw2fCRvmpV9cdfOsG3wtfo8p9eS67LLLOoYn+XXkf+B10zphwgSj4Yta4g47rPXC4T8A1rofN/dMrdsHt4vTU0P1otBhwIABtp3oTYXV5pLxy+WHzOrloXPQ/Dhhi//w7V7c4IJK/V29r9zcd3rAVK+RSpPH+z0AdD4KPv2eXWEBltqt2mO1OVn8kELhlnoBVRo26z8Exglb06jrSkFE0uA2rM1U6oXhB1iqe73tUtfzSosCdAUUrkemHnh1jdJ1J2zRd4CCaBemqZ3IX6FGcPG/K1SnCsoVSoXVrx+u+98tUQGWPwReD+I690pD3PUQr/N2YZx6+f67R9tnXRWjjqnz1fXskksu6fhRQNf43XbbzYa7YSFpWO/BsFAi7Pqlete8d2E9mnT+6qGlnokukFGdaBh+PWGt5u3TMGQtcQJgvx4rvWzCnyNK+9d8VBoCHzYfn9rn5Zdf3jGEsdLn2K8PmakXmAIcf1F4o7Bfn5tgiNXKAEv1rnsAXXc1DDb4Y0DYDwzB+wDVveYm1KJ2qJBbc6JVup7qu12BrztGpWtT2vdbjWpTBFhpfnOxLwQQQACBsgrkJsDSL3y6Ofzkk09sXVWbcNSfUDQqiNCDrwIi/TqrpdpNWKWHPj1U6VdqbZv2/nTMZgVY1X41ducenCvJn0i/0gfJD73CbsD9IaIKRhQiVnuLmR9S6WZY9a0lbugZdl7NeINeFgMsZxF3TiD30KgwQfaaxDhqsvVgzzg9xOgBVpM/V1r83j3qoXDEEUfYYY1+HautKBTQg061xQ9FwgJxPxyIGhoT1uYUhOslABoCVG3xw4q4PUfT+OKqpQeWHqwXLlxow2M97CmUDD5ga+J9BX1+MOEHWFHn6YfaCrx0nY2aD0fhtia9Vg8rLWHXNf87xe/BGWbrh6UKM9QLTEtUmOQ7q4fSd77znapVqGBG11u1H10P9b0XDLyijqmdBx/G9e/q7aKgrlpopM+VfhxQjywtYcOpw65fUd+1/hyD9b6pstZ5L4MmcV5wIoM4L/Tw7z323Xff5YLTYE/ySuF5sFHo+qeAXm3PLY0IsOq9lkQN8/N/uKh0jfDLoSBavTvlENZrL+37rUa2KQKselsZ2yOAAAIIIJCjSdyDD71RD5J+EBI1mbv/+veohyrXcHQjql9H9ZYo/ZquX+71oJH2/nS8ZgVYGhoRHBYT9iHR25J0U6lhJnqYGj9+fORb+vyHnc69CT47SvDmP+7wEj1o6RdaBRJ6qNWwGA3DcL/oxhl2qmP7N8F+L59GXCyyHGDpfBUeqI4174t+4Y4zv0zU5Nn+A2ycwFRlUa8mPcTp86XPs4YH6Y2CfoAZ97Orffrz5SksDfYc8cMB9ZDQEJZqAZ28NI+YezNe1AN9sF0FJ0JW8KWQzs3p1oj25/aZVjt0+6s0X5P+HnyA08O7ep6od0+lxZ/LLkn9Bj/7YYF08K2bUd8prnwqj3pFyUwTlqtHjkJbLVFhku8c1QMrTp0nPWacEMYd1w/4/F6z/vkEg+VqZQ9+l4W9qTLOebt19MOIvoNVVgWqCgUVpEctwd5V+q7xP/va3u+BFfxxpNL+/euR/0Obvq80v6OGwGsJ/vBVrcx+XWQpwIoz4b/OLfh5jPt503b+NcBvh2nfbzWyTRFgRX0y+TsCCCCAAALRArnogeX33gkLP4Kn6v9qHxWG6M1WCkG0nW7GNDylWo+QKNa096fjNSPAivNAGXXulf4ep5eH3iDlhv0oFDzyyCM7zStWy7H9MLPSWwWDN8FptIE4ZfVN1KNIwxyTDMfTcTT0Ljj/WpxjJ11Hnw19DjUXmsIsPVDpl+pKi3qLaFigP2xObwhVAOC2refV7Tq2H3qGPYhWKqN656hXp3sDnl8WPxzQvD4aHlVtCZZHPRI0X1e1t5QG96UeFnqDm5ak2yatz+D6aQZYCq/U60RhRtgSfIBT+K3eVNWGD/oTw4f1aIlbv8FtFy9ebIeku+HHSYdNhh0zKkzSNv7b2hRUqt25+f2S1mPUMf2H+yRvVVW70BBshTJafKM41/SoNlBvgJXUy63vh1Nhw7DjrOMfP6o+/L/HrQ8/+G91gKXPrn4wUjkUQFf6vDsf/UCkF+S4l2wk6Xmn755JkybZQFGLv20j7rdqaVdx2gsBVi2ybIMAAggggEBngVwEWMH5DeIOWfPnRKjWoybpQ1VUI0p7fzpeMwKstOfe0a/Nmm9IdaGbTPWSchOyRj0MxentElUP+rs/70ylHgjBISVJeinEKUOldWp9AKznmGluq15GGmKkV8srDPInfg97y1jwJj+NwDTYiyZuDxBn4D9M+g+FUQ+jYZbB8tRrnebcZtXKUm+ApWGgCunU+0U96qrNDxbnAS5YVn9IVj2mwYCylnAy6thx2sv8+fNtaOr3ZnTzyikM0LxQ6pkT502UUcf0A8DgkMeo8/G/d/ywyW83cUOVpG0gTjmj1nGTuOsFAboG6boVrIOoACvud2NUffg9tDQXmSZvj7ME7wHiWlfbrx+4qFdrWFl0nde6Dz/8cIeZPvMacqsXEEQNGVcZ/AAuzvlWWsdvh42434pTvlraVJy2X8u9Xpzysk4zBaq8TrmZxeBYCCCAQEEFMh9g+UO7aq2HanMaTZs2zQ5t0ZLGL8Jp789/kIjbWyB4gxpnno+4N+l+HehBRg9mCjH01sFXX33VDqGq1kMnLMAK/tqfxg26K2cwzAzrjefPoxT3V/Fa26LbLu8BVvD8dS5Tp07t9MbAsLDZ72Wk4af6Rb3WpZ7hSL6/JqTXg6wLDqIeRsPKHCxPrefktksaNtR6vFp7AmqyfP2ja2u10CpYrjgPcJXWr/X83HbBIWB6YcOFF15oh/1pqbcnoPYRt73oM6A5fXTdqbTIUz1chgwZYnu5VAoJoo4Zp1dINddgffkBcRYDLPcGOwVFCqv0A4p6oWkYmvvxJOx8mxVgaSi05hZzL5xIElIH7yvS+H7020bUZ0AhlHpRKRR1i4JW9XqN6gEc9kKMWj/PfjtsxP1WsGxptqk41z8CrFpbBtshgAAC2RJoRJTdiH1mSy1eaTIfYPlDIOKdVvhaleajqechOOohNo1ATMeo5aam0QGWelTddNNNRsPC/Nd8R9WTH2BF9YaJ2l+1v/tzaPhvvgr+Kh42WXE9x662bZECLJ2n2oAmnNYwKfeA5g/3Dd7A1xqYBk3r+exG+UeFA1Gf/XrbTZLeGfUcK8qhnn3728Z5gAtu40/6Xk9ZgsF01FxFtRwnSXtR0K852DQkt1qwonKot4smvNaE7/7w4qhjphlg+Z/XLAVYCgPVi3bGjBkdQ4KT1GGzAqx66iP4WWhFgCVP/82/+m8awq4Qq9JbVrVOmgGW/2NkPd8B1dpII9pUnOtfLfd6Sdo66yKAAAIIIJB3gcwHWP4blOoBrzSZe3DYTxqBU9r7y1qApaDivvvuM/rls9rDl5snQ8OKFGTcfvvtFedTacQcH8G2Epyw259fK/i3uL3b6mmHbttmBgdR5VXvqblz59peIXpAqHUCcb83m/958ueIanUPrGq9/qLCgagAK41rSVS9pfH3ZrbDOA9wlQKszwKUQ8166/Wt+7T9H0aiep/EOWAt7UVzcamHqD57mti7Wq+sQYMGmb322qvT0MKoY9YTmOicq/VuyUqA9fbbb9s3Tr7xxhsVq0k92vR5VNiinpYKYvTji1uaFWDV0wMrCwGWvPw3puq/6UehsWPHVhz22sgfqBpxv9WoNhXn+keAFedqyzoIIIAAAmUWyHSA5d8g6wZUv/TFfTOXeoFMnjy5Y6LeSpO5pz2HQtr78wMsDds56qijIidObVQPLA2Bkaub80hDxfRGOL2RS3Ph6P8rBAnO4RL1kOz/Pa05sNyHO9jjIji0zX9ldpK3xtV74YgyqXf/SbYPTi5db8+o4AOFP1F32nNgBR+wszAHVtCx2rDlJHXT6HWb2Q7jPMAFzzf45rJKb4urxadVc2BVK2vwRQl606s/r1zYkNyoAMt/UUHSYanVerdkIcAK6xGk65feJjpgwACz7rrr2jeX6joUXOIEe3G+P/36jKoPv+dfnLf+umMEX3LSqh5Yrixh9wAjR46s+AZjvxd01It4knym077famSbinP9I8BKUvusiwACCCBQRoFMB1j+q6OTvELdVWbwAUj/LWwy9+C8PEkmltav+Hqjmnohrb322vYNcnr7Wtr78wOsuD074gzXSnqT7gc+GnI3ZswY+9ZG2VVaot5o5b9pKG5Ip+OpV49CEwUG8t9xxx2XC/f8nkGuHWieFP16r78nDUDqvWA0MziIKqv/OVFb3nnnnaM2C/178EHLb6v+A3XcBzj10FNvKb0rS6koAAAgAElEQVQJUW9r1HCwLbbYoq63EPoTXEe9hTBOL52gY7PeZllTJQU2amY7jPMAFzwfv8dKnDqI4+Ffj5IE5rrWaKisghEFJTvssIOdoyoqvIhTruA6uibdfffddlicG6Ltvwkz6pj1vIXQ7xUb9eKNuKFK0jZQzU31oB9TnI9eHKG3TVYbzqb9Bb+j9e/N6oGl69dFF11k1MNHiz+cvdK5qi1cddVVtpeelrjW1eySzoEV3Jd+HFQPNvm7ReZ666pCQ3/xy5/WW4b9ukzj/q2RbSpO2yfASnqlZH0EEEAAgbIJZDrACvZmqNR7KqrCdAM/ceLEjsl6dZP1/e9/3/Tp06dj09dee82uo4nHtcQNynQDqNc76+ZZc5MccsghNkBJe38qU/DG53Of+5w5+uijq06c6r+2Oq1J3DXflUI7N0F73Btw3yRsqJ7f20IPFRruUW3x3zKoSWUPO+yw0AeY4P5lePjhh5tHHnnEzp2ipdqbKqPaWS1/b2ZwEFW+f/zjH+aSSy7peMuUAkQ59urVK2rTTn/XA5o+S5o8WYtfz/4v8RpeevDBBy83t49/UL/ngutJ4v/3uJ9d7T84dDSsd09UOBAG44fueqvc/vvvH+uNcomgU1y5me0wzgNc8NT867c+3xp2qrC63iX4/RL2vRC2/2oT/0e1F10DFUbpJRcKhw466CCjYe3VlqgQKeqYfnmTvGHVb8v+yy2y0AMrGJYn6TkarHv5NyvA8r+X49aHf31udYAlM4VwuhfQkEK3hL151v0teL1V0LTnnnvae616l7TvtxrZpuJc/wiw6m0RbI8AAgggUHSBzAZY/oPwWmutVdO8PH7AoQr1e5f4vXM0RFEP73oLVKVF2+htQnodt5Zg+dLen/Z/7733mj/+8Y/2WHHCPP+GN60Ayw8Mgm/2qmSlOtDNqx7e3BIWYPllrnYz7PajieR1E61gREu1NwgGH4Z1A635ZNR7S72wWtFbppnBQdSFTA9WejPaY4891rGqwgKFL3FDrLBf5f3PmtqCHh5nz55tj6MJqg844ADbk6Va+7n11ltt2KglODTP/6ypnStIVvuqtvjtJuxBMiocCNu/30NR56ceigp6qy1y0Tnq13+dn8qjSdw1HLfRSzPbYZwHuOD5+m+h1edUPSzV66laj0/tQ4G1rjvyVG+pUaNG2R8Y3BJ8O6n+myZK/+53v1t1v+oRdvXVV3cMnw5OtB/VXqJ6/IXVsx9g1fKmTH8eSfmNGDGi6nn6329h3zlZCLCCD/txe9AqXFfIrnsMtzQrwNLx/B4+UfUR9v2ZhQBL56LvC31vuJd2VAum/EBU3yu6z9KPJdWWhQsXdvzAqJ6OG2+8sVHPXfdmzrTvtxrZpuJc/wiwGv2Nx/4RQAABBPIukNkAy7/JixOUVKoM/0ElrJeOhhTceOONHTdimstJN7W6KfYX3VBOnz7dDu9wQxf8oS1p788fSqMhL5oPzJ/bQ2XVjbled63hWm5JK8Dyf+1UcKcebWFOOrZubHXTpknfgxO+hwVYfoiim+Ftt93WaG6N4Hxa7pz8uSqifoH3w8z11lvP/nqsnndxfwlP8wPfzOAgTrn9UEfbqGeKQqghQ4Z0PDCE7UvhoCbpVzt1nwmZ6gHFf8W6H4LqAUa9UTQMN2zx51vRMCr1wHJtwv+sRe1PD7AKn92kz2pnu+66qxk2bFinw0cFEpVM/WuXDBXS6TMbtsjrgQcesAG1m1fOfT66rbyyqTwwN06tRq/TzHYY5wHOL7H/4KtQUOGzhpBWCrGefPJJO7RM56ZFD8u6Tmnoklv889Z+FUgpBA/br9/jxN9nVHvxw8047cJ/q6c/R1/UMXWu77zzju1d6XrKRJ2nAgEXpgaH5un7JvgWxCwEWMGeVKozhZTf+ta3KrYLfX/pu9H1EHVtoZkBlr5vNBxaPfG0VGvP8v/Tn/5kbrvtto5rg7bJSoCl72z1Qn/qqac6PleVeu/6YbQ2iHqDoT4zui/TPZxbwoYRp3m/1cg2Fef6R4AV/Z3FGghkU6DdmIbfsWXzzCkVAs0WyGSA5d/oaJ4lza2gm51aFv9X7LBfkyvN6aDwRJOT61d8raMbYD1oqueVu7kPG9aS9v78hx856Lh6oNHDrs5JwZV6tqjngc5Zb15SGfVPWgGW/2unyqEQS+VQ7wY94LjJiDXEUmVx830E607hkYYCqVzBJWxYgs5TDyYKFbV/PTgpKFE9BPetsEvzNlXrmeGHme7Y1QJS/yEx7hxkUW21mcFBVFnc3/2wyP13PWQpYFIdaNiT2pbClueff97+8+6773Z8HtxDWaWeR2EBsOpVAdLWW29tw1CtowduBZ/6ld+Fn/qbhn4qHHNL2GdN+xs6dKgNI9wv/Pp8qMed+3y47SuFwXHCgTDXsPLIS8Hb8OHDbZiif1f9a0iuwnAZuutJtV5pwQcgHTuNOaGa2Q7jPMD5pmHtRZ9x9dBUTwy1S13/dG16/fXXbU9PXXtcm6kUUOo4CvmvvPLKjqGzYftV4PDEE0+Yu+66q9N6/hCoOO1F12c9ILu6du30G9/4Rke7UPtR27///vs7tf2wQDjOMXWeYZNuy0892TRnkfzUDvS9pjrS95xbFLRpmK8++8ElCwGWfz3XZ0fD0vQ507VC9al2MX/+fPPwww/boMWFxMFz0bxZfi/JpPNDan9x6+O5556zc1p98sknthi6Hug+Q/Xhrm36QcG/13BlzkqApfKE/fCx5ZZb2iGC/g9PYd/val/B+yx9NtSjWnWlnuf6bnGL7jV0/VePyuCS5v1WI9tUnOsfAVbcuxXWQwABBBAoq0AmAyx/KJkemNWTI6y3UdyKC86/oG3C5jtSSKRfZ3VzGXep1tsj7f1VChfCyqoHIz3czpo1y94AphVg6Vj+zXccKzlpSKb7pbZaCKQeOrq5d8MC4+xfN//qleOGFVTaxp+DSetFBaRlCrD08KDeKxoW4nqvxPEPrqO2pvBKn7FKix449CCvHibuYT7qOHrQGTduXOhww7Bf6qP2p78rvNLDa1gPwrgPo2HHqeWzr/1E9Y4pY4All1rai7aL6sWpdXRdVXtX0BFnqbTPOO0l7EE7zjErfabiHFP7D+vlF+e4Gk6vz5zCLn/JQoAV1gMo6rwUFmluOoWXbhhhWBDcyABL9aE3TWoi9LBAzT8HXRcUfCug1ZKlAEvlUdCkgDcYwu+zzz725S7+Usv3u/YR1bO2lmtu2D4b2aYIsKI+nfwdAQQQQACBaIFMBliNeEjzQ7FKk/bqIUZhl36tDQ55C6PUw+/YsWM7DUvx10tzf7o5VG+U3//+91XDBffQoflzLrzwwtQDLJ2jgig99KmnV7VFQZp+EdcvrJprSkO3dIMYnPQ+bHv1QLjuuuvsL+fVFj2MqOeV5nQJDm+pto0fZkZNJF6mAMu5adjRnXfeaXueRH0O3DaqC81PomFYwaFalepC+9XQuWnTpkWGB+qVoKBJvfEqLWpX6rWih6moMEJtRb001HYqtZu44UCl8qgM6g2kXmRR5XEPaOq1oFfMV1oacW3Meg8sZ6H2ouuf3gIYdd3RNrrGqy1WG2ro9q0w4/rrrw/tLRqsC7UV9TZVzz619+ASt724YdVqG3HCC13HFSKFtf24x3Tl1FvsFByH9YoNnotCOs1LN3r06Iqf5SwEWCqzggt9F+k7KSoMV289tQn1Jgu+1c+fW0z7bWSAlaQ+1OZUZoVtmrZAS9YCLNWB3uYbnLagUm8plV/fL1OmTOk05LzSNc+1RV0bK01V4LZN636rUW2KAKvq7Rx/RAABBBBAIJZA5gKssHlC/LcGxjozb6WwoW/+BNPBTTRsRHNP6Nd5hSnuAVRDCTWUUUPOdBMcNZGw22ea+9ODw0MPPWR/wVXZ9BDkfqHVsCk9sPmvdU+zB5Y7p7By6G/qKadfizUsRmVxwwTVE2zChAn25lVL1Bvj9DCioSwKOdTrSzfweojVg6N6cKmHj+Y70RsFkyz+HEz+vDL+vsoYYDmDxYsX2/lH1CtLc7ZoQt1gGKPPgx6w9UDlhtomqQutq2PMnTvXTtKu9uzecKl2pId2DSvUA6YfGFQ6jhvypeGC/v7ULjVZt8ob1VsvaTiQtDw6Hz2QaQiwyqT/jTrHMgdYfptU/Wr4knt7rK7Fao8anjxo0CDbZsLmzqtUT7q2KGTXEFP9r/ara5C7tupaprboD3t2+0vaXrR/nYNC4mA7TdIukh5TZVWApqGC7gUWwfPUtVS9k/Q9EhVCZyXA0jmpnhSeaMJ6zZnm2oSz1I8U+oxpuKT7zg5+lsJ+0GpGgKWy63qq+wz9aKYeVvr3sO+4YHmzFmDpPPSZUYgV7LlbbVi/6kzzEOo+669//asdfukCXYV2ulYrRNX8i1Ft0f9Mp3G/1Yg2RYCV9O6A9RFAAAEEEFheIHMBFpWEQKMFgpNC64FNc2qsueaakYd1D4ta8eijj04cnEUegBUQiCngHoTSmAMr5iFZDQEEEEAAAQQQQAABBBBoqQABVkv5OXgrBIJDCMPmQqtUJk24femll9qeOwRYrag5jukEbrjhBjucjgCLNoEAAggggAACCCCAAAJlESDAKktNl/w83cttg6+UD3sbZTUm1+tFcxQddNBBsefcKjk9p5+ygGvDGpJ74IEHhk5qn/IhS7U7XoRdqurmZBFAAAEEEEAAAQRyJECAlaPKoqj1CfhvAIv7dkvNjaO35d1+++12vqZdd93VDBs2rL7CsDUCNQgovLrlllvMvHnzTLVJkmvYNZsggAACCCCAAAIIIIAAApkWIMDKdPVQuHoENOTvmWeesZPBfvDBB3ayWE0aq0UT+Y4ZM8ZO9hy1aOLyiRMn2m315kn1etEE4ywINFtAE4wrSFXvQbXfzTffvNlF4HgIIIAAAggggAACCCCAQEsECLBaws5BmyGg8Oq3v/2tfeuWv3zlK1+xQZTedhRnUXCgN0TpjYVRb6+Lsz/WQaAWAb2Jc/LkyUZv99JQVhYEEEAAAQQQQAABBBBAoCwCBFg11TSzpNTE1uSNXn75ZXPZZZd1eq23iqChV4cccohZY401mlwiDocAAggggAACCCCAAAIIIIAAArUIEGDVosY2uRBYtGiRmTRpknnhhRfMkiVLTI8ePczAgQPtm9tWXnnlXJwDhUQAAQQQQAABBBBAAAEEEEAAAWMIsIrUCugYVqTa5FwQQAABBBBAAAEEEEAAAQQQQOBfAgRYNAUEEEAAAQQQQAABBBBAAAEEEEAAgUwLEGBlunooHAIIIIAAAggggAACCCCAAAIIIIAAARZtAAEEEEAAAQQQQAABBBBAAAEEEEAg0wIEWJmuHgqHAAIIIIAAAggggAACCCCAAAIIIECARRtAAAEEEEAAAQQQQAABBBBAAAEEEMi0AAFWpquHwiGAAAIIIIAAAggggAACCCCAAAIIEGDRBhBAAAEEEEAAAQQQQAABBBBAAAEEMi1AgJXp6qFwCCCAAAIIIIAAAggggAACCCCAAAIEWLQBBBBAAAEEEEAAAQQQQAABBBBAAIFMCxBgZbp6KBwCCCCAAAIIIIAAAggggAACCCCAAAEWbQABBBBAAAEEEEAAAQQQQAABBBBAINMCBFiZrh4KhwACCCCAAAIIIIAAAggggMDyAu3GmDZgECiRAAFWiSqbU0UAAQQQQAABBBBAAAEEEEAAAQTyKECAlcdao8wIZFSAX4EyWjEUCwEEEEAAAQQQQAABBBDIuQABVs4rkOIjgAACCCCAAAIIIIAAAggggAACRRcgwCp6DXN+CCCAAAL/FqCbIK0BAQQQQAABBBBAAIFcChBg5bLaKDQCCCCAAAIIIIAAAggggAACCCBQXaBIv98SYNHaEUAAAQQQyKRAkW43MglMoRBAAAEEEEAAAQRyJECAlaPKoqgIIIAAAggggAACCCCAAAIIIIBAGQUIsMpY65wzAggggAACCCCAAAIIIIAAAgggkCMBAqwcVRZFRQABBBBAAAEEEEAAAQQQQAABBMooQIBVxlrnnBFAAAEEEEAAAQQQQAABBBBAAIEcCRBg5aiyKCoCCCCAAAIIIIAAAggggAACCCBQRgECrDLWOueMQA4FPvrEmDfeW5Zqyfuu2cW0taW6S3aGgFn6ysumfcmSVCVW6Ld+qvtjZ8URaF/0d2OWLU71hNpW3STV/bEzBCTw/HvzU4VYoUtXs16PPqnuk50hgAACCGRbgAAr2/VD6RBAwBhz/1+XmjNv/Th1iy5txvxq3+5m875dUt83OyynwAcTzjGLbr4+9ZNfadBWZvWf/sa0rbhi6vtmh/kVWPrsyab95V+nfgJtPbczXQZOMW1dV0193+ywfAJLli01xz1wlnnktbmpn/y+A3Yxx21+UOr7ZYcIIIAAAtkUIMDKZr1QKgQQCAjs+usPzUfpdjDo2Hu/3l3M5Yd1xxuBugU+fWy2efekY+reT6UdrLLvwWbVQ45s2P7Zcb4E2t+ZaZY+tkPDCt223vGma/9fNGz/7Lg8AhP+73pzxdM3N+yEL9jux2arL2zWsP2zYwQQQACB7AgQYGWnLigJAgiECHy4uN3s9uuPGmazarc2c9sJq6S+//b2dnPppZeaM844w/Tv399MnDjRDBgwIPXjsMPsCHx89x/Mwl+c3rACrbzjzqbHf9a//7///e/miCOOME8//XSssk6ZMsV84xvfiLXusmXLzJw5c8zvf/97c//99xsdS8vXv/51861vfct897vfNRtuuKFpY+xuLM9qKy17fbJZ9uR+de+n0g66fGGM6bLptXXv/89//rMZPXp01f2ofWy55ZZm3333zWT7cOdw4oknmv/4j/+oyeSdd94xxxzzWcB9wQUXmJ49e9a0nzxudPqfzjdTX5zRsKKfvtUxZlS/7era/8cff2xOO+00M2nSpKr7+dKXvmS22GILM2rUKLPjjjualVdeua7jNmtj1/7eeOMNc/HFF5sNNtjAHvp///d/za9+9Stz/vnnmz322KNZxeE4CCCAQM0CBFg107EhAgg0QyCvAdbrr79ufvjDH5q//vWvRjfGJ5xwgjnssMN4cG9Go2nRMcoeYL377rvml7/8pfntb39bsQZWW201+7kYP368WWmllVpUU8U4bJECLFcjah9nn322DbyyFHISYNX3mclbgLXpppuaXr16LXfSCuhfeOEF88orr9i/HXjggea//uu/zCqrpP8jWH3iy29NgJW2KPtDAIFWCRBgtUqe4yKAQCyBvAZYM2fONPvss485+OCDzTPPPGNWWGEFc+6555ovfOELsc477krtxhjmoY+r1dj18hZgSSP4S3w9OkuWLDG//vWvzXnnnWe23XZb84Mf/MBsvvnmtneCeiMq3LrrrrvMOeecYx/+tJ5+7c9SSFHP+bdi27wFWNttt11ozyO1DwX+6rGq9qgeqxMmTDAbb7xxK1g5ZgME8hZgVeuNpBDrwQcfNGeeeabtxfo///M/9rs+6wsBVtZriPIhgEBcAQKsuFKshwACLRHIY4D1ySefmJ/+9KfmxhtvNFdddZW92VU3fT2g7bzzzi1x5KCNFyhzgKVQ6uijjzYfffSRueiii2wIEbYoxFK4pSGJCrHWWGONxldMQY9QlADLVc/ChQttb5abbrrJnH766bbHKksxBIoUYLkaueaaa8zJJ59sh73+5Cc/Md27Z3suTQKsYnyWOAsEEDCGAItWgAACmRbIY4A1b948c/jhhxvNlaGHdP1Ke+ihh9rw6mc/+1nV4QavvvqqfYD7wx/+YJ588km7D80ddMghh9geCX6Plbjr33LLLebYY481leZwCfu7mytJ89McdNBBtofNnXfeaYYNG2bDim222ca2HZVBcx7de++95uGHH7b/TfNr7LDDDhXntFGvi+eee85cd911Zvr06XauJLeNznXddde1+1Hop4fZk046yQYf/vlrPzLW0LVWB4RlDrA079X+++9ve11Vm9/nrbfesm1Hyy9+8QvTt2/fTtefuO3ZbZRk/bjtWQH03Xffba6//nqjoWNaFLipl4XmvMnK0MeiBVhydqGAhmZpPqJu3bp1zNGj66KuGWpfWnbffXfblj73uc/Zf58/f7654oorql5P/C+7uO2n0hBCv6188MEHZsiQIXZ+JA2DDM5zVW0OrLjXQ1d+d71WTyH1eFRbnTx5sr2Oan6mMWPGmL322iszQ9uKGGA98sgjZs899zSVehY2sj2qHVSabzCq/TEHVqZveSkcAk0WyOc4DgKsJjcTDocAAskE8hhg6WHi//2//2cfwNSL4P3337dzYD366KP2AUsPGGGLbogV1OghRMHVl7/8ZaOHHgVZYXPDJFm/ngDr85//vB0GphvfPn36mAULFpjf/OY3ZuDAgTaw0qTG6oGjAErl/vTTT21op2Fj+nf1PtNNtVu0r9tuu82ccsopdh23nfbhzt1toznEZNivX7/QHjtvv/22DbbUe+PCCy+0x2vVUuYAy/XAeu+99+xkwF/72tcSV0OS9qw2pDBVL0kItj0FZO7zonaptqPhu1pcgFWtPWt77fPmm2+2n7mvfvWrpmvXrh3tWQ+s+lyHzY+T+ITr3KDIAZbq7dRTTzUrrrhiR4Al+xkzZtjrha4xChXVA0brVGsLuiaozr7zne90CsCTtLewAEu9DdXTVnO+qU1tsskmtq24OZK23357G9LqmqmlUoCl4bcK7jT3lwIwN/+Sux5q32eddZbZbbfdOsrvrud6GYO+V3SdVFvV8tRTT9n9aIiuyucCvjqbW12bFy3ACg6ZDrZVIUVdm9Jojzq+XgyjdqFFPzL16NHDfg8+9thj9r+NHDnStr/evXt3an8EWHU1ZTZGAIEMCBBgZaASKAICCFQWyFuApQd4F1bpwWazzT57tbfrSaSH6uOPP94+6AQX/VqrHlJ6EFGPIz2sqaeHboYfeughu42GKLi3GSZdv54AS2GUhknoIVAP9bp57tKliw2yNCG3epzpRnnEiBH2v2vRA5RCLpU32JtCf5s7d675/ve/b9fTDfjw4cPtdvpF+dZbb7XBlkI+zRmmm3I9yKpHmt4O5b8NT8Mz1btNk4KHuTbzs1XmACv4QKUHNPVW+va3v23DBgUMUUvS9qzPyZFHHmnb4I9//GP7dkP3efnLX/5i29DLL79se+app46W4NsXw9qzzkEhgtrsfvvtZ/7zP/+zI6hSsKWhkZqjSYGpPuMuGIs6t0b9vWgBVnAIoerhe9/7nqVzb0lba621bIitHqBaVF9qW9WuJ26uIgVewXm1kra3sADLXXsUFOkapWuju/app+3VV1/d8SOGeo5WCrAUyul6qPkRdY0NXg913dNcS1rU88xd/9z1XP/db6uac1E/oKhX5JVXXml22mmnRjXB2PstSoCl7yhdc9QbUG1R4WKwXqK+39Jqj67t6c2damv6gcctzz77rL3+6b5BbV7BpxaGEMZurqyIAAIZFyDAyngFUTwEyi6QtwDL3Vj6wwXdsEI95OhBeL311utUtW7oTNjDsUKsyy67zPYy0N81ZCHp+vUEWAoCwsIjPdT9/Oc/tyGdbpj9oVWu95SGiblhZUuXLu14ZbfCBQUJwWGBGpKjUEs34ZoPR8MmXdn98E/7Ukgmm8svv7zjwbZVn5m8BVgKJqst6lGSZJJ39UhRPasuFGBqUXvXQ7eGOW211Va2PsMCrSTtWUNqVe8KNtQD56ijjlouEHahgNbV0Ff1QnEBVqX2/MQTT9iwVb3HNDGzApPg8uabb9ohuOph44LkVrU1HbcoAZaCKNWJAmsFAwqv1YtPPVC1uABLQ1TVO04vBnCLgik9wOsHgkovBgi7fiRpb7rehgVYbr8qt4brBRdd+9SbdvDgwea4446zQ/nCAix9ZhR+afhf2MThuvZrmLX2paBe10RdZ92xZVXt+0SfD/0w0uolbwFWHC8Nl9b33tZbb93xHdaM9qih+2rvagP6ASlsXk3XvoNTBhBgxalV1kEAgTwIEGDloZYoIwIlFshTgOUCFT1w+Q8jbmJ3Pdz7by1atGiR7UWiYXVhQZFf/UnX1/b1BFjqaaJfcoO/8sZpki4wUBDgAiw3B5L+N244oodbhRQKQ4JvctSby3QDr/JlYULwsgdYahN64NbQp9tvv73TnGiuvahHlnpOuR6G+u9J27NrQzqOHuTC3lanYbvqhaLgwfWEdO2xUnt2D33VJhDX51q9g4I9G+J8FhqxTt4CrDgG6r2n3pwKjdziAqywMEbXAM2DpeCg0hDiF1980bY5DaVS/SkASnK9VTnCAqxp06bZt8y6t24OGjSoam/DsABLc3ppvkTNlaXyh72l1g3PVTncObrrud+71Znpu0TnXGnOwzh1keY6eQuw3DBOZ+CGJuvf1VtOPT7Dwvhmtceougn7vifAilLj7wggkBcBAqy81BTlRKCkAnkKsFzQoqoK+1Vcw0E0X4bmYnG9QrRupRvLSlWedP16A6xgAFWtGX744Yd2vi8FBRrGpd5omiMrOMltWKgV1bSDb3UM9rSaOXOmHarm5hrzJ3iP2m/af89bgKXzjxsi1mr18ccfm7/97W+2Laj9a1iTFj14qzdJsGeKPzdLpWPGaUPBnhBuGFW17YI9A/2H12A53INsFoKBogRYCqbVm0VBkIZ7rrPOOp2q3gVYYT2UXC9PXRPVYzCsd5+bk09zUam9682XxxxzjJ3TL277Dwuw1BbUhhUWadFwMg1v1NDZoUOH2sAseE0KC7DcfsN6lzmEsDA26geJSpPO1/o5rne7vAVYflvT0MH77rvP9rjSEjanmv57s9pjsD5UNg2/VXtWIPrAAw/Y662ud/TAqrflsj0CCGRRgAAri7VCmRBAoEMgTwGWm7w9qvr0wBYMYpIGUknXb2SApYe44BuwgueuYZKaZF3zdLgeWHHChzA/18lxHfYAACAASURBVNvBDSPUTbuGDunth8G5xqLsG/l3AqzquqozNweMwl71mtNEw0nbc9w25Acf1bZT0KaHUvWAjLMQYMVR+mwdF6ZUeltb1J6qBVhu31H70N/dkNi0AiztU0MANexRQwBdOOvKoh8q1Gtsww03tP+p1gAr2DanTJlih+QSYHWu8dO3OsaM6vfvXntx2oO/TtC50nBO+atOFVb6LycJtvU4x6+nPaqnq8IyDZ+/66677MtQ3KL7C7VxXWMJsOLUBOsggEDeBAiw8lZjlBeBkgnkJcByc5mol4neBhWcpyVYZa4HR3A+k6QP8EnX1/GjHnjC/h4VFGgyW010rRto9VrRfEM6d81do380Z5DekhXswRW1z0rN2w0X1N81jFC9KjR0SPNrac4sN4FyKz8eZQ2w1PY1LFYT8CuY1Ruxqi3+/CxJ23OcNhTsgaWAVfPGVNsuuH4WhgfGacd564HViAArOG+ZQoc4b9xL2t6CwUSl4FKBgq6Hjz/+uLnjjjvM9OnTbaiga6Ib9lxrgOV6YGnOOjdkNup6Tg+sOJ+gzutEBVhaW+vozY7q1am5r9Tm1l577Y4dNas9urf/qo0p0PzmN79pv3v1o9G6665re7tq7jMCrOTtINUt2o0xbanukZ0hgIA+Vu361mVBAAEEMiqQlwBLv74fcsgh9iay2nxMbj09aLmJoDXhtYYmKAiqNAeWhsupx5HeeKVhcxq6End9DVvUL8f+DW2wyt1bEoM3vFFBgdsmOBwsuE83v4tu8F0PLDdHiN7WWGn4jgIO9WjQmwXdG+SC84spkNCDhOaf8ecTa2UzLmuAFRx+F2c4p//wnbT9a/4s9cTT3EaV5sAKexto3PasCbP1soRWD0mNassEWMbOt6YgWyFq3OGASdubrp+PPvqoGT16dOw5pf75z3/acF9Blus1FRZguTap74NKc2C5oel6c60/B1alQI0AK+rTs/zf4wRY2kovGNGcjAoUda1Q+3NvJG1Gexw7dqw9rl5Uofn41C79a5V6BWp+SAKs5O2ALRBAIPsCBFjZryNKiECpBfIQYAXDlagH+OBbp4LrujAo7C2EekuX5sxSMKb19NahpOs/8sgjduLssLlWgq+vjxtgRd3sB9+eFex5EezpEvYWQlcWBXZXXHGFfSOZW/RQpvJrEl3Ni3XvvffGfmhtxoeorAGWbN3bN/v37297xOnNlGGL2r8mSb/22ms7veggSXvWsMO4byFU7wQXKEcFWC5c1pAvv2eFzsW1eT24qmfhqFGjmtGsKh6DAMvY64B6xKjnX9j1RHi69ukHAl1L9MY/Da9K0t50vfUDocWLF9ueVbNmzbLtOXidCrYV/SBRLcBK8hbC4LWbHlidPxbNGELojhj8btNLBy655BIzcOBA++dmtMcBAwbY64+WsNC20vc5k7i39HLNwRFAIEUBAqwUMdkVAgikL5CHAMsNb5s3b95yoUuYiJsrKzi8ZP78+baHlOa10AORe0ub5g3ScIAzzzzTzuHyq1/9yqy55pom6fru4V3DUX7+85+b4cOH219t9QClIVMKBLTEDbB0E69gQA+NY8aMsfMHaV4Q9/A2depU+zf9Iu0PHZo7d64NobQo7FBZunTpYm/+9cCnt5DpV+Uzzjij01BM16vm+eeft+tuv/32Ha+VT7/lJd9jmQMstSMFCZqPTO1Ak2Srt6AmslbdKvzR8Br9XQ/0mh9I9dyrVy8LnbQ963Oit6xp2JbeKKe3guntcmqXeoGAAgv1XFEbdL34ogKs4PAgtT/NdaPhOK5Nq23q86e3jyngcn9L3lLS2YIA6zNHhUtqb1rUM2XXXXftaAvqLaPrqXqr6Hqiodu67iVtb2E9mtx1XIGqrs9u8nm1wYceesgcf/zx5otf/GJHWwnrgaUyq2y6HuoNhLqOuuth8Nqv9dSLVYGsFgKszp+hZgZYOrKmAlAPuzvvvNPstdde9trXo0ePprRHXU/1Q5cmldf1TT2yXA8w3YsoUFOw5X+fE2Clc91lLwgg0HoBAqzW1wElQACBKgJ5CLDc2wXVI0ND2lZfffWqdeqGhKjHh+tRpQ3UU0APYHrQ3mCDDYx+3XVzZim80nABvardLUnWVy8x3djqRluL5inSPF3qTaK3c+2yyy72ZjhugKV96OHwuOOOs5MXK7RQGbVon+o1Nm7cOPtWJE3krpCsX79+9u96wNObuxQyaA4P99Y3hV06d72NTMMlNY+Wv7ieE/rvQbssfIjKHGDJX3WpNqSQqtoyYsQIGyr49ZukPasN6eFRoYTajf950ZxoGmao4V/u4S4qwFKZFYhpeK7mMdI+NCRYwdgLL7zQcRyd4+DBg1ve5AiwPqsC/3ri2oJ6ojz22GN2HQ1HVuCgt17Wcv0MC7AUCKj9/e53v+u4pirEcNdsXb+Db6urFGDpWqlh07q+a3ijfz3UtVVB/2677dYxVIwAq/PHr9kBlo7ugkf9/2BQ3uj2qP27yeTVXvz2rn9XiHvdddfZHwrUBrt161bxZRnVXpLQ8oscBUAAAQRCBAiwaBYIIJBpgawHWMGhdHHnYwrOGaTeSwpr3IPVq6++at9qdfPNN3cEWQrGNHzEf728Ki7J+npQckPz9ECmByPd4KpXwmuvvbbcHC9xHvjVk0HDdxQmuCBhhx12MPvuu68NKGSi3ip+2KSbcIVbGkrmttWDm3qe7b333qZnz56h7dK9plw9d9x8MFlpwGUPsFQP6jXyt7/9zQaUep27CxD0MD9kyBDbK0vhj0KhsCVJe9b2an/qCaO5hp588kkb+u600052njj1lArODROnPWuf+kzfc8895oYbbrC9e1yooIdC7df1Gmt1uyPA+ncN6HqiHwauuuoq2xZU17q+DRs2zGiOPrU59Vzxl7jtrdKcUup5qLkIFSio559CXAUIugZqTsRgL71KAZYL4XRtU5u7//77O679+mFBbc7v7UeA1foAS72AFTpqLkt/QvdGt0ddZxX467tXw7d1jdL1VfcK6j2qsmluLl3LLrroIju5Oz2wWn3F5vgIIJCWQHkCLN4EkVabYT8INFUg6wFWUzE4mB1iqV41GhamITqa2DgrS14CrKx4UY76BPISYNV3lmxdBIHT/3S+mfrijIadSho9sBpWOHaMAAIIIJCqQHkCrFTZ2BkCCDRLgACrWdLZP45+1VZPLk1oX+ltja08CwKsVuqX79gEWOWr87yeMQFWXmuOciOAAALZEyDAyl6dUCIEEAgINDrA0qGmn7Iq5hkVUGiloY+ax0iTv2t+Ig3RCU6am5WiE2BlpSbKUQ4CrHLUcxHOkgCrCLXIOSCAAALZECDAykY9UAoEEKgicPy1H5u5Ly1tiNEOX13BnLJ7t4bsm53WLxCcY0x70xxHmnRW831kbVn66nzz9oF7NqxYPU78b7PyyF0btn92nDOBj182S2Zt0LBCd9noItNlncMatn92XB6BO168z5zxpwsbdsK3jLrArLva2g3bPztGAAEEEMiOAAFWduqCkiCAQAWBtz5oNxfdvdi8+KYms0tv+eo6Xc2xI1c0K3ZtS2+n7ClVAfXA0ivBFVrpjXCamHb77bfvNDl3qgesc2eLH3nQLLr2CtO+6KM69/Tvzds//dR032UP033v/VLbJzsqhkD7W3eZZS/+zJhP30vvhJZ9bNr6jDdd+p2Y3j7ZU+kFJs27zdzy97vNil1WSM1i1RW6m0M22dMM6/Pvt/OmtnN2hAACCCCQSQECrExWC4VCAAEEEEAAAQQQQAABBBBAAAEEEHACBFi0BQQQQAABBBBAAAEEEEAAAQQQQACBTAsQYGW6eigcAggggAACCJRGQKOkGdGci+qmqnJRTRQSAQQQQKBgAgRYBatQTgcBBBBAAAEEEECg5AIkbCVvAJw+AgggUEwBAqxi1itnhQACCCCAAAIIIIAAAggggAACCBRGgACrMFXJiSCAAAIIIIAAAggggAACCCCAAALFFCDAKma9lvus6DZf7vrn7BFAAAEEEEAAAQQQQAABBAonQIBVuCrlhBBAAAEEEEAAAQQQQAABBBBAAIFiCRBgFas+ORsEEEAAAQQQQAABBBBAAAEEEECgcAIEWIWrUk4IAQQQQAABBBBAAAEEEEAAAQQQKJYAAVax6pOzQQABBBBAAAEEEEAAAQQQQAABBAonQIBVuCrlhBBAAAEEEEAAAQQQQAABBBBAAIFiCRBgFas+ORsEEEAAAQQQQAABBBBAAAEEEECgcAIEWIWrUk4IAQQQQAABBBBAAAEEEEAAAQQQKJYAAVax6pOzQQABBBBAAAEEEEAAAQQQQAABBAonQIBVuCrlhBBAAAEEEEAAAQQQQAABBBBAAIFiCRBgFas+ORsEEEAAAQQQQAABBBBAAAEEEECgcAIEWIWrUk4IAQQQQAABBBBAAAEEEEAAAQQQKJYAAVax6pOzQQABBBBAAAEEEEAAAQQQQAABBAonQIBVuCrlhBBAAAEEEEAAAQQQQAABBBBAAIFiCRBgFas+ORsEEEAAAQQQQAABBBBAAAEEEECgcAIEWIWrUk4IAQQQQAABBBBAAAEEEMiaQLsxpi1rhaI8CCCQIwECrBxVFkVFAAEEEEAAAQQQQAABBBBAAAEEyihAgFXGWuecEUAAAQQQQAABBBBAAAEEEEAAgRwJEGDlqLIoKgIIIIBAGgIMYUhDkX0ggAACCCCAAAIIINBMAQKsZmpzLAQQQAABBBBAAAEEEEAAAQQQQACBxAIEWInJ2AABBBBAAAEEEEAAgawL0Ns06zVE+RBAAAEEkgnkKsBasmSJOe2008yjjz5qrr32WtOrV69kZ2uMWbBggbn88svN5MmTzZw5c8yAAQPMqFGjzLHHHmv69esXur9ly5aZGTNmmAkTJpjp06ebTz/91AwdOtSMHz/e7LLLLqZbt26Jy8EGCCCAAAIIIIAAAsUSIDIqVn1yNggggAAC2RLITYCl8Oriiy82p5xyitl6661rCrBeeeUVc8QRR5ipU6eavn37mv79+5v58+ebefPmmYEDB9qAasiQIZ1qaOnSpWbSpEk24Fq4cKEZPHiwWXHFFc3jjz9u/13l0T+rrrpqtmqW0iCAAAIIIIAAAggggAACCCCAAAIFEchFgKWg6KyzzjJnn322ZR85cmTiAGvRokXmpJNOMhdccIE5/fTT7f/v3r27Wbx4sQ2ojjvuODNixAgzceJE07t3747qnTVrltlvv/3M2muvbS688EIzaNAg+7fnn3/e/OAHPzAzZ840l1xyiRk3blxBmgSngQACCCCAAAIIIIAAAggggAACCGRLINMBlnpd3XfffebUU081f/7zn81aa61lFETV0gNr9uzZZvTo0bYHlYYQ9uzZs6Mm3NBEhWQ333yz2WOPPezfFG4p6DrvvPM6/Xe34RNPPGGDq4022mi5fWarmikNAggggAACCCCAAAIIIIAAAgggkF+BTAdY6v00bNgw06NHD3PUUUeZ3Xbbzf6vekMlnQPrnHPOMccff7wdhnj44YcvV2PqSbXtttvanljq6bXSSiuZl156yey77772/+t4ffr06bTdRx99ZH74wx/aIYm33357R++s/DYHSo4AAggggAACCCCAAAIIIIAAAghkTyDTAZZ6Xf3xj380Bx54oFlvvfXsXFVjx45NHGB9/PHH5oQTTjAXXXSRnYx9m222Wa4mwvb9yCOPmJ122ske89xzzzWrrLLKctudeeaZ5sc//rEdhqihhiwIIIAAAggggAACCCCAAAIIIIAAAukKZDrA8k+11gDrvffes28MVI+uSj2l3nrrLRtAvfbaa+bGG2+0bye87bbbzO67796pV5ZfJvXM2n///c1PfvIT89///d/p1g57QwABBBBAAAEEEEAAAQQQQAABBBAwpQiwwsIpv+7D1okTTsVZh3aGAAIIIIAAAggggAACCCCAAAIIIFC7AAHWv+wIsGpvRGyJAAIIIIAAAggggAACCCCAAAIINFKAAKuFAdajjz7ayLpl3wgggAACCCCAAAIIIIAAAggggEBigUGDBiXeptEblCLAWrhwoTn66KONJmW/6aabzGabbbacq+uB9eabb5obbrjBbLjhhubuu++2k7j/6Ec/MpqsvWvXrstt54YQnnXWWXa9JAsBVhIt1kUgjwJtxpj25AWvcbPkB2ILBBBAAAEEEEAAAQQQQGB5AQKsOltFrZO48xbCOuHZHAEEEEAAAQQQQAABBAonsOS5eeajG642n86eZZZ99FGmz69ttR5mpS0Hm1XGHWBW2HBApstK4RBAoDECpeiBJbpzzjnHHH/88ebiiy82hx9++HKarrfVcccdZ84++2yz0kormZdeesnsu+++9v+rp1WfPn06bed6dt1zzz0V327YmGpjrwgggAACCCCAAAIIIIBA7QIKr9794XjTvnhx7TtpwZZt3bqZz597GSFWC+w5JAKtFihNgDV79mwzevRoM3jwYHP55Zebnj17dtgvWbLEnHbaaUbDAG+++Wazxx572L8tXrzYnHTSSea8887r9N/dhk888YQZN26c2WijjZbbZ6srluMjgAACCDRJQKNENeyTBQEEEEAAgRwJvP/TU83i++/OUYn/XdRu2+1oVv+vn+Wy7BQaAQRqFyhNgLVo0SIbRl1wwQU2rDrxxBPNqquuakOqSZMmGfW8Gj58uLn00kvNWmut1SE6a9Yss99++5m1117bnH/++WbLLbc0bW1t5vnnnzc/+MEPzNSpU+32WocFAQQQQAABBBBAAAEEEMiDwFu7bZf5YYOVHDWccM0p0/PATBkRQCBFgcIFWAqchg0bZkaOHGmH/fXq1auD69lnnzXHHHOMmTZtmunbt6/p37+/mT9/vtHcWgMHDjQTJkwwQ4YM6cSr3lkadnjKKacYDRlUD64VV1zRPP744/bf9d/1j8IwFgQQQAABBBBAAAEEEEAgDwILRnwzD8WsWMbe98zOdfkpPAIIJBcoVYAlngULFtjhfpMnTzZz5swxAwYMMKNGjTLHHnus6devX6jgsmXLzIwZM2zANX36dPPpp5+aoUOHmvHjx5tddtnFdOvWLbk8WyCAAAIIIIAAAggggAACLRIgwGoRPIdFAIGaBXIVYNV8lmyIAAIIIIAAAggggAACCCDQIUCARWNAAIG8CRBg5a3GKC8CCCCAAAIIIIAAAgggUKcAAVadgGyOAAJNFyDAajo5B0QAAQQQQKAcArygsRz1zFkigEA+BQiw8llvlBqBMgsQYJW59jl3BBBAAAEEEEAAAQQQKKUAAVYpq52TRiDXAgRYua4+Co8AAggggAACCCCAAAIIJBcgwEpuxhYIINBaAQKs1vpzdAQQQAABBBBAAAEEEECg6QIEWE0n54AIIFCnAAFWnYBsjgACCCCAAAIIIIAAAgjkTYAAK281RnkRQIAAizaAAAIIIIAAAggggAACCJRMgACrZBXO6SJQAAECrAJUIqeAAAIIIIAAAggggAACCCQRIMBKosW6CCCQBQECrCzUAmVAAAEEEEAAAQQQQACBugTajTFtde2hXBsTYJWrvjlbBIogQIBVhFrkHBBAAAEEEEAAAQQQQACBBAIEWAmwCrIqIW9BKrLEp0GAVeLK59QRQAABBBBAAAEEEECgnAIEWOWsd84agfoFWheFEmDVX3vsAQEEEEAAAQRSFmjdrVHKJ8LuEEAAgYwKEGBltGIoFgIIVBQgwKJxIIAAAggggAACCCCAAAIlEyDAKlmFc7oIFECAAKsAlcgpIIAAAggggAACCCCAAAJJBAiwkmixLgIIZEGAACsLtUAZEEAAAQQQQAABBBBAAIEmChBgNRGbQyGAQCoCBFipMLITBBBAAAEEEEAAgVABJjSjYSCQSQECrExWC4VCAIEqAgRYNA8EEEAAAQQQQAABBBBAoGQCBFglq3BOF4ECCBBgFaASOQUEEEAAAQQQQAABBBBAIIkAAVYSLdZFAIEsCBBgZaEWKAMCCCCAAAIIIIAAAggg0EQBAqwmYnMoBBBIRYAAKxVGdoIAAggggAACCCCAAAII5EeAACs/dUVJEUDgMwECLFoCAggggAACCCCAAAIIINBigWa/74AAq8UVzuERQCCxAAFWYjI2QAABBBBAAAEEEEAAAQTyLUCAle/6o/QIlFGAAKuMtc45I4AAAggggAACCORToNnddPKpRKljCBBgxUBiFQQQyJQAAVamqoPCIIAAAggggAACCCCAAAKNFyDAarwxR0AAgXQFCLDS9WRvCCCAAAIIIIAAAggggEDmBQiwMl9FFBABBDwBAiyaBAIIIIAAAggggAACCBRbgKGXy9UvAVaxmzxnh0ARBQiwilirnBMCCCCAAAIIIIAAAgggUEWAAIvmgQACeRMgwMpbjVFeBBBAAAEEEEAAAQQQQKBOAQKsOgHZHAEEmi5AgNV0cg6IAAIIIIAAAggggAACCLRWgACrtf4cHQEEkgsQYCU3YwsEEEAAAQQQQAABBBBAINcCBFi5rj4Kj0ApBQiwSlntnDQCCCCAQHwBZv6Nb8WaCCCAAAJ5ESDAyktNUU4EEHACBFi0BQQQQAABBBBAAAEEEECgZAIEWCWrcE4XgQIIEGAVoBI5BQQQQAABBBBAAAEEEEAgiQABVhIt1kUAgSwIEGBloRYoAwIIIIAAAggggAACCCDQRAECrCZicygEEEhFgAArFUZ2ggACaQow41CamuwLAQQQQAABBBBYXoAAi1aBAAJ5EyDAyluNUV4EEEAAAQQQQAABBBBAoE4BAqw6AdkcAQSaLkCA1XRyDogAAggggAACCCCAAAIItFaAAKu1/hwdAQSSCxBgJTcrzhaM0ypOXXImCCCAAAIIIIAAAggkECDASoDFqgggkAkBAqxMVAOFQAABBBBAAAEEEEAAAQSaJ0CA1TxrjoQAAukIEGCl48heEEAAAQQQQAABBBBAAIHcCBBg5aaqKCgCCPxLgACLpoAAAggggAACCCCAAAIIlEyAAKtkFc7pIlAAAQKsAlQip4AAAggggAACCCCAAAIIJBEgwEqixboIIJAFAQKsLNQCZUAAAQQQQAABBBBAAAEEmihAgNVEbA6FAAKpCBBgpcLIThBAAAEEEEAAAQQQQACB/AgQYOWnrigpAgh8JkCARUtAAAEEEEAAAQQQQAABBEomQIBVsgrndBEogAABVgEqkVNAAAEEEEAAAQQQQAABBJIIEGAl0WJdBBDIggABVhZqgTIggAACCCCAAAIIIIAAAk0UKEWA1a4xR01E5VAIINBQAQKshvKycwQQQAABBBBAAAEEEEAgewKlCLCyx06JEECgDgECrDrw2BQBBBBAAAEEEEAAAQQQyKMAAVYea40yI1BuAQKsctc/Z48AAggggAACCCCAAAIlFCDAKmGlc8oI5FyAACvnFUjxEUAAAQQQQAABBBBAAIGkAgRYScVYHwEEWi1AgNXqGuD4CCCAAAIIIIAAAggggECTBQiwmgzO4RBAoG4BAqy6CdkBAggggAACCCCAAAIIIJAvAQKsfNUXpUUAAWMIsGgFCCCAAAIIIIAAAggggEDJBAiwSlbhnC4CBRAgwCpAJXIKCCCAAAIIIIAAAggggEASAQKsJFqsiwACWRAgwMpCLVAGBBBAAAEEEEAAAQQQQKCJAgRYTcTmUAggkIoAAVYqjOwEAQQQQAABBBBAAAEEEMiPAAFWfuqKkiKAwGcCBFi0BAQQQAABBBBAoFUC7boba9XBOS4CCJRZgACrzLXPuSOQTwECrHzWG6VGAAEEEEAAAQQQQAABBGoWIMCqmY4NEUCgRQIEWC2C57AIIIAAAggggAACCCCAQKsECLBaJc9xEUCgVgECLCtH//1aGxDbIYAAAggggAACCCCAQP4EkgRYGumsJ6YsLb3vmZ2l4lAWBBBoggABVhOQOQQCCCCAAAIIIIAAAgggkCWBJAFWlsrtykKAlcVaoUwINFaAAKuxvuwdAQQQQAABBBBAAAEEEMicAAFW5qqEAiGAQIQAARZNBAEEEEAAAQQQQAABBBAomQABVskqnNNFoAACBFgFqEROAQEEEEAAAQQQQAABBBBIIkCAlUSLdRFAIAsCBFhZqAXKgAACCCCAAAIIIIAAAgg0UYAAq4nYHAoBBFIRIMBKhZGdIIAAAggggAACCCCAAAL5ESDAyk9dUVIEEPhMgACLloAAAggggAACCCCAAAIIlEyAAKtkFc7pIlAAAQKsAlQip1BEgXbly0U8Mc4JAQQQQAABBBBAIAMCBFgZqASKgAACiQQIsBJxsTICCCCAAAIIIIAAAgggkH8BAqz81yFngEDZBAiwylbjnC8CCCCAAAIIIIAAAgiUXoAAq/RNAAAEcidAgJW7KqPACCCAAAIIIIAAAggggEB9AgRY9fmxNQIINF+AAKv55hwRAQQQQAABBBBAAAEEEGipAAFWS/k5OAII1CBAgFUDGpsggAACCCCAAAIIIIAAAnkWIMDKc+1RdgTKKUCAVc5656wRQAABBBBAAAEEEECgxAIEWCWufE4dgZwKEGDltOIoNgIIIIAAAggggAACCCBQqwABVq1ybIcAAq0SIMBqlTzHRQABBBBAAAEEEEAAAQRaJECA1SJ4DosAAjULEGDVTMeGCCCAAAIIIIAAAggggEA+BQiw8llvlBqBMgsQYJW59jl3BBBAAAEEEEAAAQQQKKUAAVYpq52TRiDXAgRYua4+Co8AAgggkJ5AuzGmLb3dsScEEEAAAQQyLECAleHKoWgIIBAqQIBFw0AAAQQQQAABBBBAAAEESiZAgFWyCud0ESiAAAFWASqRU0AAAQQQQAABBBBAAAEEkggQYCXRYl0EEMiCAAFWFmqBMiCAAAIIIIAAAggggAACTRQgwGoiNodCAIFUBAiwUmFkJwgggAACCCCAAAIIIIBAfgQIsPJTERDJGgAAIABJREFUV5QUAQQ+EyDAStoSmOM3qRjrI4AAAggggAACCCCAQMYECLAyViEUBwEEIgUIsCKJWAEBBBBAAAEEEEAAAQQQKJZA/QFWa3/Z733P7GJVCGeDAAKRAgRYkUSsgAACCCCAAAIIIIAAAggUS6D+AKu1HgRYrfXn6Ai0QoAAqxXqHBMBBBBAAAEEEEAAAQQQaKEAAVYL8Tk0AgjUJECAVRMbGyGAAAIIIIAAAggggAAC+RUgwMpv3VFyBMoqQIBV1prnvBFAAAEEEEAAAQQQQKC0AgRYpa16ThyB3AoQYOW26ig4AggggAACCCCAAAIIIFCbAAFWbW5shQACrRMgwGqdPUdGYDmB1r7LhQpBAAEEEEAAAQQQKIsAAVZZaprzRKA4AgRYxalLzqTkAoRfJW8AnD4CCCCAAAIIIJBAgAArARarIoBAJgQyH2AtWLDAXH755Wby5Mlmzpw5ZsCAAWbUqFHm2GOPNf369YuFuGjRInPccceZiRMnxlr/wQcfNEOHDu1YV9sdccQRFbcdOXKkufbaa02vXr1i7Z+VyilAwFTOeuesEUAAAQQQQACBLAoQYGWxVigTAghUE8h0gPXKK6/Y4Gjq1Kmmb9++pn///mb+/Plm3rx5ZuDAgWbChAlmyJAhkTWcJMDScaZMmWI233xzu99PPvnEnHzyyeacc84hwIqUZgUEEEAAAQQQQAABBBDIgwABVh5qiTIigEBQILMBlkKnk046yVxwwQXm9NNPt/+/e/fuZvHixWbSpEm2R9WIESNsr6revXvXVasffvih3f8111xjLr74YrPPPvuYtrY2u8/33nvPjB8/3vzjH/8w1113nQ3SWBBAAAEEEEAAAQQQQACBPAsQYOW59ig7AuUUyGyANXv2bDN69GgzePBgO4SwZ8+eHTW0ZMkSc9ppp5mzzjrL3HzzzWaPPfaoufaWLl1qfvOb39gA64QTTjA/+9nPTLdu3Tr299xzz5lx48aZTTbZxFx44YWmR48eNR+LDRFAAAEEEEAAAQQQQACBLAgQYGWhFigDAggkEchsgKUhe8cff7ztEXX44Ycvd04zZ8402267re2JdfbZZ5uVVlopyXl3rDtr1iyz3377mfXXX9/2wFpnnXU67eeRRx4xO+20kznmmGPMmWeeabp27VrTcdgIAQQQQAABBBBAAAEEEMiKAAFWVmqCciCAQFyBTAZYH3/8se0NddFFF5kZM2aYbbbZZrnz0TxYY8eONWuvvXbNE6i///77djL4W2+91YZXu++++3LHufrqq82BBx5orrzySvOlL33JhmXTp0+3k8kfdNBB5tBDD617CGPcymI9BBBAAAEEEEAAAQQQQCANAQKsNBTZBwIINFMgkwGWm3dKvaNuv/12M2jQoOVM3nrrLdtz6rXXXjM33nijDZSSLrfccovZc889zQEHHGDOP/98s/rqq3faRXt7uznjjDPsP9ttt515+umn7XFWWGEFM3fuXPP222+brbbayg4tDCtj0vKwPgIIIIAAAggggAACCCDQDAECrGYocwwEEEhTIJMBVpxwKs461aDeeecd23vqnnvusT2wdthhh+VWX7hwoTn66KNt76xRo0aZ8847zw411KLtf/nLX9oeWfrbZZddZnuDsSCAAAIINFGg3Rjz2Ts3WBBAAAEEEEAggQABVgIsVkUAgUwIlDbAcr2vNAxQbzpcddVVl6uQBQsWmBNPPNG89NJLdjjjxhtv3GkdNwRRwwwVYCkQY0EAAQQQQAABBBBAAAEE0hJo1G81BFhp1RD7QQCBZgmUMsBatGiRnfx94sSJdb/F8NprrzX777+/Oeqoo8yvf/1rs/LKKzer7jgOAggggAACCCCAAAIIIFCTAAFWTWxsVINAo0LYGorCJjkXyGSA5Ybu6Q2AN910k9lss82WY3ZDCN98801zww03mA033DB2VTz11FNm7733Nj179jTXXXed6du3b+xt/RU1T9ewYcPsmxL15sTu3bvH3tejjz4ae11WRAABBBBAAAEEEEAAAQTSEljvP49Ma1ct2c/Lv5jQkuNyUATKIpDFeb4zGWA1+i2ErtfUj370I3PmmWearl27VmyDn3zyidE/q622Wug6M2fONNtuuy0BVlk+xZwnAggggAACCCCAAALNFtB8j+rGkuJCgJUiJrtCoIACBFgJKlW9mY4//nhz8cUX23DIX+6++26z00472aGAmkh9pZVWirV3hVEnn3yy7S31+9//3uy2224Vt7vtttvM7rvvbsaPH2/OPfdcs8oqqyy3roYhHnHEETYIO/XUU01bG7MJx6oIVkIAAQQQQAABBBBAAIGWCTCEsGX0HBgBBGoUyGQPLJ3L7NmzzejRo83gwYPN5Zdfbof7uWXJkiXmtNNOM2eddVbiOaw05PB73/ueefXVV83kyZPNRhttVJHODTXUChqm6A9lfO2112y4pV5Yld5kWGO9sBkCCCCAAAIIIIAAAggg0DCBsgZYzMfUsCbFjhFouEBmAyxNtH7SSSfZNwQqrNLbAPWmwMWLF5tJkybZnlfDhw83l156qVlrrbViQz3zzDNmzJgxpk+fPkZDCXv16lVx22BQNmrUKHPeeeeZ9ddf366v8Erlu+aaa8wxxxxjfvnLXyaa/yp2gVkRAQQQQAABBBBAAAEEEEhZoKwBVsqM7A4BBJookNkASwbPPvusDYemTZtmJ1rv37+/mT9/vpk3b54ZOHCgmTBhghkyZEgnLjep+siRI0MDqqSTri9YsMCccMIJNqjq0aOH2Xzzze3xHn/8caPJ5tWbS28f7N27dxOrjUMhgAACCCCAAAIIIIAAArULEGDVbseWCCDQGoFMB1giUYCkIYQa7jdnzhwzYMAAo95Qxx57rOnXr99yalEB1o033mjGjRtn4kzg7nauXl933HGHueyyy4z2r2Xo0KF2+OAuu+xiunXr1pra46gIIIAAAggggAACCCCAQA0CBFg1oLEJAgi0VCDzAVZLdTg4AggggAACCCCAAAIIIFBAAQKsAlYqp4RAwQUIsApewZweAggggAACCCCAAAIIIOALEGDRJhBAIG8CBFh5qzHKiwACCCCAAAIIIIAAAgjUKUCAVScgmyOAQNMFCLCaTs4BEUAAAQQQQAABBBBAAIHWChBgtdafoyOAQHIBAqzkZmyBAAIIIIAAAggggAACCORagAAr19VH4RHIpEC7MaatgSUjwGogLrtGAAEEEEAAAQQQQAABBLIoQIDVqlpp9CN+q86L4yLQeAECrMYbcwQEEEAAAQQQQAABBBBAIFMCBFiZqg4KgwACMQQIsGIgsQoCCCCAAAIIIIBAlgXo0ZDl2qFs2RQgwMpmvVAqBBCoLECARetAAAEEEEAAAQQQQAABBEomQIBVsgrndBEogAABVgEqkVNAAAEEEEAAAQQQQAABBJIIEGAl0WJdBBDIggABVhZqgTIggAACCCCAAAIIIIAAAk0UIMBqIjaHQgCBVAQIsFJhZCcIIIAAAggggAACCCCAQH4ECLDyU1eUFAEEPhMgwKIlIIAAAggggAACCCCAAAJFFajwjgMCrKJWOOeFQHEFCLCKW7ecGQIIIIAAAggggAACngBvbKRJfCZAgEVLQACBvAkQYOWtxigvAggggAACCCCAAAIIIFCnAAFWnYBsjgACTRcgwGo6OQdEAAEEEEAAAQQQyKoA/ZOyWjOUK20BAqy0RdkfAgg0WoAAq9HC7B8BBBBAAAEEEEAAAQQQyJgAAVbGKoTiIIBApAABViQRKyCAAAIIIIAAAggggAACxRIgwCpWfXI2CJRBgACrDLXMOSKAAAIIIIAAAggggAACAQECLJoDAgjkTYAAK281RnkRQAABBBBAAAEEEEAAgToFCLDqBGRzBBBougABVtPJOSACCCCAAAIIIIAAAggg0FoBAqzW+nN0BBBILkCAldyMLRBAAAEEEEAAAQQQQACBXAsQYOW6+ig8AqUUIMAqZbVz0ggggAACCCCAAAIIIFBmAQKsMtc+545APgUIsPJZb5QaAQQQQAABBBBAAAEEMiXQboxpy1SJqhWGACs3VUVBEUDgXwIEWDQFBBBAAAEEEEAAgUIJ5CtGKBQ9J5MjAQKsHFUWRUUAAStAgEVDQAABBBBAAAEEEEAAAQRKJkCAVbIK53QRKIAAAVaGKpFfCzNUGRQFAQQQQAABBBBAAIECCxBgFbhyOTUECipAgFXQiuW0EEAAAQQQQAABBBBAAIFKAgRYtA0EEMibAAFW3mqM8iKAAAIIIIAAAggggAACdQoQYNUJyOYIINB0AQKsppNzQAQQQAABBBBAAAEEEECgtQIEWK315+gIIJBcgAAruRlbIIAAAggggAACCCCAAAK5FiDAynX1UXgESilAgFXKauekEUAAAQQQQAABBBBAoMwCBFhlrn3OHYF8ChBg5bPeKDUCCCCAAAIIIIAAAgggULMAAVbNdGyIAAItEiDAahE8h0UAAQQQQAABBBAooEC7MaatgOfFKRVOoIgBVvvCx82yl35lzFt3mvYlC7NdZyt83rT12sl06XuiaeuxebbLSukQyIgAAVZGKoJiIIAAAggggAACCCCAAALNEihagKXwaulftjFm2aJmEaZznC7dTdctZxJipaPJXgouQIBV8Arm9BBAAAEEEEAAAQQQQAABX6BoAdbSJ/cz7a9PzmVFt31hjOm66bW5LDuFRqCZAgRYzdTmWAgggAACCCCAAAIIIIBABgQKF2DNWCP7wwYr1fsKnzcrbLsgA62CIiCQbQECrGzXD6VDAAEEEEAAAQQQaLkAE1u1vAooQOoCRQuwlkxfMXWjZu5whR0+bebhOBYCuRQgwMpltVFoBBBAAAEEEEAAAQQQQKB2AQKs2u0asSUBViNU2WfRBPIbYPFDWNHaIueDAAIZEeDympGKoBgIIIAAAgg0UIAAq4G4NeyaAKsGNDYpnUB+A6zSVRUnjAACCCCAAAIIIIAAAgikI0CAlY5jWnshwEpLkv0UWYAAq8i1y7khgAACCCCAAAIIIIBA/gUa0D2aACtbzYIAK1v1QWmyKUCAlc16oVQIIIAAAggggAACCCCAQMMECLAaRlvTjgmwamJjo5IJEGCVrMI5XQQQQAABBBBAAAEEEECAACtbbYAAK1v1QWmyKUCAlc16oVQIIFAGgQYMBygDG+eIAAIIIIAAAvULEGDVb5jmHgiw0tRswL64b28AavJdEmAlN2MLBBBAAAEEEEAAAQQQQCDXAgRY2ao+Aqxs1QelyaYAAVY264VSIYAAAggggAACCCCAAAINEyDAahhtTTsmwKqJjY1KJkCAVbIK53QRQAABBBBAAAEEEEAAAQKsbLUBAqxs1QelyaYAAVY264VSIYAAAggggAACCCCAAAINEyDAahhtTTsmwKqJjY1KJkCAVbIK53QRQAABBJiFkzaAAAIIIIAAAVa22gABVrbqg9JkU4AAK5v1QqkQQAABBBBAAAEEEEAAgYYJEGA1jLamHRNg1cTGRiUTIMAqWYVzuggggAACCCCAAAIIIIAAAVa22gABVrbqg9JkU4AAK5v1QqkQQAABBBBAAAEEEEAAgYYJEGA1jLamHRNg1cTGRiUTIMAqWYVzuggggAACCCCAAAIIIIAAAVa22gABVrbqg9JkU4AAK5v1QqkQQAABBBBAAAEEEEAAgYYJNC7Aas7LUnrfM7uTzZLpKzbMqhk7JsBqhjLHyLsAAVbea5DyI4AAAggggAACCCCAAAIJBRoXYCUsSI2rRwVYzYnRaix8yGYEWOlZsqfiChBgFbduOTMEEEAAAQQQQAABBBBAIFSg6AFW3qqdACtvNUZ5WyFAgNUKdY6JAAIIIFBCgbz9FlzCKuKUEUAAgRIJEGBlq7IJsLJVH5QmmwIEWNmsF0qFAAIIIIAAAggggAACCDRMgACrYbQ17ZgAqyY2NiqZAAFWySqc00UAAQQQQAABBBBAAAEECLCy1QYIsLJVH5QmmwIEWNmsF0qFAAIIIIAAAgggkAUBRv9moRYoQwMECLAagFrHLpsbYHFhq6Oq2LSFAgRYLcTn0AgggAACCCCAAAIIIIBAKwQIsFqhXvmYzQ2wsnXulAaBuAIpBVgkuHHBWQ8BBBBAAIEiCPDNX4Ra5BwQQKDMAgRY2ap9Aqxs1QelyaZASgFWNk+OUiGAAAIIIIAAAggggAACCCwvQICVrVbx/9k7E7C7qup+70BIhICCKQhoDfUPBbUltgwmDSVgGLSBEmOUyKCoqYBMAoIai6BopLaKhECYopVBSQShIFaBWEFTMYoMdSAPlIpQoA2oGE0Imf7P7+j5er773eEMe5+97rnvfR4eINl77XXete+6a//OPvsgYNmKB97YJICAZTMueAUBCEAAAhAYTAJs7RrMuHPVEIBA7QQQsGpH3nVABCxb8TDjDXXRsFAgYJmZmTgCAQhAAAIQgAAEIAABCECgHgIIWPVwzjsKAlZeUrQbZAIIWIMcfa4dAhCAAAQgAAEIQAACEBhIAghYtsKOgGUrHnhjkwACls244BUEIAABCEAAAhCAAAQgAIFgBBCwgqEtZRgBqxQ2Og0YAQSsAQs4lwsBCEAAAhCAAAQgAAEIQAABy9YcQMCyFQ+8sUkAActmXPAKAhCAAAQgAAEIQAACEIBAMAIIWMHQljKMgFUKG50GjAAC1oAFnMuFAAQgAAEIQAACEIAABCCAgDV8DsR+2RsCFt9JCPQmgIDVmxEtIAABCEAAAhCAAAQgAAEINIoAApatcCJg2YoH3tgkgIBlMy54BQEIQAACEIAABCAAAQhAIBgBBKxgaEsZtihgxd6VVgoknRpNAAGr0eHl4uwQIP3biQWeQAACEIAABCAAAQggYNmaAxYFLFuE8AYCziFgMQsgAAEIQAACEIAABCAAAQgMGAEELFsBR8CyFQ+8sUkAActmXPAKAhCAAAQgAAEIQAACEIBAMAIIWMHQljKMgFUKG50GjAAC1oAFnMuFAAQgAAEIQAACEIAABCCAgGVrDiBg2YoH3tgkgIBlMy54BQEIQAACEIAABCAAAQhAIBgBBKxgaEsZRsAqhY1OA0YAAWvAAs7lQgACEIAABCAAAQhAAAIQQMCyNQcQsGzFA29sEkDAshkXvIIABCAAAQhAAAIQgAAEIBCMAAJWMLSlDCNglcJGpwEjgIA1YAHnciEAAQhAAAIQgAAEIAABCCBg2ZoDCFi24oE3NgkgYNmMC15BAAIQgAAEIAABCEAAAhAIRgABKxjaUoYRsEph69ppk3NulH+zWIxIAAErInyGhgAEIFCcAD/FxZnRAwIQgAAEIACBVgIIWLbmBAKWrXjgjU0CCFg244JXEIAABCAAAQhAAAIQgAAEghFAwAqGtpRhBKxS2OJ04n5yHO7aUbdp06ZNjgBECwADQwACEIAABCAAAQhAAAIQqJsAAlbdxLuPh4BlKx54Y5MAO7BsxgWvIAABCEAAAhCAAAQgAAEIBCOAgBUMbSnDCFilsNFpwAggYA1YwLlcCEAAAhCAAAQgAAEIQAACCFi25gAClq144I1NAghYNuOCVxCAAAQgAAEIQAACEIAABIIRQMAKhraUYQSsUtjoNGAEELAGLOBcLgQgAAEIQAACEIAABCAAAQQsW3MAActWPPDGJgEELJtxwSsIQAACEIAABCAAAQhAAALBCCBgBUNbyjACVilsdBowAghYAxZwLhcCEIAABCAAAQhAAAIQgAAClq05gIBlKx54Y5MAApbNuOAVBCAAAQhAAAIQgEApApucc6NK9aQTBAaJAAKWrWgjYNmKB97YJICAZTMuBryi+DMQBFyAAAQgAAEIQAACEBgIAvXX3ghYtiYWApateOCNTQIIWDbjglcQgAAEIAABCEAAAhCAAASCEUDACoa2lGEErFLY6DRgBBCwBizgXC4EIAABCEAAAhCAAAQgAAEELFtzAAHLVjzwxiYB8wLWypUr3aJFi9ySJUvcfffd53bffXc3ffp0d8opp7hddtmlENUnn3zSHX300e7b3/52x37XXntt0ib72bhxo7vrrrvcwoUL3dKlS926devclClT3Jw5c9xhhx3mxo4dW8gPGkMAAhCAAAQgAAEIQAACEIhJAAErJv2RYyNg2YoH3tgkYFrAeuKJJ9wJJ5zgbrvtNjdhwgS32267uccff9ytWLHCTZw4MRGUJk+enJvsvffe6w4//HD31FNP5RawNmzY4CRqSTBbtWqVmzRpkttiiy3c/fffn/z/3Llzk3/GjRuX2w8aQgACEIAABCAAAQhAAAIQiEkAASsmfQQsW/Txpl8ImBWw1qxZ484++2y3YMECd9555yX/veWWW7q1a9cmgtLpp5/uDjroIHf55Ze77bffPhfvW265xR1xxBHus5/9bNI/z2fZsmXJjqwdd9zRXXLJJW6vvfZKuj366KPu1FNPdXfffbe74oor3OzZs/OYow0EINCBQP1HlxIKCEAAAhCAAAQgMLgEELBsxZ4dWLbigTc2CZgVsJYvX+5mzJiR7HjSI4TbbbfdEMH169e7c889182bN8/deOONbubMmbnofupTn0p2S91+++3u4IMP7tlHYpmEs/nz57cd58EHH0yEqz322GOEjz2N0wACEIAABCAAAQhAAAIQgEAkAghYkcB3GBYBy1Y88MYmAbMC1oUXXujOOOMMd9lll7njjz9+BD3tfJo6dWqyk+qCCy5wY8aM6Ur4+eefd2eeeaa744473A033OD23HPPnhF57LHH3FFHHZXYvu6669zOO+88rM/q1avdaaedljzieOuttw7tzuppmAYQgAAEIAABCEAAAhCAAAQiEkDAigi/zdAIWLbigTc2CZgUsFKx6dJLL00OT99///1H0NM5WEceeWTyaJ/EpfHjx3clrMPgJUbp87nPfc59+ctfTh5F/OUvf+mmTZuWPA4oQWyzzTYbsnPPPfe4Qw45JBnnoosucltttdWIMc4//3z30Y9+NLHVevi7zZDjFQQgAAEIQAACEIAABCAw6AQQsGzNAAQsW/HAG5sETApYzz33XPKGP50/1Wln07PPPpsIRk8//bRbvHhx8nbCbp+HHnrIve1tb0sEKj2CqH90MLyELb3dUJ/sWVv6//TMrG67vCSeHXPMMe7jH/+4O+ecc2xGGa8gAAEIQAACEIAABCAAgcoEHnl6o/vyPevc8kc2uNUv6ARPu5+txzq39/8b7d4+aQu3647/d5M+9RgBy1bsELBsxQNvbBIwKWDlEafytMki16OD2k21zTbbOD2eKNFp7NixbuPGjYlQprcMPvDAA+6aa65JhLFRo0YlO7t6iVN52tgMPV5BAAIQgAAEIAABCEAAAnkJSLw69ern3dr1toWr1usZO3qUm/+OF40QsRCw8ka+nnYIWPVwZpT+JjAwAtb111+fPAaog+F1Ftbo0aOHRU4Hu8+aNcu9/vWvd1dffbXbaaedggtY9957b3/PHufcKOdcf/2E9z1yLgACEIAABCAAAQhAIAKB6x58uXvgqW0ijFx9yIk7rXJH7/nfwwy98oMnVjcc0cIv/mHhsNEn/npSRG+qD/3AtvdUN4IFCHgksNdee3m05sfUwAhYvXA988wz7thjj012Y0nM0tsP8+yuytOm09hNELB6ceXvIQABCEAAAhCAAAQg0AQC59z5p27thpGP4vXDtW05eoP72LSHEbAMBwsBy3BwBtQ1BKycgV+1apU76aSTnA5R7/TGwPQRQglP2l2166675rTevtmaNWuSNxpefvnl7rvf/a6bMmVK8sZCPXb44Q9/2Omw9s0333xE51TAmjdvXtKODwQgAAEIQAACEIAABCDQPALT5v2ury9q6dxxw/znEUJb4eQRQlvxwBubBEzuwArxFsJNmza53/72t27LLbcc8figQrN69Wp32mmnuauuumpIwOIthDYnLV5BAAIQgAAEIAABCECgbgIIWHUT7z7e9ncuH9Zg/dItbDlY0BsErILAaD6QBEwKWIqEDlo/44wz3GWXXeaOP/74EcFJd0d1e0Ng2il9q6F2c911111u//33H2HvySefTA5v/9WvfjX0VsPHHnvMHXXUUW7MmDHJ44Q777zzsH7pTrE777yz49sSB3JWcdEQgAAEIDAQBJr0Nq6BCBgXCQEIVCKAgFUJn/fOCFjekWIQAuYJmBWwli9fnhy4rrOoFi1a5LbbbrshmOvXr3fnnnuu02N7N954o5s5c2ZX0Bs2bHAf+9jHkscA586dm/x39hB37c6SQKUzsI477ji3YMECN27cOLd27Vp39tlnu/nz57cd58EHH3SzZ892e+yxxwgfzUceByEAAQhAAAIVCDTtbVy5UOitJXp7CR8IQGAgCSBg2Qo7ApateOANBOogYFbA0plUEo8kJkmsOuuss4ZEpWuvvTY5r+rAAw90V155pdthhx16skrFpieeeCLZ3XXMMce4sWPHuo0bNybilOzrIyFL51+lHx3qrp1ZO+64o7v44ovd3nvv7UaNGuUeffRRd+qpp7rbbrvNyR+14QMBCEAAAhAYFALn37zWffun6/vycg94zWh3zoyxfek7TkMAAvEIIGDFY99u5EEQsFb86r/cFx+62S176kdu9bo1tgLQ4s02W4xzk3Z6nXvnHjPc7tv9iWlfca5/CZgVsIT04YcfdieffHLyVsAJEya43XbbzT3++ONuxYoVbuLEiW7hwoVu8uTJw+hLcNpvv/3coYcemohR48ePT/5eu6xuuumm5LFEPRq4++67Jzb137Kn//7sZz/r3vzmNycCVfrRbi89xqidW3pkUDvCtthiC3f//fcn/68/1z/ascUHAhCAAAQgMCgEDv+n1W71C9qS1H+frcc69y9n8rvdf5HDYwjEJYCAFZd/6+hNF7AkXr1n6Ufc2g0v2ALfw5uxm49xi6Z9EhHnL3xMAAAgAElEQVSrr6LWP86aFrCEceXKlcnjeUuWLHH33XdfIjxNnz7dnXLKKW6XXXYZQbqTgJU2/PnPf57spNLOKQlXveypn3Zp6ewsCWZLly5169atS3ZpzZkzxx122GHJTi4+EGgKgfWPrHCrr7/arVu+zG1cvdr0ZY3aehs3Zu9JbqvZ73Cjd93dtK84B4GmEWjaQq5p8eF6IAAB/wSalvd4C6H/OVLFYush7nO/d6G74xfLqpiM1vfgV05x8yafHm18Bm4uAfMCVnPRc2UQsEdA4tWvT5vjNq1da8+5Lh6NGjvWbXvRVYhYfRU1nO13Ak1byPV7PPAfAhAIT6BpeQ8BK/ycKTJCq4A19avHmn9ssNP16XHCb838YpHLp601AkbP/UTAsjZR8AcCEQn85hMfcWu/fUdED8oPPfaAg92L//6T5Q3QEwIQKESgaQu5QhdPYwhAYCAJNC3vIWDZmsatAtY+i2fZcrCgNz848oaCPWgOgd4EELB6M6IFBAaGwLN/e4D5xwY7BUOPE/7RzUsHJlZcKARiE2jaQi42z67jG70LapoZzkEgAIGm5T0ErACTpIJJBKwK8Og6MAQQsAYm1FwoBHoTaFoh0/uKaQEBCJQl0LSFXFkO9IMABAaHQNPyXtPqvvVLt+jryYiA1dfhw/maCCBg1QSaYSDQDwSaVsj0A3N8hEC/EmjaQq5f44DfEIBAfQSalveaVvchYNX3XcgzEo8Q5qFEm6IEELCKEqM9BFoIPPL0Rvfle9a55Y9sMP9Keb06fu//N9q9fdIWbtcdNxsRy6YVMkxWCEAgHIGmLeTCkcKyLwJ6pfwXH7rZLXvqR+YPNtYBxpN2ep175x4zeJW8rwlgwE7T8l7T6j4ELANfkowLCFi24tEUbxCwmhJJriMKAYlXp179vFu7XgeU9M9n7OhRbv47XjRCxGpaIdM/EcFTCPQfgaYt5PovAoPlscSr9yz9iFu74YW+uvCxm49xi6Z9EhGrr6LW2dmm5b2m1X0IWLa+aAhYtuLR0Zs+O2cTAatP5hVu2iRw/s1r3bd/ut6mcz28OuA1o905M8YOa9W0QkYXt2nV/W7jY//o3LP/6jatX2U7VqO3daPGH+I2m3CWG7XN62z7incDT6BpC7mBD6hxAHO/d6G74xfLjHvZ3r2DXznFzZt8el/6jtPDCTQt7zWt7kPAsvWNRcCyFY+meIOA1ZRIch1RCBz+T6vNPzbYCYweJ/yXM8c1WsCSeLXhh/s7t3FNlPlRetDNtnSb7303IlZpgHSsg0DTFnJ1MGOM8gSmfvVY848Ndro6PU74rZlfLH/x9DRDoGl5DwHLzNRKHOEQd1vx6OpNn+1a6iOyPV1FwOqJiAYQ6EyAQsbW7Nj+zuXDHNrw46Pdpv9ZYsvJnN6Metnb3OZ/dl3O1jSDQP0Empb/6ifIiEUI7LN4VpHm5tqyE8FcSEo51LS8h4BVahoE64SAFQwthhtEAAGrQcHkUuonQCFTP/NuI44QsO56qf3HBjtd0Oht3eipK20BxhsIZAg0Lf8RXNsEELBsx2dQvGta3kPAsjVzEbBsxQNvbBJAwLIZF7zqEwIUMrYC1SpgNe0sBFu08WbQCTQt/w16PK1fPwKW9QgNhn9Ny3sIWLbmLQKWrXjgjU0CCFg244JXfUKAQsZWoBCwbMUDb5pNoGn5r9nR6v+rQ8Dq/xg24QqalvcQsGzNSgQsW/HAG5sEELBsxgWv+oQAhYytQA2CgKVXyX/xoZvdsqd+ZP5AYx1cPGmn17l37jGDV8jb+qp48aZp+c8LFIwEI4CAFQwthgsQaFreQ8AqEPwamiJg1QCZIfqeAAJW34eQCwhBIO+LJShkQtAvb7PpApbEq/cs/Yhbu+GF8pAi9By7+Ri3aNonEbEisA85ZNPyX0hW2K5OAAGrOkMsVCfQtLyHgFV9TnS0MMo5pwVFgQ8CVgFYNB1YAghYAxt6LtwHAQoZHxT92Wi6gDX3exe6O36xzB+wGi0d/Mopbt7k02sckaFCE2ha/gvNC/vVCCBgVeNHbz8Empb3ELD8zAtfVhCwfJHETpMJIGA1ObpcW3ACFDLBERcaoOkC1tSvHmv+scFOAdPjhN+a+cVC8aSxbQJNy3+2aeMdAhZzwAKBpuU9BCwLs+r/fEDAshUPvLFJAAHLZlzwqk8IUMjYClTTBSwWcLbm26B707T818R4blp1v9v42D869+y/uk3rV9m+xNHbulHjD3GbTTjLjdrmdSN8Jf/ZDt+geNe0vIeAZWvmImDZigfe2CSAgGUzLnjVJwQoZGwFCgHLVjxavfnBkTfYdhDvChFoWv4rdPF90Fji1YYf7u/cxjV94G3Gxc22dJvvffcIEQsBq7/C2FRvm5b3ELBszVQELFvxwBubBBCwbMYFr/qEAIWMrUAhYNmKBwKW7XhU9a5p+a8qD2v9N/z4aLfpf5ZYcyuXP6Ne9ja3+Z9dN6wtAlYudDQKTKBpeQ8BK/CEKWgeAasgMJoPJAEErIEMOxftiwCFjC+SfuwgYPnhGMoKO7BCkY1jt2n5Lw7FcKNuuOul9h8b7HT5o7d1o6euRMAKNz2wXJJA0/IeAlbJiRCoGwJWILCYbRQBBKxGhZOLqZsAhUzdxLuPh4BlKx6t3iBg2Y5PUe+alv+KXr/19uuXbmHdxa7+sZDr6/A11vmm5T0ELFtTlbxnKx54Y5MAApbNuOBVnxCgkLEVKAQsW/FAwLIdj6reNS3/VeVhrT8Clq2IIODbikdZb5qW9xCwys6EMP0QsMJwxWqzCCBgNSueXE3NBChkagbeYzgELFvxQMCyHY+q3jUt/1XlYa0/ApatiCBg2YpHWW+alvcQsMrOhDD9ELDCcMVqswggYDUrnlxNzQQoZGoGjoBlC3hBb1jAFQRmvHnT8p9x3IXdQ8AqjCxoB/JfULy1GW9a3kPAqm3q5BoIASsXJhoNOAEErAGfAFx+NQIUMtX4+e7NDizfRP3aYwHnl2dsa03Lf7F5+h4fAcs30Wr2yH/V+Fnp3bS8h4BlZWb93g8ELFvxwBubBBCwbMYFr/qEAIWMrUAhYNmKR6s3LOBsx6eod03Lf0Wv33p7BCxbESL/2YpHWW+alvcQsMrOhDD9ELDCcMVqswggYDUrnlxNzQQoZGoG3mM4BCxb8UDAsh2Pqt41Lf+Jx/pHVrjV11/t1i1f5jauXl0VUdD+o7bexo3Ze5LbavY73Ohddx8xFgJWUPyFjSNgFUZmskPT8h4Clq1p1ipg7bt4lttky8VC3pD3CuGicU4CCFg5QdEMAu0IUMjYmhcIWLbigYBlOx5VvWta/pN49evT5rhNa9dWRVNr/1Fjx7ptL7pqhIiFgFVrGHoOxkKuJ6K+aNC0vIeAZWvasQPLVjzwxiYBBCybccGrPiFAIWMrUAhYtuKBgGU7HlW9a1r++80nPuLWfvuOqlii9B97wMHuxX//yWFjI2BFCUXHQRGwbMWjrDdNy3sIWGVnQph+CFhhuGK1WQQQsJoVT66mZgIUMjUD7zEcApateCBg2Y5HVe+alv+e/dsDzD822Clmepzwj25eioBVdVIH7I+AFRBujaablvcQsGqcPDmGQsDKAYkmA08AAWvgpwAAqhCgkKlCz39fBCz/TH1aZAHnk2Z8W+S/+DHIekD+sxUPBHzb8SjrHXmvLLkw/ch7Ybj6skrd54skdrIEELCYDxCoQIBCpgK8nF1HOZf7AEsKmZxQIzWjkIkEPtCw5L9AYEuaJf+VBFdTN/JfTaADD0PeCwy4oHnyXkFgNTcn79UMfECGQ8AakEBzmWEIUMiE4VrWKoVMWXL19KOQqYdzXaOQ/+oinW8c8l8+TrFakf9ikfc7LnnPL8+q1sh7VQmG7U/eC8t3UK0jYA1q5LluLwQoZLxg9GaEQsYbyiCGKGSCYI1mlPwXDX3bgcl/tuLR6g35z3Z88npH3stLqp525L16OJcdhbxXlhz9uhFAwGJ+QKACAQqZCvACdKWQCQDVo0kKGY8wDZgi/xkIQsYF8p+teCBg2Y5HWe/Ie2XJhelH3gvD1ZfVfqn7NjnndGQJn/4ggIDVH3HCS6MEKGRsBYZCxlY8WMDZjkdV78h/VQn67U/+88vTt7V+Wcj5vu6m2SPv2Yooec9WPKj7bMejKd4hYDUlklxHFAIUMlGwdxyUQsZWPChkbMejqnfkv6oE/fYn//nl6dsaApZvonHskfficO80KnnPVjyo+2zHoyneIWA1JZJcRxQCFDJRsCNg2cKe2xsWcLlR9UVD8p+tMLGQsxUPFnK241HWO/JeWXJh+pH3wnD1ZZW6zxdJ7GQJIGAxHzoQ4GngPFODQiYPpfraUMjUx7rMSBQyZajZ7UP+sxUb8p+teCBg2Y5HWe/Ie2XJhelH3gvD1ZdV6j5fJLGDgMUcgIAnAhQynkB6MkMh4wlkIDMUMoHARjJL/osEvsOw5D9b8UDAsh2Pst6R98qSC9OPvBeGqy+r1H2+SGIHAYs5AAFPBChkPIH0ZIZCxhPIQGYoZAKBjWSW/BcJPAKWLfA5vSH/5QRlvBl5z1aAqPtsxQPh3nY8muIdjxA2JZJcRxQCFDJRsHcclELGVjwoZGzHo6p35L+qBP32J//55enbGgKWb6Jx7JH34nDvNCp5z1Y8qPtsx6Mp3iFgNSWSXEcUAhQyUbAjYNnCntsbFnC5UfVFQ/KfrTCxkLMVDxZytuNR1jvyXllyYfqR98Jw9WWVus8XSexkCSBgMR8gUIEAhUwFeAG6UsgEgOrRJIWMR5gGTJH/DAQh4wL5z1Y8ELBsx6Osd+S9suTC9CPvheHqyyp1ny+S2EHAYg5AwBMBChlPID2ZoZDxBDKQGQqZQGAjmSX/RQLfYVjyn614IGDZjkdZ78h7ZcmF6UfeC8PVl1XqPl8ksYOAxRyAgCcCFDKeQHoyQyHjCWQgMxQygcBGMkv+iwQeAcsW+JzekP9ygjLejLxnK0DUfbbigXBvOx5N8Y5HCJsSSa4jCgEKmSjYOw5KIWMrHhQytuNR1TvyX1WCfvuT//zy9G0NAcs30Tj2yHtxuHcalbxnKx7Ufbbj0RTvELCaEkmuIwoBCpko2BGwbGHP7Q0LuNyo+qIh+c9WmFjI2YoHCznb8SjrHXmvLLkw/ch7Ybj6skrd54skdrIEELCYDxCoQIBCpgK8AF0pZAJA9WiSQsYjTAOmyH8GgpBxgfxnKx4IWLbjUdY78l5ZcmH6kffCcPVllbrPF0nsIGAxByDgiQCFjCeQnsxQyHgCGcgMhUwgsJHMkv8ige8wLPnPVjwQsGzHo6x35L2y5ML0I++F4erLKnWfL5LYQcBiDkDAEwEKGU8gPZmhkPEEMpAZCplAYCOZJf9FAo+AZQt8Tm/IfzlBGW9G3rMVIOo+W/FAuLcdj6Z4xyOETYkk1xGFAIVMeOyjnHObcg5DIZMTVKRmLOAigQ80LPkvENiSZsl/JcHV1I38VxPowMOQ9wIDLmievFcQWM3NyXs1Ax+Q4RCwBiTQXGYYApUKGakyUmcifpbOHTds9JUH7RvRm+pDU8hUZxjSAoVMSLr1266U/+p3d8SI5D8DQejiwuhp64b97T6LZ9l2uId35L++Dt+Q8+Q9W3Gk7rMVj1ZvyHu249Ov3iFg9Wvk8NsEAQoZE2EYcoJCxlY8KGRsx6Oqd3nyX5EdlFX9KdofAasosXrbI2DVy5vR8hHIk/fyWYrTirwXh3veUcl7eUnRbpAJIGANcvS59soEKGQqI/RqAAHLK07vxrgT5x1pVIPkv6j4RwxO/rMVDwR82/Eo6x15ryy5MP3Ie2G4+rJK3eeLJHayBBCwmA8QqECAQqYCvABdKWQCQPVokkLGI0wDpsh/BoKQcYH8ZyseCFi241HWO/JeWXJh+pH3wnD1ZZW6zxdJ7CBgMQcg4IkAhYwnkJ7MUMh4AhnIDIVMILCRzJL/IoHvMCz5z1Y8ELBsx6Osd+S9suTC9CPvheHqyyp1ny+S2EHAYg5AwBMBChlPID2ZoZDxBDKQGQqZQGAjmSX/RQKPgGULfE5vyH85QRlvRt6zFSDqPlvxQLi3HY+meMcjhE2JJNcRhQCFTBTsHQelkLEVDwoZ2/Go6h35rypBv/3Jf355+rbW3wKWgdcm+w5ISXvkvZLgAnUj7wUC68lsX+U90pynqIc3g4AVnjEjRCFQTxaikIkSXAQsW9hze9NXhUzuqxrchuQ/W7FnIWcrHgj4tuNR1jvyXllyYfqR98Jw9WWVus8XSexkCSBgMR8gUIFAuULGzovleZ1yheDX0JXXKdcAmSFKEyiX/0oP570j+c87Uq8GyX9ecWLMEwHynieQnswgYHkCGcgMAlYgsANuFgFrwCcAl1+NAIVMNX6+e1PI+Cbq1x6FjF+esa2R/2JHYPj45D9b8Wj1hvxnOz55vSPv5SVVTzvyXj2cy45C3itLjn7dCCBgMT8gUIEAhUwFeAG6UsgEgOrRJIWMR5gGTJH/DAQh4wL5z1Y8ELBsx6Osd+S9suTC9CPvheHqyyp1ny+S2MkSQMBiPkCgAgEKmQrwAnSlkAkA1aNJChmPMA2YIv8ZCAIClq0gdPGG/Nc3oerqKHnPVhyp+2zFA+Hedjya4h0CVlMiyXVEIUAhEwV7x0EpZGzFg0LGdjyqekf+q0rQb3/yn1+evq0hYPkmGsceeS8O906jkvdsxYO6z3Y8muIdAlZTIsl1RCFAIRMFOwKWLey5vWEBlxtVXzQk/9kKEws5W/FgIWc7HmW9I++VJRemH3kvDFdfVqn7fJHETpYAAhbzAQIVCFDIVIAXoCuFTACoHk1SyHiEacAU+c9AEDIukP9sxQMBy3Y8ynpH3itLLkw/8l4Yrr6sUvf5IokdBCzmAAQ8EaCQ8QTSkxkKGU8gA5mhkAkENpJZ8l8k8B2GJf/ZigcClu14lPWOvFeWXJh+5L0wXH1Zpe7zRbJpdjY550aVvih2YJVGR0cIOEchY2sWUMjYigcLONvxqOod+a8qQb/9yX9+efq2xkLON9E49sh7rdyrLUSrRpG8V5Vg2P7kvbB8B9U6AtagRp7r9kKAQsYLRm9GKGS8oQxiiEImCNZoRsl/0dC3HZj8ZyseCPi241HWO/JeWXJh+pH3wnD1ZZW6zxdJ7GQJIGAxHyBQgQCFTAV4AbpSyASA6tEkhYxHmAZMkf8MBCHjAvnPVjwQsGzHo6x35L2y5ML0I++F4erLKnWfL5LYQcBiDkDAEwEKGU8gPZmhkPEEMpAZCplAYCOZJf9FAt9hWPKfrXggYNmOR1nvyHtlyYXpR94Lw9WXVeo+XySxg4DFHICAJwIUMp5AejJDIeMJZCAzFDKBwEYyS/6LBB4Byxb4nN6Q/3KCMt6MvGcrQNR9tuKBcG87Hk3xjkcImxJJriMKAQqZKNg7DkohYyseFDK241HVO/JfVYJ++5P//PL0bQ0ByzfROPbIe3G4dxo1Rt4LeWz96Gnrhl3qPotn2QJe0BvyXkFgNM9FAAErFyYaQaA9AQoZWzMjRiETkgCFTEi62K5KgPxXlaDf/uQ/vzx9W2Mh55toHHvkvTjcLQlYIQlQ94Wki+2mEEDAakokuY4oBChkomDvOCgLOFvxaPWGBZzt+BT1jvxXlFjY9uS/sHyrWif/VSVooz95z0YcUi/Ie7biQd1nOx5N8Q4BqymR5DqiEKCQiYIdAcsW9tzesIDLjapzw5DPLhR0j/xXEFjg5izkAgOuaJ78VxGgke7kPSOB+IMb5D1b8UDAsh2PpniHgNWUSHIdUQhQyETBjoBlC3tub1jA5UbVFw3Jf7bCxELOVjxYyNmOR1nvyHtlyYXpR94Lw9WXVeo+XySxkyWAgMV8gEAFAhQyFeAF6EohEwCqR5MUMh5hGjBF/jMQhIwL5D9b8UDAsh2Pst6R98qSC9OPvBeGqy+r2brP0AZyX5eHnUgEELAigWfYZhCgkLEVRwoZW/FgAWc7HlW9I/9VJei3P/nPL0/f1hDwfRONY4+8F4d7p1HJe7biQd1nOx5N8Q4BqymR5DqiEKCQiYK946AUMrbiQSFjOx5VvSP/VSXotz/5zy9P39YQsHwTjWOPvBeHOwKWLe55vSHv5SVFuyIEELCK0KItBFoIUMjYmhIs4GzFAwHLdjyqekf+q0rQb3/yn1+evq2xkPNNNI498l4c7ghYtrjn9Ya8l5cU7YoQQMAqQou2EEDAMj0HWMCZDo+jkLEdn6LesZArSixse/JfWL5VrZP/qhK00Z+8ZyMOqRfkPVvxaPWGvGc7Pv3qHQJWv0YOv00QoJAxEYYhJyhkbMWDQsZ2PKp6R/6rStBvf/KfX56+rbGQ8000jj3yXhzunUYl79mKB3Wf7Xg0xTsErKZEkuuIQoBCJgr2joNSyNiKB4WM7XhU9Y78V5Wg3/7kP788fVtDwPJNNI498l4c7ghYtrjn9Ya8l5cU7YoQQMAqQou2EGgh0G+FzCjnnF5jm36Wzh037IpWHrRvX8eYBZzt8FHI2I5PUe/6Lf+1Xh/5r2jE620/etq6YQPus3hWvQ54Ho385xloJHPkvUjgOwxL3WcrHq3ekPdsx6dfvUPA6tfI4bcJAhQyJsIw5ASFTIl4tKqaJUzk7UIhk5dUf7Qj/9mKE/nPVjxYyNmOR1nvyHtlyYXpR94Lw9WXVeo+XySxkyWAgMV8gEAFAhQyFeAF6EohEwCqR5MUMh5hGjBF/jMQhIwL5D9b8UDAsh2Pst6R98qSC9OPvBeGqy+r1H2+SGIHAYs5AAFPBChkPIH0ZIZCxhPIQGYoZAKBjWSW/BcJfIdhyX+24oGAZTseZb0j75UlF6YfeS8MV19Wqft8kcQOAhZzAAKeCFDIeALpyQyFjCeQgcxQyAQCG8ks+S8SeAQsW+BzekP+ywnKeDPynq0AUffZigfCve14NMU7HiFsSiS5jigEKGSiYO84KIWMrXhQyNiOR1XvyH9VCfrtT/7zy9O3NQQs30Tj2CPvxeHeaVTynq14UPfZjkdTvEPAakokuY4oBChkomBHwLKFPbc3LOByo+qLhuQ/W2FiIWcrHizkbMejrHfkvbLkwvQj74Xh6ssqdZ8vktjJEkDAYj5AoAIBCpkK8AJ0pZAJALWDyTIvL6SQqS8+dYxE/quDcv4xRua/Mc65TfkNGGs5etq6YR7ts3iWMQ+LuUP+K8bLamvynq3IUPfZigfCve14NMU7BKymRJLriEKAQiYK9o6DUsjYigeFjO14VPWO/FeVoN/+5D+/PH1bQ8DyTTSOPfJeHO6dRiXv2YoHdZ/teDTFO/MC1sqVK92iRYvckiVL3H333ed23313N336dHfKKae4XXbZpVAcNm3a5B566CF31VVXudtuu82tWLHCvfSlL3XTpk1zJ554ops6darbbLPNRti8/PLL3QknnNBxrEMPPdRdd911bvz48YX8idJYN2O1dYKPFwIUMl4wejNCIeMNZRBDLOCCYI1mlPwXDX3bgcl/tuLBQs52PMp6R94rSy5MP/JeGK6+rFL3+SKJnSwB0wLWE088kQhHEpsmTJjgdtttN/f4448nwtPEiRPdwoUL3eTJk3NFVOLV4sWL3UknneR++ctfJkKYbP7mN79x99xzT2Jj7ty5yT/jxo0bsvnCCy+4D33oQ+7CCy9shoCVixaN8hKgkMlLqp52FDL1cC47CoVMWXI2+5H/bMWF/GcrHghYtuNR1jvyXllyYfqR98Jw9WWVus8XSez0hYC1Zs0ad/bZZ7sFCxa48847L/nvLbfc0q1du9Zde+217vTTT3cHHXSQ0+6o7bffvmdUH3zwQTd79my3evVqd8kll7g3velNyW4rCVs//OEPkx1d3//+9xPbRx999JC95557zs2ZM8c9+eST7ktf+lIievGBQEqAQsbWXKCQsRUPFnC241HVO/JfVYJ++5P//PL0bY2FnG+iceyR9+Jw7zQqec9WPKj7bMejKd6Z3YG1fPlyN2PGDDdp0qTkEcLttttuiPn69evdueee6+bNm+duvPFGN3PmzJ7x0A6qM844w33mM59JxK9Ro4Y/R3f77be7WbNmJWNK4Npmm20Sm4888kgifL3mNa8Z9uc9B6TBQBCgkLEVZgoZW/GgkLEdj6rekf+qEvTbn/znl6dvawhYvonGsUfei8MdAcsW97zekPfykqJdEQJmBaxUcLrsssvc8ccfP+Ka7r777uTMKolRF1xwgRszRm/baf95/vnn3Sc/+Un3la98JRHDpkyZMqKhHks88sgj3Y477jjsPCs9XnjIIYe4k08+2Z1//vlu8803L8KXtg0nQCFjK8As4GzFAwHLdjyqekf+q0rQb3/yn1+evq2xkPNNNI498l4c7ghYtrjn9Ya8l5cU7YoQMClgSXA688wz3aWXXuruuusut//+++cWnIpcfLatHjHUDqxXvepVwwSsq6++2r3zne90X/jCF9wrXvGKRCxbunRpcobWcccd597znvfkeoSxrF/0s02AQsZWfFjA2YoHApbteFT1jvxXlaDf/uQ/vzx9W2Mh55toHHvkvTjcEbBscc/rDXkvLynaFSFgUsBKz51atmyZu/XWW91ee+014pqeffbZ5Kyqp59+OjmcXYJS2Y/OwdKOL4lm55xzTvJ4onZa6c8/9rGPJf8ccMAB7qc//WkyzujRo90DDzyQHAb/+te/Pnm0sJ2PZf2hX/8QoJCxFSsWcLbigYBlOx5VvSP/VSXotz/5zy9P39ZYyPkmGsceeS8OdwQsW9zzekPey0uKdkUImBSw8ohTedrkBaFdXtpltdVWW7nrr7/e7bnnnknXVatWJW8tvOaaa9z06dPd/Pnzkx1a+vzqV79yn/70p5MdWfq7q666Knn8kM9gEaCQsRVvFnC24oGAZTseVb0j/1Ul6Lc/+c8vT9/WWMj5JhrHHnkvDncELDa7gQEAACAASURBVFvc83pD3stLinZFCAy8gPW9733PnXjiie7RRx91Om/r7W9/+9AB7ytXrnRnnXWWe+yxx5LHGV/96lcPY/ub3/wmeXuhHjOUgKXHCYt87r333iLNaWuQwNnf3MOgV/ld+vShDw1r/MoPnpi/s8GWv/iHhcO8mvjrSQa9zO/SA9veM6zxCY98Kn9ngy0v2/XDBr3CpbIEyH9lyYXpR/4Lw9WXVfKfL5Jx7ZD34vJvHZ28Zyserd6Q92zHJ493Fp8yG1gBS48HfvOb33Tvf//73ZNPPpk8QqhdWHo8sMjnuuuuc8ccc4x73/vel7zh8EUvelHu7ghYuVGZbUghYys0FDK24kEhYzseVb0j/1Ul6Lc/+c8vT9/WWMj5JhrHHnkvDvdOo5L3bMWDus92PMp4h4CVk1r66J7eAHjDDTcMPdKX7Z4+QvjMM88kj/3tuuuuOa07t379+uSg9jPOOCPpc/HFF7vZs2e7zTbbLLeNtKHO6dpvv/2SNyVKBNtyyy0L26BD/xJgK7mt2PEIja14tHrDVnLb8SnqHfmvKLGw7cl/YflWtU7+q0rQRn/yno04pF6Q92zFg7rPdjya4p3JHVgh30L4u9/9zs2bNy/5Rwey67HBqVOnDj022BrYF154wemfrbfeum3M77777qQ/AlZTvhLFroNCphiv0K2bUMhscs6N+gOo0dPWDUO2z+JZoREGtc8CLije2o2T/2pH3nXAJuS/7AWS/2zNL7z5PYH+y3uqKFRZ/P6zdO64YaFcedC+fR1a8p7t8FH32Y5Pv3pnUsASTO1m0g4pCUwSh1o/d9xxhzvkkEPc6aefnhykPmbMmJ4x0M6uD37wg27hwoVJ34suusjtsUfnM4xuueUWd8QRR7g5c+YkbXXIe+vn8ssvdyeccII7//zz3Uc+8pGOQlhP52jQlwT6r5AZjplCxva0YwFnOz6D7l3Y/Dd80RWCNfkvBFV/Nsl//lhiyR+BsHnPn5+dLBXLe9lbauF9KzMCAlYZavX1QcCqj/UgjWRWwFq+fLmbMWOGmzRpklu0aJHbbrvthuKiRwDPPffcZBfVjTfe6GbOnNkzZtp5dfbZZyeHsb/1rW9NBLKXv/zlXfv95Cc/Sdrqk307Ydrp6aefTsQt7cK66aab3LRp03r6QYNmERisQsZ+7ChkbMeIQsZ2fIp6R/4rSixse/JfWL5VrZP/qhK00Z+8ZyMOqRfkPVvxaPWGvGc7Pv3qnVkBa82aNYngtGDBgkSs0tsAx40b59auXeuuvfbaZOfVgQce6K688kq3ww479OQvAeq9732ve8Mb3uC0a+plL3tZzz5ZoWz69Olu/vz57lWvelXST+KV/LvmmmvcySef7D796U9z/lVPos1rQCFjK6YUMrbiQSFjOx5VvSP/VSXotz/5zy9P39ZYyPkmGsceeS8O906jkvdsxYO6z3Y8muKdWQFLgB9++OFEHLr99tvdhAkT3G677eYef/xxt2LFCjdx4sTkUcDJkycPi0V6qPqhhx6aHNQ+fvx4p4Pejz32WPeNb3yjZ9yy/dR45cqV7swzz0yEqm222ca97nWvS2zcf//9To8kyq7ePrj99tv3tN3YBvZ3GAdDTyETDG0pwxQypbDV1okFXG2oaxmI/FcL5tyDkP9yo4rSkPwXBbv3Qcl73pFWMkjeq4QveGfyXnDEAzmAaQErFZD0COGSJUvcfffdlxy8rt1Qp5xyittll11GBK2dgHXvvfe6ww8/3D311FM9g9wqYKmDdn197Wtfc1dddZWTfX2mTJmSPD542GGHubFjx/a0S4NmEqCQsRVXChlb8Wj1hkLGdnyKekf+K0osbHvyX1i+Va2T/6oStNGfvGcjDqkX5D1b8aDusx2PpnhnXsBqCmiuo5kEKGRsxZVCxlY8KGRsx6Oqd+S/qgT99if/+eXp2xoClm+iceyR9+Jw7zQqec9WPKj7bMejKd4hYDUlklxHFAIUMlGwdxyUQsZWPChkbMejqnfkv6oE/fYn//nl6dsaApZvonHskfficEfAssU9rzfkvbykaFeEAAJWEVoD3HaAj7nqGnUKGVtfChZwtuKBgGU7HlW9I/9VJei3P/nPL0/f1ljI+SYaxx55Lw53BCxb3PN6Q97LS4p2RQggYBWhRVsItBCgkLE1JVjAxYhHfnmbQiZGfMKNSf4Lx7aMZfJfGWr19SH/1cc65EjkvZB0i9sm7xVnVmcP8l6dtAdnLASswYk1VxqAAIVMAKgVTFLIVIBXQ1cKmRog1zgE+a9G2DmGIv/lgBSxCfkvInyPQ5P3PML0YIq85wFiQBOx8l7+W6sBLx7TwQggYAVDi+FBIEAhYyvKFDK24tHqTaxCxjaV/vWO/GcrduQ/W/Eg/9mOR1nvyHtlyYXpR94Lw9WXVeo+XySxkyWAgMV8gEAFAhQyFeAF6EohEwCqR5MUMh5hGjBF/jMQhIwL5D9b8UDAsh2Pst6R98qSC9OPvBeGqy+r1H2+SGIHAYs5AAFPBChkPIH0ZIZCxhPIQGYoZAKBjWSW/BcJfIdhyX+24oGAZTseZb0j75UlF6YfeS8MV19Wqft8kcQOAhZzAAKeCFDIeALpyQyFjCeQgcxQyAQCG8ks+S8SeAQsW+BzekP+ywnKeDPynq0AUffZigfCve14NMU7HiFsSiS5jigEKGSiYO84KIWMrXhQyOSIRx+fNEr+yxHfGpuQ/2qEXWIoBKwS0Ax2Ie/ZCgp5z1Y8qPtsx6Mp3iFgNSWSXEcUAhQyUbAjYNnCntsbFnC5UfVFQ/KfrTCxkLMVDxZytuNR1jvyXllyYfqR98Jw9WWVus8XSexkCSBgMR8gUIEAhUwFeAG6UsgEgOrRJIWMR5gGTJH/DAQh4wL5z1Y8ELBsx6Osd+S9suTC9CPvheHqyyp1ny+S2EHAYg5AwBMBChlPID2ZoZDxBDKQGQqZQGAjmSX/RQLfYVjyn614IGDZjkdZ78h7ZcmF6UfeC8PVl1XqPl8ksYOAxRyAgCcCFDKeQHoyQyFTBGT9hy9RyBSJj/225D9bMSL/2YoHApbteJT1jrxXllyYfuS9MFx9WaXu80USOwhYzAEIeCJAIeMJpCczFDKeQAYyQyETCGwks+S/SOA7DEv+sxUPBCzb8SjrHXmvLLkw/ch7Ybj6skrd54skdhCwmAMQ8ESAQsYTSE9mKGQ8gQxkhkImENhIZsl/kcAjYNkCn9Mb8l9OUMabkfdsBSh43TfKOacN6zV9Rk9bN2ykfRbPqmnkMMOQ98JwHXSrHOI+6DOA669EgEKmEj7vnYMXMt497m6QQqZm4AxXiAD5rxCu4I3Jf8ERVxqAhVwlfGY6k/fMhCJxhLxnKx6t3pD3bMenX71DwOrXyOG3CQIUMibCMOQEhYyteFDI2I5HVe/If1UJ+u1P/vPL07c1FnK+icaxR96Lw73TqOQ9W/Gg7rMdj6Z4h4DVlEhyHVEIUMhEwd5xUAoZW/GgkLEdj6rekf+qEvTbn/znl6dvawhYvonGsUfei8MdAcsW97zekPfykqJdEQIIWEVo0RYCLQQoZGxNCRZwtuLR7wJW/e9ptB2/Vu/If7biRf6zFY9+z3+2acbzjrwXj327kcl7tuJB3rMdj6Z4h4DVlEhyHVEIUMhEwd5xUAoZW/GgkLEdj6rekf+qEvTbn/znl6dva+xE8E00jj3yXhzunUYl79mKB3Wf7Xg0xTsErKZEkuuIQoBCJgp2BCxb2HN7wwIuN6q+aEj+sxUmFnK24sFCznY8ynpH3itLLkw/8l4Yrr6sUvf5IomdLAEELOYDBCoQoJCpAC9AVwqZAFA9mqSQ8QjTgCnyn4EgZFwg/9mKBwKW7XiU9Y68V5ZcmH7kvTBcfVml7vNFEjsIWMwBCHgiQCHjCaQnM00uZHQe076LZ3kiFcdMXYUMZ1fVE1/yXz2c847S5PwnBvuQ//JOBdoFJEDeCwi3hGnyXgloNXapq+6r8ZIYygABdmAZCAIu9C8BChlbsaOQsRWPVm8oZGzHp6h35L+ixMK2J/+F5VvVOvmvKkEb/cl7NuKQekHesxUP6j7b8WiKdwhYTYkk1xGFAIVMFOwdB6WQsRUPChnb8ajqHfmvKkG//cl/fnn6toaA5ZtoHHvkvTjcO41K3rMVD+o+2/FoincIWE2JJNdRmUCZx44oZCpj92qAQsYrTu/GWMB5RxrVIPkvKv4Rg5P/bMWDhZzteJT1jrxXllyYfuS9MFx9WaXu80USO1kCCFjMBwhUIEAhUwFegK4UMgGgejRJIeMRpgFT5D8DQci4QP6zFQ8ELNvxKOsdea8suTD9yHthuPqySt3niyR2ELCyBMpsu2EOQeAPBChkbE0FChlb8WABZzseVb0j/1Ul6Lc/+c8vT9/WWMj5JhrHHnkvDvdOo5L3bMWDus92PJriHTuwmhJJriMKAQqZKNg7DkohYyseFDK241HVO/JfVYJ++5P//PL0bQ0ByzfROPbIe3G4I2DZ4p7XG/JeXlK0K0IAAasILdpCoIUAhYytKcECzlY8ELBsx6Oqd+S/qgT99if/+eXp2xoLOd9E49gj78XhjoBli3teb8h7eUnRrggBBKwitGgLAQQs03OABZzp8LjuhQzPc9uO3kjvWMjZihj5z1Y8EPBtx6Osd+S9suTC9CPvheHqyyoCli+S2MkSQMBiPkCgAgEKmQrwAnSlkAkA1aNJChmPMA2YIv8ZCELGBfKfrXggYNmOR1nvyHtlyYXpR94Lw9WXVeo+XySxg4DFHICAJwIUMp5AejJDIeMJZCAzFDKBwEYyS/6LBL7DsOQ/W/FAwLIdj7LekffKkgvTj7wXhqsvq9R9vkhiBwGLOQABTwQoZDyB9GSGQsYTyEBmKGQCgY1klvwXCTwCli3wOb0h/+UEZbwZec9WgELWfTEONhg9bd0wwPssnmULeEFvyHsFgdE8FwEeIcyFiUYQaE+AQsbWzAhZyMS4UgqZGNQZMy8B8l9eUvW0I//Vw7nsKCzkypKz1Y+8Zyse5D1b8Wj1hrxnOz796h0CVr9GDr9NEKCQMRGGIScoZGzFg0LGdjyqekf+q0rQb3/yn1+evq2xkPNNNI498l4c7p1GJe/Zigd1X0ogxv4923PBp3cIWD5pYmvgCFDI2Ao5hYyteFDI2I5HVe/If1UJ+i1wyX9V4xG2PwJWWL51WSfv1UU63zjkvXycYrUi78Ui3+xxEbCaHV+uLjABCpnAgAuap5ApCKzm5hQyNQMPPBz5LzDggubJfwWB1dyc/Fcz8EDDxcl7o5xzEryrf5bOHTfMyMqD9q1uNKIF8l5E+DmGJu/lgESTwgQQsAojowME/o9AnELGXwQoZPyxDGGJM7BCUMWmLwLkP18k/dhhIeeHYygrLORCka3XLnmvXt69RiPv9SIU9+/Je3H5N3V0BKymRpbrqoUAhUwtmHMPQiGTG1WUhhQyUbAHG5T8FwxtKcPkv1LYautE/qsNddCByHtB8RY2Tt4rjKzWDuS9GnH7PZWgRseLD4WAVZwZPSAwRIBCxtZkoJCxFY9WbyhkbMenqHfkv6LEwrYn/4XlW9U6+a8qQRv9yXs24pB6Qd6zFQ/qPtvxaIp3CFhNiSTXEYUAhUwU7B0HpZCxFQ8KGdvxqOod+a8qQb/9yX9+efq2hoDlm2gce+S9ONw7jUresxUP6j7b8WiKdwhYTYkk1xGFAIVMFOwDLmD17x5hFnC2vi9VvSH/VSXotz8LOb88fVsj//kmGsceeS8OdwQsW9zzekPey0uKdkUIIGAVoUVbCLQQoJCxNSVYwNmKB3fibMejqnfkv6oE/fYn//nl6dsaCznfROPYI+/F4Y6AZYt7Xm/Ie3lJ0a4IAQSsIrRoCwEELNNzgAWc6fA4Chnb8SnqHQu5osTCtif/heVb1Tr5rypBG/3JezbikHpB3rMVj1ZvyHu249Ov3iFg9Wvk8NsEAQoZE2EYcoJCxlY8KGRsx6Oqd+S/qgT99if/+eXp2xoLOd9E49gj78Xh3mlU8p6teFD32Y5HU7xDwGpKJLmOKAQoZKJg7zgohYyteFDI2I5HVe/If1UJ+u1P/vPL07c1BCzfROPYI+/F4Y6AZYt7Xm/Ie3lJ0a4IAQSsIrRomxDo3yOk/QeQQsY/0yoWWcBVoRe+L4VMeMZ1jkD+q5N277HIf70ZxWxB/otJ39/Y5D1/LH1YIu/5oBjOBnkvHNtBtoyANcjR59orE6CQqYzQqwEKGa84vRujkPGONKpB8l9U/CMGJ//ZikerN+Q/2/HJ6x15Ly+petqR9+rhXHYU8l5ZcvTrRgABi/kBgQoEKGQqwAvQlUImAFSPJilkPMI0YIr8ZyAIGRfIfxHiMeoP29JzDE3+ywGpD5qQ92wFibxnKx4I97bj0RTvELCaEkmuIwoBCpko2DsOSiFjKx4UMrbjUdU78l9Vgn77k//88vRtDQHLN9E49sh7cbh3GpW8Zyse1H2249EU7xCwmhJJriMKAQqZKNgRsGxhz+0NC7jcqPqiIfnPVphYyNmKBws52/Eo6x15ryy5MP3Ie2G4+rJK3eeLJHayBBCwmA8QqECAQqYCvABdKWQCQPVokkLGI0wDpsh/BoKQcYH8ZyseCFi241HWO/JeWXJh+pH3wnD1ZZW6zxdJ7CBgMQcg4IkAhYwnkJ7MUMh4AhnIDIVMILCRzJL/IoHvMCz5z1Y8ELBsx6Osd+S9suTC9CPvheHqyyp1ny+S2EHAYg5AwBMBChlPID2ZoZDxBDKQGQqZQGAjmSX/RQKPgGULfE5vyH85QRlv1o95L/uugaVzxw0jvPKgfY0T7+4edZ/t8JH3bMenX73jEcJ+jRx+myDQj4VMFhyFjIlp1NGJ0dPWDfu7fRbPsu1wD+8oZPo6fCOcJ//ZiicLOVvxaPWG/Gc7Pnm9I+/lJVVPO/JePZzLjkLeK0uOft0IIGAxPyBQgQCFTAV4AbpSyASA6tEkhYxHmAZMkf8MBCHjAvnPVjwQsGzHo6x35L2y5ML0I++F4erLKnWfL5LYyRJAwGI+QKACAQqZCvACdKWQCQDVo0kKGY8wDZgi/xkIAgKWrSB08Yb81zeh6uooec9WHKn7bMUD4d52PJriHQJWUyLJdUQhQCETBXvHQfuzkMmeTjH80niE0Nb8wpvhBMh/tmZEf+a/zgzJf7bmF978ngB5z9ZMIO/ZigcClu14NMU7BKymRJLriEKAQiYK9oYJWCzgbM0ivMlLgPyXl1Q97VjI1cO57CjswCpLzlY/8p6teJD3bMUDAct2PJriHQJWUyLJdUQhQCETBTsCli3sub1hAZcbVV80JP/ZChMLOVvxYCFnOx5lvSPvlSUXph95LwxXX1ap+3yRxE6WAAIW8wECFQhQyFSAF6ArhUwAqB5NUsh4hGnAFPnPQBAyLpD/bMUDAct2PMp6R94rSy5MP/JeGK6+rFL3+SKJHQQs5gAEPBGgkPEE0pMZChlPIAOZoZAJBDaSWfJfJPAdhiX/2YoHApbteJT1jrxXllyYfuS9MFx9WaXu80USO4YFrE3OOR1ozAcC/UGAQsZWnChkbMWDBZzteFT1jvxXlaDf/uQ/vzx9W2Mh55toHHvkvTjcO41K3rMVD+o+2/Foinc8QtiUSHIdUQhQyETB3nFQChlb8aCQsR2Pqt6R/6oS9Nuf/OeXp29rCFi+icaxR96Lwx0Byxb3vN6Q9/KSol0RAghYRWjRFgItBChkbE0JFnC24oGAZTseVb0j/1Ul6Lc/+c8vT9/WWMj5JhrHHnkvDncELFvc83pD3stLqt52/f7MGwJWvfOF0RpGgELGVkBZwNmKBwKW7XhU9Y78V5Wg3/7kP788fVtjIeebaBx75L043BGwbHHP6w15Ly8p2hUhgIBVhBZt6yPQJ9IwhUx9UyLPSCzg8lCK14ZCJh77ECOHzn86EVM/BaE+S+eOG2Z65UH7hhqqFrvkv1owlx6E/FcanamOofNe6Isl74UmXM3+6GnrhhnYZ/GsagYj9ybvRQ5AQ4dHwGpoYLmseghQyNTDOe8oLODykorTjkImDvdQo5L/QpEtZ5f815lbaDE0T8TIf3ko2W9D3rMVI/KerXi0etMvea9P9k3YDnaN3iFg1QiboZpHgELGVkwpZGzFo18LGdsU7XhH/rMTC3lC/rMVD/Kf7XiU9Y68V5ZcmH7kvTBcfVntFwHL1/Vipx4CCFj1cGaUhhKgkLEVWAoZW/FgAWc7HlW9I/9VJei3P/nPL0/f1ljI+SYaxx55Lw73TqOS92zFg7rPdjya4h0CVlMiyXVEIUAhEwV7x0EpZGzFg0LGdjyqekf+q0rQb3/yn1+evq0hYPkmGsceeS8OdwQsW9zzekPey0uKdkUIIGAVoUVbCLQQoJCxNSVYwNmKBwKW7XhU9Y78V5Wg3/7kP788fVtjIeebaBx75L043BGwbHHP6w15Ly8p2hUhgIBVhBZtIYCAZXoOsIAzHR5HIWM7PkW9YyFXlFjY9uS/sHyrWif/VSVooz95z0YcUi/Ie7bi0eoNec92fPrVOwSsfo0cfpsgQCFjIgxDTlDI2IoHhYzteFT1jvxXlaDf/uQ/vzx9W2Mh55toHHvkvTjcO41aLu9ZeC9p+ysaPW3dsL/YZ/EsW8ALekPeKwiM5rkIIGDlwkQjCLQnQCFja2aUK2RsXUPWGwoZu7HBM+fIf7ZmAfnPVjwQ8G3Ho6x35L2y5ML0I++F4erLKgKWL5LYyRJAwGI+QKACAQqZCvACdKWQCQDVo0kKGY8wDZgi/4ULQpn9AeS/cPHwYZn854NifBvkvfgxyHpA3rMVD4R72/FoincIWE2JJNcRhQCFTBTsHQelkLEVDwoZ2/Go6h35rypBv/3Jf355+raGgOWbaBx75L043DuNSt6zFQ/qPtvxaIp3CFhNiSTXEYUAhUwU7AhYtrDn9oYFXG5UfdGQ/GcrTCzkbMWDhZzteJT1jrxXllyYfuS9MFx9WaXu80USO1kCCFjMBwhUIEAhUwFegK4UMgGgejRJIeMRpgFT5D8DQci4QP6zFQ8ELNvxKOsdea8suTD9yHthuPqySt3niyR2ELCYAxDwRIBCxhNIT2YoZDyBDGSGQiYQ2EhmyX+RwHcYlvxnKx4IWLbjUdY78l5ZcmH6kffCcPVllbrPF0nsIGAxByDgiQCFjCeQnsxQyHgCGcgMhUwgsJHMkv8igUfAsgU+pzfkv5ygjDcj79kKEHWfrXgg3NuOR1O84xHCpkSS64hCgEImCvaOg1LI2IoHhYzteFT1jvxXlaDf/uQ/vzx9WwsmYG1yzum1lXxqIUDeqwVz7kHIe7lRRWkYLO9FuRoGtUIAActKJPCjLwlQyNgKW72FTJkX3RfjNXraumEd9lk8q5gBY60pZIwFpKI75L+KAD13rzf/eXa+jTnyX3jGjFCcAHmvOLOQPch7IelWt03dV50hFkYSQMBiVkCgAgEKmQrwAnSlkAkA1aNJChmPMA2YIv8ZCELGBfKfrXi0ekP+sx2fvN6R9/KSqqcdea8ezmVHIe+VJUe/bgQQsJgfEKhAgEKmArwAXSlkAkD1aJJCxiNMA6bIfwaCgIBlKwhdvCH/9U2oujpK3rMVR+o+W/FAuLcdj6Z4h4DVlEhyHVEIUMhEwd5xUAoZW/GoXMhwtovpgJL/bIWH/GcrHpXzn+3LGVjvyHu2Qk/esxUP8p7teDTFOwSspkSS64hCoGwhE/70pHw4ls4dN6zhyoP2zdfRaCsKGaOB+YNb7ECwHZ+i3pXNf0XHCdWe/BeKrB+7nIHlhyNW/BIg7/nlWdUadV9VgmH7U/eF5Tuo1hGwBjXyXLcXAhQyXjB6M0Ih4w1lEEMUMkGwRjNK/ouGvu3A5D9b8Wj1hvxnOz55vQuW92racYxwnzfScdoh3Mfhzqj9RQABq7/ihbfGCAQrZGq6ThOFjMeijQVcTROn5DAs4EqCM9qN/GcrMOQ/W/FAwLIdj7LekffKkgvTj7wXhqsvq9R9vkhiJ0sAAYv5AIEKBChkKsAL0JVCJgBUjyYpZDzCNGCK/GcgCBkXyH+24oGAZTseZb0j75UlF6YfeS8MV19Wqft8kcQOAhZzAAKeCFDIeALpyQyFjCeQgcwMTiHjcVthoFj4MEv+80HRnw3ynz+WISwNTv4LQc+OTfKenVjIE/KerXgg3NuOR1O8YwdWUyLJdUQhQCETBXvHQSlkbMWDQsZ2PKp6R/6rStBvf/KfX56+rSFg+SYaxx55Lw73TqOS92zFg7rPdjya4p15AWvlypVu0aJFbsmSJe6+++5zu+++u5s+fbo75ZRT3C677FI4DmXsbdy40d11111u4cKFbunSpW7dunVuypQpbs6cOe6www5zY8eOLexH9w6DcffeM7Qo5ihkomBHwLKFPbc3LOByo+qLhuQ/W2FiIWcrHizkbMejrHfkvbLkwvQj74Xh6ssqdZ8vktjJEjAtYD3xxBPuhBNOcLfddpubMGGC22233dzjjz/uVqxY4SZOnJgISpMnT84d0TL2NmzY4K699tpEMFu1apWbNGmS22KLLdz999+f/P/cuXOTf8aNG5fbDxo2hwCFjK1YUsjYigcLONvxqOod+a8qQb/9yX9+efq2xkLON9E49sh7cbh3GpW8Zyse1H2249EU78wKWGvWrHFnn322W7BggTvvvPOS/95yyy3d2rVrE0Hp9NNPdwcddJC7/PLL3fbbb98zHmXtLVu2zB199NFuxx13dJdcconba6+9krEeffRRd+qpp7q7777bXXHFFW727Nk9faBB8whQyNiKKYWMrXhQyNiOR1XvyH9VCfrtT/7zy9O3NQQs30Tj2CPvxeGOgGWLe15vyHt5SdFuGIEeD6OZFbCWL1/uZsyYkex40iOE22233dB1rV+/3p177rlu3rx57sYbJ5VrTgAAIABJREFUb3QzZ87sGfUy9iSWSTibP39+23EefPDBRLjaY489RvjY0yEaNIIAhYytMLKAsxUPBCzb8ajqHfmvKkG//cl/fnn6tsZCzjfROPbIe3G4I2DZ4p7XG/JeXlK0K0LArIB14YUXujPOOMNddtll7vjjjx9xTdr5NHXq1GQn1gUXXODGjBnT9brL2HvsscfcUUcdldi+7rrr3M477zxsjNWrV7vTTjstecTx1ltvHdqdVSQAtO1vAhQytuLHAs5WPBCwbMejqnfkv6oE/fYn//nl6dsaCznfROPYI+/F4Y6AZYt7Xm/Ie3lJ0a4IAZMC1vPPP+/OPPNMd+mllyaHp++///4jrknnYB155JHJo30Sl8aPH9/xusvau+eee9whhxySjHPRRRe5rbbaasQY559/vvvoRz+aPNaoRw35DBYBChlb8WYBZyseCFi241HVO/JfVYJ++5P//PL0bY2FnG+iceyR9+JwR8CyxT2vN+S9vKRoV4SASQHrueeeS97wp/OnOu1sevbZZxPB6Omnn3aLFy9O3k7Y6VPW3i233OKOOOKIrru8JJ4dc8wx7uMf/7g755xzirCnbQMIUMjYCiILOFvxQMCyHY+q3pH/qhL025/855enb2ss5HwTjWOPvBeHOwKWLe55vSHv5SVFuyIETApYecSpPG1SEHnatmuTR5zK06ZIQGjbXwQoZGzFiwWcrXggYNmOR1XvyH9VCfrtT/7zy9O3NRZyvonGsUfei8MdAcsW97zekPfykqJdEQIIWH+ghYBVZNrQNiVAIWNrLrCAsxUPBCzb8ajqHfmvKkG//cl/fnn6tsZCzjfROPbIe3G4I2DZ4p7XG/JeXlK0K0IAASuigLX33nsXiRVtIQABCEAAAhCAAAQgAAEIQAACEIBAcAI//OEPg49RdACTAtaqVavcSSed5HSI+g033OD23HPPEdeV7ph65pln3PXXX+923XXXjtde1t4dd9yRHOL+4Q9/2Omw9s0333zEGOkjhPPmzUvaFfk0S8Da5JwbVeTyaQsBCEAAAhCAAAQgAAEIQAACEICAQQIIWDmDUvatgZ3Ml7XHWwhzBoxmEIAABCAAAQhAAAIQgAAEIAABCEAgIAGTO7B0vRdeeKE744wz3GWXXeaOP/74EQjS3VGnn366u+CCC9yYMWO6Yipj77HHHnNHHXVUYls7rXbeeedhY6Q7u+68886Ob0sMGDtMeyDAvjEPEDEBAQhAAAIQgAAEIAABCEAAAhAITMCsgLV8+XI3Y8YMN2nSJLdo0SK33XbbDaFYv369O/fcc50e27vxxhvdzJkze2IqY2/t2rXu7LPPdvPnz287zoMPPuhmz57t9thjjxE+9nSIBhCAAAQgAAEIQAACEIAABCAAAQhAAAK5CJgVsNasWZOIRwsWLEjEqrPOOsuNGzfOSVS69tprnXZeHXjgge7KK690O+ywQ8+LLWtv2bJl7uijj3Y77riju/jii53OrRo1apR79NFH3amnnupuu+22xB+14QMBCEAAAhCAAAQgYIkAe60tRQNfIAABCEAAAlUImBWwdFEPP/ywO/nkk93tt9/uJkyY4HbbbTf3+OOPuxUrVriJEye6hQsXusmTJw+7fglO++23nzv00EOTx/7Gjx8/9Pdl7Gm3lx5jnDt3rtMjg9oRtsUWW7j7778/+X/9uf6RuMYHAhCAAAQgAIGIBNAqIsJnaAhAAAIQgAAEIBCWgGkBS5e+cuXK5PG8JUuWuPvuu8/tvvvubvr06e6UU05xu+yyywg63QSsMvbUZ+PGje6uu+5KBLOlS5e6devWuSlTprg5c+a4ww47zI0dOzZslLAOAQhAAAIQgAAEIAABCEAAAhCAAAQGmIB5AWuAY8OlQwACEIAABCDQDwTY+dUPUcJHCEAAAhCAAAT6nAACVp8HEPchAAEIQAACEIAABCAAAQhAAAIQgEA/EKhy3w8Bqx8ijI8QgAAEIAABCEAAAhCAAAQgAAEIQGCACSBgDXDwuXQIQAACEIAABCAAAQhAAAIQgAAEINAPBBCw+iFK+AgBCEAAAhCAAAQgAAEIQAACEIAABAaYAALWAAefS4cABOokUOVp7zr9ZCwIQAACEIAABCAAAQhAAAL2CCBg2YsJHkEAAhCAAAQgAAEIQAACEIAABCAAAQhkCCBgMR36nsD555/vPvrRj3a9jpe+9KXur/7qr9zhhx/ujjzySPeSl7zE5HU/++yz7uijj3ZPP/20W7x4sdt9991N+tnq1IoVKxKuDzzwQC5/v/vd77opU6bkamu50dq1a92NN96YxGmvvfYq7Or69evd97//fbdkyRL3zW9+04njNtts4/bdd193yCGHuNmzZ7tXvvKVI+ymc/7aa69N5ovVz5o1a9zpp5/u7rnnnhHzWXP8M5/5jPvKV77iHnvsMfcXf/EX7sorr0z+adfe4jVed9117phjjnEf//jH3TnnnNPVxWXLlrn99tvPHX/88e7CCy90W265ZdI+/fM8NroNUHUubty40f30pz91N910k7vrrrvc8uXL3apVq9yECRPc61//enfccce5Aw44YMhvC/Fo9z3wxbPK9a1cudJ96Utfcu94xzvcdttt19NU+j25/PLL27ZNc8KMGTPc29/+djd+/PieNkM26HR96ffBel4i7/Z33g05t3vZVp49++yz3fz5891BBx3krr76arfTTjv16tbx7+v4Le+3/FIUZtF822pffL7zne8kOfvb3/52Uo9k1wxvectbRuTcfqrVU1913crR6e/Hpk2bkvrzH/7hH9zSpUuT3/s5c+a4v//7v0/qlNb2ReNCewiEJGBTwOJJm5Axb5zttACQiKDFVruPfpAkDuhzxBFHOC0UXvayl5lj0U8/ill4gypgfepTn3Jz5851ZQS5+++/PxE9vva1ryUoJeBsv/32bt26dYkQ+Mtf/jIpoj7xiU+4v/u7v3OjR48eQl5H0evjy9FJwPrd737nTj75ZPfP//zPyXd2t912S4oqiTif/exnEbBKwK8yFyUmfuQjH3Gf//znk5E17yZOnOi22GILp8XBfffdl/y5RGct3P7yL/+yhIf+u1gUsH71q1+5Y4891kkkyS4Wul19rwVmtq9isGjRomg3N7pdXz8IWOTd/s+7/jNJfos/+clP3Fvf+lb361//2j311FPJDayZM2fmN9DSso7f8n7KL0VBlsm36RgScP7t3/7NfehDH3I/+MEPkj+eNGmSe/GLX+zETLlCoo7WFvp91Q2EUaNGJe36qVbvJGClc/lnP/vZUP05efLkRLx617velVxn3t+wonGjPQSqErApYFW9KvoPFIG0AOi2g0E/VFqEffjDH3a33357Ihyce+65bvPNNzfFqp9+FLPgUgFLf9ZPO8eqBj+de0UFrLvvvtu9973vdU8++aR73/ve50477bRhd3FVPKkw1p0wCVmXXXZZsvMiLZ7qKHqrsunWP53nWgR8+ctfdn/yJ38Scrhgtn3swPLlXNm5+PDDDydiovLiYYcdluwuUBGbFUy1UJOw+E//9E/JbqwvfOEL7tWvfrUv10vbsfg96LRYyCtgtcslEsMeffRRd9555yXflzPPPNN98pOfdGPHji3NrmzHMtdXdizf/ci7v9/h3e951/e8KGJPNz9POOGE5MaVdg9LUF6wYIEbN25cETNDbevIYVkBy3p+KQqxbD7SmkC16kknnZQMqVrrPe95TyJepZ/f/OY37oorrkhurOmmzhe/+EU3derU5K/7tVbP8k13K5966qnu05/+dJTfk6Lxpn1nAoO29wcBi29D3xPII2ClF3nHHXckj2Zp67e2C2vHi6VPv/4oImDlfyTyv//7v5MdGj/84Q/dpZde6o466ii32WabjZiGKrD0OJce3XrFK16RFMuvfe1rk3Z1FL0hvxdli86QPpWx3e8ClhY2Eqy0ADvxxBOTRwn0uFq7j0SUCy64IBH/tXj72Mc+NkzkKsOvah+L34Myc7vXAjPllN4x32qrrdz111/vdt1116oIC/cvc32FBwnQgbz7f4tu4WVnRfFJpt0+EjkkJmsXpPKmHv2/+eabk8f+y3zqyGH9lF+KMiybjx588MHkiIbVq1cnO48PPPDAoRuEWR/0aP1FF13kzjjjjGGPjPZrrd5OwKp6fEHRmNEeAj4IIGD5oIiNqASKCFgPPfSQe9vb3pYIBq07hXS2ge7QqrBLn4PXYk532CQ46NHD7F22VLTRlmMt7PQM+cKFC5N/67EobSvXnY1ddtllBB89QqWzE3RHR8+ga1fD+9///uRH9J3vfGfbM7AkaMj/q666yt12223JI5Ha2jx9+nR3yimnjBin1b9//dd/TX6INZ76acGq5911Tf/xH/+RnMvzL//yL4mvulbtVtOjXXk+VQUssddWbhUS4qddR7rTpXO1dI5M693NNOaKk5hoe7c+Kkg++MEPDp078/Of/9xdfPHFuXipv/zQI31irLtT2j4uP2bNmjXs7JlOj0zmOftFha+467rkW/aOXytrzRMVTvJLd3011/TpVvT+4he/SBa3X//615OzjPRJ54nG3WOPPYYVairQ1C6du2Kvxxk1f+Vj6xlcRdq3PkL4R3/0R8kOABX9rR+x05idzsxS+yLxzM5/7XLT7hUJgtOmTUvmyMEHH5xnandt40PA6nRmUx1zUd+1N7/5zW7PPfd04t8uV2UB/Nd//VfyPdAnu3MuL+uic1PjpPNNjy7KX90J17lj+l5ccsklyfmH2e9dtzOwWpnKvvK7vhfafda6oym7q+3lL3958vjkV7/61eSMFM0j5dBsv3Q+ZJnpUcxeu1LzLjB7LZqUL5TDr7nmmiR/9bo+/X2R35Ve19fuEcLsn+nmkfKfHh3WnNHvnn7v2uV4+db6O6k8JkFfu1fT2Ofd/Roy72qO6ndVeTc9y1D+t/vtSOdGkTya/R7kydMx824ab83BrbfeOvl+SjzU41fKwX/8x39cOe/GMpDmS910Ur2km6DKHb129BfNYen1lcmX7djEzC9Fazv5r8fW9X3V2aB6ckI5X/n23e9+d1Ijp3m6Vz7qNE82bNiQ3IBRfs9zM0Y7kFVD7Lzzzkmdrrq4Wy4ukw/y/t6n11SkfavIp5pZ53G2ftLfqrRO09+3Ct3t8la3Wr3J+SBWHmLc3xNAwGIm9D2BvAKWCnUJEyp+JUjov9PD3FUoayeCdsRItHrd616XHFacPf9FP2DaZpuKKemi7U//9E+TQk2P1Wjhr7N89FiOFjkquJXAswd8/8///E/yjLkWGulZMyowdHC1BC/9YGvrcnbRo90PeoxMP7YSVdLzktKzvWRHBb0En/Qxs6x/+sHXIk8CiM61SZ/t16MoWsjLnxe96EVJcZn6rsWFitA8IlYVAUuM5YfGStnr8aX0HKh2Z76kMddCVo8+ibPOjlJbPVozZsyYRKzQIjeNg0TFNJ76bz0SpcV7yis7B9K46BHTlMff/M3fJDEQI92BlcAnH3Xt6bkJmiMS/zp9nnvuuaTgveGGG4Ytuot+CTsJWBKitCDMXnP2TC1dd3YbvOaVDlLXGRDZeZ/OKxU0ElolcOhTtH3rQmqHHXZIvmf/+Z//OXTgf3rWkthpgdtOwEp3oxWJZzonFUsVXTrnSbHT909C6d57710U+4j2oQSsOuaiingtvCT+ag6Ie/pd6ATmhRdeSAr/3/72t8l3Kz1zMA/ronOzdb7p//U9U17W9+6v//qvE6FaYkgeAatXntFNCnHI7spNv2fipMWUbGi+pvlaPum7o4W5cqxyum4SpC+zUFvZE+NXvepVHedb3gVmugNLYlrr4dHZR0HT/KXva5rrdW6PBPPs2Y9Ff1d6XV83AesDH/iA+973vue080G/r/qkvknUlm/ZA+/1PdWNGe08bf2dVI5NY59HwAqZd7M5MZ2juimh33D9puvTeu5m0TxatH3MvJvOAd0olKinA85Vc2jxL/Etz0sNKifmAAayokd67lUnQT87fLv50SuHqX+ZfNnpsmPll145t11tp/OYdP5SeqNVvzHZ86j0+6MbUFXyreobiZC6casbu2VeKNRJwCqTD4r83ivGRdu3Cli6Eai1RJqj0vODt9122+S3Suui9OVAWQFL486bNy/5J811WvukNbLqN+1KzK4ZmpoPAqQYTBYkgIBVEBjN7RHoJWBp8atdJSq+tVVW/63n2rVbJ/2kd2d1d1ciVbqIUV/dyZbo9cQTTyRiSboLJrsLR2KPCnAtirUIlMikH1kVbFoYaoeWRBXdNdFhyVoo6WBuiS0aS+P8+7//e/I8vhY/rXftNa5ENxWB6vumN70p2UWmhbmKqbPOOiu5FP1YpD/G3fz70Y9+lOxi0DXpB0gM9f8qCuS7FqcS+CTYpG8j6Rb5sgKWfux1Fpl+ECUm6YyddKEnP/TnYqe/09kTaVzSmKs41kJOd+fSBa+KZT2eJ176SNjL8tJdVPHSYlx3zFNxJr27Kg7ZR6mysWxd6Bc9d+iRRx5J5p0KB4lY6dhFv1XtBCzdJdROBi1yFTftDEkfTdQ1qPCT/xKK9G8JlumCWCKsOGlhrI/mqQQ+FTnZ8xGKtu90iHunbf+d2peJZ3b+SzTU9Uik05wTl3aPbRaNQygBq465qMWFivg777wzWSztv//+RS9/qH0v1hIjis5NGVfOlrD0mte8Zlh+lRgpIVSitz69BKxOeVd9xUE5X7mn9W589g23ylPKG7qBkR7+qx0ByiO33nrr0E2KMo+09Fpgas5qYafFhXaItp6Jp3wisUe5MN1tmObKLCuddaZrTd+AWeZ3pdv1dROwxDr7m6f///GPf5wI+lqsKtZ/+7d/O5TH09+F1t9J5QJdq/rok0fACpl30++q3nKsxVv2sU7FTL/p2l2s3xrdYNKnaB4t2j5m3s3uipG4rO+vcq2+J6qB+vWTilW6qaWdVxJWdE0SsLUbS/WSHi9s/ZTJYWV+y7txjZFfytR2qUj4uc99bsTxCmmu0K607CObZfKthGWJLbqxrPmqurrop5OAVSYfFP29L9q+E6NOu5XbtddvnnYgaweanvrQf6e1uoQtrXW0vlKtnn2yoKn5oOh8ob1/AghY/plisWYC2UVGr6F1p0GFse5Gp4cUK/kq8ep8LC0MWs8yyO5UyC6Usou2dm+i0Z1miSgSB7TQ0p3HtBDdcccdkz9LBYPUbz2eolf2ZgWs7Bvb2j2ilt1ZlhUbuvn3/PPPJ7uetOOs3QGOt9xyS3LXOCu+dWOb9y2ErcJcykOFbbvHbLILsyzjNOYS11Q8pgsy+ZgtKsVYd5Jad5akP6rZrf/pn2mHkhbb2Y9iqbG0yNcjEekuvKIC1r333usOP/zw5NDytAjuNWfb/X2nt69pV5iKMol+rY9DpfNRRUd6Vy0tYPSd0D9ZTjpgXgW5dmz84z/+YyIeFm3vYyFVNp7pnNRuubJ3WXvFpt0jDL36tM7ZdkVkHXOxrOjc7vp6sdY1Fp2bad7T915irxYc2U+6oJSQ0UvASr93enuiFprKv9nP//7v/ybiiu4ktztrTkW5bnJkd49kfxey4kSZBVXet4TpzrYWDmKRFWDTBY0er7nyyiuddjpmP+n5T3p0JF38lf1dKStg6SZPuxc2pIdi62aF5khW4On0O5kKbxLm8whYofKubiDp90ffVx0C3e5tdOn1Zc+ZKZpHi7aPmXfT3PXGN74xqXH0OFITPulNztbHBdPvns5Vbc0RVXJY0XyZV8Dq1s5nfilT26XzVjdzteNVxx1kP/ouSRTVS2/SG9Bl8m1a37Y+iVFknrYTsMrmg6K/90Xb+xCw0l1rmtPK460vcUljp7o2PapBPJuaD4rMFdqGIYCAFYYrVmskkC7m022w6dDZLfy6C6hdVHr0rszbYtoJBumiTUJYuwN107u+KuBSwUAijX542wkG8luigQQXHRaaCjrpuV16NLHT3aL0x0U2UmGk1wK12zlKacHcTiDqtoBNH53pFP5WAUs7BvTIm4o1+dPurZDtxLTU9+yiJx0zZSjho5NIlMYmXSBpYZqOo8Whdslpp12vO8ZFBayU66GHHlrpEN0yB7+m80HXnM7HdGGnBa9svuENb+j6/Sja3sdCqmw8e30/faSoUAJWHXOxV34Qn243B7IL8qqs283N9Duq72a7F250urHQThBMRQTtwpMo3+6j3U3agZUVo7rlGdlI+2QFtDILqrwClsbcZ599EoE6PXRYNzC0u1L/dNsxK6FFO2tTBmV/V8oKWNmdn1n+6W9idj6lfyb+ysWtNyDSw7S1UMojYMXMu+12aRbNo0Xb1513X7bjju7aP9ykS6+3U7x95N26bWSFqNabIelc1E7W7MJdPpbNYb2ur12+9CFg+cwvZWo7jZ/uaFOe1o5RncvYbbd0mXybztG89W07tr3OI+wUj3b5oOjvfdH2PgSs9AVY3W5qp3k7W5c3MR/0+n7y9/UQQMCqhzOjBCTQ6RFCFfbp4wY//elPk8fRdBB29vXw7dzS1mfd2ZUopH6625se6t5uB1ZWEMjaa/ej0W7Bk+2jN6Lo7tIPfvCDIQErj5iUnvGhtunjLL2KnBAClq6l14HF2evNI8SkxbsejUzPLevWL91pJP7p+UqtcU7PhdKZSKm/epRIj6bo//VJDw7V4bMSdrQTqXUhVVTASn3TbibfO7Bar1HnFOl16ZoHuqOpO8V6VCwrnmmho0W7tuzrk760QI/y6Mwv8ckWj2XatzvTqsgjhGXj2Wv++0hJoR4hrGMuhhCwOuXCMnMzfcwjPTA5u8sytZcukrrtwMoKXenZge1in56PlxVSeuWndo/MlVlQ9XrEJz3DTTta9Ni5clP6uHivvum1tt4I0G+MDvLttohr97tSVsDq9KardoJjL+7ZHcR5BKy68q7iJGZ6bFMCoUQN5V1917LXXyaPFs3TsfJukZzoIwfXYWP58uXJIfS6qdW6y0p1psRh7Whv3c1eNoeVyZd5Bax235cQ+UXHMLS+YKPVx3a1nfKBdn7rO6OPbkyrZtEuWIn3rTegy+TbVIzxvQOr9fry5oOiv/dF2/sQsNKbQK0bBbLXnG4ayP6mNDEf1JFzGKM3AQSs3oxoYZxArzOw0sMwdfZV69kh6aW1viVGAlb60WJBP5qPP/74sEdVei2Q2/1o9CrM2905zSNgtVvE9PKvXwSsdteRx/c807Z1R1jrW6+yNlRASQTNbmsvKmClO+VUgPg+A0u+pm/vSd/ylfVfjw7q73VWS/ZgzvRtNunbrbJ9dFC2dntMnjx5SLwr0t7HToB0/heNZ6/5n8derzZFirNO3+NO51CEnovpGVh6BC97tl+Za87DuujczJP32glIrTyL7G7StVsUsNKY6OaKvo96jCldJOjvJFZogdFNzGnlqXMQewlY7X5XLAhYuuYiuTdk3pWAIYFMh/frvCPVGelHNwR0s0KPMbcKeEXyqOwVaR8z7xbJib1yjYW/zx7e3ssfPVaVfQS5bA4r+1veyb+8IrfP/KIzBXsJWJ1+N3TIePaNr9laXGfK6SxCfbf0KSNgpcJZ+pIln2dglc0HRX/vi7T3IWAVOaoFAatXpuDvfRBAwPJBERtRCfQSsFSA6LEJHfqrAiN7cLcc1w+OnunW7iwdAK4DwXVehw7Y1oGsOqeq3d2kXou2bjuw2p2zJF/KCljpnXI9wpcKI738yyMC5d1inWc3R7tJ0kvQU5+02NAZEzpoXIVLt37Z827Ss8eKTlDNCR08rTuv4nnbbbclCxP5kH37V5FFVDa+Wmy2O8+snZ+arzobTY/BaleUHrNsd/3Zt1tqp4l81du+dK6F5rHO+dEhwt12yehxCO3M0EHR2rGhhV9rUZ71sVd7HwupsvHsNf+Lzol27Yss1ooKWOl4oeZi9myxvG8hlE/trrkX6zJzM929oDkrcWCrrbYaEYI8Alb2OrOPB+aJf6/8VNcOrKyvrY/DiUseASvdgZU+ri2+vQSsdr8rFgSsbEzz7MDKLuB9593sDTLtEpborxsjumGgx5+Uu/VikE470BTbXnm0da72ah8z7xbJiXm+g7HbpAeqS/DttKNbPqZv7s3m0rI5rEy+7MYpr4AlG77yi2729RKw2tV22euQoKY3Fn/rW99KXlak3Yz6ZM8hKyNgPfPMM0k9pWvNcz6mfoN1DqieyNBZifqed3qEsGo+yPt7X6Q+8CFgpY+gtzu2o9vca1o+iJ2PGP//CCBgMRv6nkAvAUsXqC39etuRhAj9ACkZp1uR07uzOuhWwtLUqVOHMcmeMVL1EcLWRUTrmU/prgj9O320LV0c6iyYTmdgtXtDTq9FpQUBK/1x63YGVnqwffbZ+26+Zw+bLPI4Y7cvgt7WKIFT8ye7YCoqYGmM9DBYHRSffVtLu/Gzh9hnz+9pd/1pgaGzR/Smsdat9umZN7rbmN2B1em6s2+jzLPoa9fex0KqbDx7zX8fia9IcVZWwGr10+dcTA8g1ttT271UIq9o14t1mbmZxl3n0LXLe53ycrsdben4nc5U6jQX+kHA0g5hPVaoRV2nM7CyjzmleaTs70odAlb6veoUr1RY082FPAJWqLyb+vHNb36z4+7u9DHXbgJWdv71e94tkhN95ODQNtL6o9fNvLRd9iZX2RxWJl+GErDK5peytV2n61AO0++V6ibdXE5rmDICVnZXXeubZ9uNn74EQ28TTd+W2k7ACpEPOv3ed+LUrr0PAStdu/T6HrT61bR8EDrfYD8/AQSs/KxoaZRAHgFLrqdvLtJ/a7Gmt+zp0+uA1+yPV1UBKxWaNG67NzKlPurubSq+FHlbVPbHpdei0oKAVeRNNVn23XzXoxbabact6FdccUUiXLaeXXX33Xcnr5vXTjvtrtt6662TRaDu9Kl4bH0TZac7mGUErPSNZyqG9BZInfHT7pAw4wfqAAAbrUlEQVTS7M5AFWy6ft3R16f1+nvtMMi+qTJ7BpYENJ3FpS357d6g1TpO0fY+BKwy8dSLE3rNfx/prEhxllfA0vk+dc1F5RZ9VzQPTzzxxOS7kD6a0Y6PRFCd0ac81e4Q93a7+8rOzWzc273ltVNebidgpWfY6PHfdkJd6qN2sOosG52N0u571qk493mIezdBRgsvidNadGVzfd63EOpMyHTHQdnflToErF5v61X+1stQtDsmr4AVIu/22nmcvQGR/b4UzaNF28fMu0Vyoo8cHNJG9jvSLgdlx053auncs7RtmRxWNl/6ELB85pcytZ0etdUh7jqnVrvts2991fW1+00vI2Blbemc0M9//vNDL8Vo5ahdYNpVJ7/09nLtnpdf7QSsMvmg6O+93jJdtD7wIWClaxfltNanWMQsnTt6hFYvZtJ5sqprm5QPQuYabBcngIBVnBk9jBHIK2CpMNBibcGCBcmPVbqQSX90VODqFeR6TEuChxb9Stp6PbbEJn2qCljZxxm1hVmLES36sgfO60ya1rOZUmFLu2f0Y/qmN70p+XHQ2V0qliRA6JMe7Nvpxz4bOgsClooDvZFR25J1xpTOTZB4p4/uROvPdeaL/k6Fg84TybOw1CJWb3PU5xOf+ERSeIwdOzbh/LOf/Sx55EZMdXi5Dl5VvNOdURI2JX698pWvTPqrj8Smd7/73e4Vr3hFWyGp0yOhnb4q2W3mEtIkCuy0005DzVUkSHzTokef1rPbWmMnH9NdGMcdd1wyR3TnVB/Ne80RzWPdEc4KWOnC9zWveU0y3p//+Z8PiX0//vGPE/FPuxe100G7dIq297GQ0jWUiWe/Cli63jrnYvZxFc2ND3zgA27//fcf9gZO5UbNcX0X9SjtYYcdljyWrcdTe+WasnMzG/dtt902WdDo/DZ9V7VDVW+nU75uzcvtBKxs7n/729+e5JVUDNbfae5rB1Mvobj1+9ztEUK9PbPdq+Db5YQ8j/josTGdbad8ppdQZG/CZIUS5ZPzzjtvKFfq+6vfPbXXW730m5MeiF/mdyVdDLW7vnY8ei1g2sUr+7ugHdPKbcr9mkt67Oj9739/khP0yStgqa3vvJs+ivSNb3wjmUPvete7hl4SI0FD3xH9pumTFbCK5tGi7WPm3V7x7vSbaPHPUxHmxS9+cdsbjlmfs7t69BusOlO7oNPfrrw5rEq+7MQwRn4pU9tlBUN951WnpblKYqC+TxLvdZNBf6+arls+6janWo8OUX2kw+MV6/ST/Q5PmDBh2BMa7QSssvmg6O990fY+BKzs2kVv6tYLqXRUhX6PFWvtQNTvjD5pvaj/blI+sJijBtknBKxBjn5Drj2vgKXL1WGrunMrEUOFvF4rrh+y9A6L2qRvqkrfSpWea6HFW/b5714L5E4/GtldD9rtoHOKtCDReQmvfe1rhwrg7ONv+oGQiKEfbwk7qY/puQsSK7TA03kx6W6jXv5ZELDEW5xVkGiBlfLQHTjthtBiWfz1g60DN9NPr0d7FFPx04GfspG+OSV9S4rsSDRSEZQ+aqd4yQ8t1PXRG4dUzKTzQAWMCiiJaSnj9MdZ/CU6qgBKhbNexZPeDCj/dJ3ZeZf1UX6rUNAbkLK7yNpdv+a0FlASQFN/ZFf2Nb8kwGkHjYos3UHTuVgqbLUg1rxu54PikX17Z5n2Vd+GJb/KxLPX/PeR/ooUZ3l3YMmvOueixtN3RPlQO7GUX9LvoRYP6fxXO80rFfrvfe97hz2i2ot1mbmZxj09nzDNe1oIpt8Z5cvvfOc7w24sdDoUX0Kd7grrDnF6fVoAPfzww4mwq++aRAiJd3nzTDvBJrtYlE2dIafvkP7d6VPkoHn5LrFN36vsG3V1HRKoJEql33/9btx///1JTCXiayeP3qaafsr8rnS7Pl8ClvzLxiu9Ho2dniuknKZ5W+QxceURn3k3uwgW49bfGf3/2972tuTtufrdUJ3xohe9qNF5t0hO9JGDQ9nIPnabPb6g23jpTk+1ufnmm5Od3K1zRLVbrxxWNl9ayy9lajudwSnRWjk+/d7rqI00T0s8kTiY3jwpk29TTtkbwPoNaFf36c/09kPd1FRNmH7aCVhl80HR3/sy7dO6NHt8RKffym5rF9040pmUWVbd1iFNyQeh8gx2yxNAwCrPjp5GCBQRsPQDox8i3cHNHuje+oYfLRIknGiXlHbk6CBJPVbyZ3/2Z0OvUe61aOu2tbl1PIkjOuhVP9wSLFSktxbm6dtNtN1ZZ25ofBXIWphIOEl3FKRh6eWfFQFL/orH17/+9eQup+42a2Giw/S1W0KCY+t5Tr0ErHTxqx10EvZ0dpV4qCCSXT0upbPOWh/dk7ioMw7khxY6qfg1ffr0ZPHbyljtdYf9C1/4QrII7naWV7uvi8QqXfdNN92UCE+ykc49LXje8pa3uPHjx4/o2un6W9/eo/kh37WTSgWfDlXV/Mo+DiH22mGma0h90HzUWR66Zu1KyYpnRdr72glQJp695r+P9FWkOCsiYMm3eubiJufcqCEUeixPZ11oTqbzP/3OSETVDq128zEP6zJzM4179i1vEi7e+MY3Jo906FBd5ejszthORblsaT7qBQXKoWqXimISGZRD0x2eKZBeeaadYKO+Wmyp0NfOHI0hUenggw/uOOXyCFhaPGlBrMczdNOj3WPHmjMSp3UHPN2hpHync2O0s1iCXeun6O9Kt+vzKWCl3wGdIaWbCspNymfK3fpN0K5jzYsiAlZ67T7zbrs3GOu3RfWCfr+UL7V4VIyzxwYUyaPpb2TePB0z7xbJiT5ycCgb2YO+9fus71Gvj77ruimlm3HZg8Zb30zXK4dpnLL5sp2PMfNL0dpO/v/iF79IXpajuk21sD76TukGrXJZaz1YNN+2MtIOYwmOt95664jfPR2tcPjhh48Ys9Mh7mXzQZnf+7y1qo8dWCkz3fTQTlY9EZHW6mmd2a5Gbko+6PXd5+/rJ4CAVT9zRoQABCAAAQhAAAIQKEEgXZBld5OWMEMXCEAAAhCAAAT6kAACVh8GDZchAAEIQAACEIBAEwlo14XOYtNZldrJpsfusp/0KAA9QqrH817ykpc0EQPXBAEIQAACEIBAGwIIWEwLCECgfwkMfwKqf68DzyEAAQhAICGgR6n1dlY90iqB6g1veMPQI5N6vEjils4y09/p0U8+EIAABCAAAQgMDgEErMGJNVcKAQhAAAIQgAAETBNod/C1zifr9hIO0xc0yM5xk2mQo8+1QwACEAhCAAErCFaMQgACEIAABCAAAQiUIdDucPleL+EoMw59IAABCEAAAhDoLwLDBCxulPRX8PAWAhCAAAQgAAEIQAACEIAABCAAAQgMAgF2YA1ClLlGCEAAAhCAAAQgAAEIQCA/Ae7s52dFSwhAAAI1EUDAqgk0w0AAAhCAAAQgAAEIQAACEIAABCAAAQiUI4CAVY4bvSAAAQhAAAIQgAAEIAABCEAAAhCAAARqIoCAVRNohoEABCAAAQhAAAIQgAAEIAABCEAAAhAoRwABqxw3ekEAAhCAAAQgAAEI9DEBjjjq4+DhOgQgAAEIDCQBBKyBDDsXDQEIQAACEIAABCAAAQhAAAIQgAAE+ocAAlb/xApPIQABCEAAAhCAAAQgAAEIQAACEIDAQBJAwBrIsDfponkAoEnR5FogAAEIQAACEIAABCAAAQhAAALtCCBgMS8gAAEIQAACEIAABCAAAQhAAAIQgAAETBNAwDIdHpyDAAQgAAEIQAACEIAABCAAAQhAAAIQQMBiDkAAAhCAAAQgAAEIQKAyAY41qIwQAxDoSIDvF5MDAhBwDgGLWQABCEAAAhCAAAQgYJgAC1fDwcE1CEAAAhCAQG0EELBqQ81AEIAABCAAAQhAAAIQgAAEIAABCEAAAmUIIGCVoUYfCEAAAhCAAAQgAAEIQAACEIAABCAAgdoIIGDVhpqBIAABCEAAAhCAAAQgAAEIQAACEIAABMoQQMAqQ40+EIAABCAAgUoEONOnEj46QwACEIAABCAAAQgMHAEErIELORcMAQhAAAIQgAAEIAABCEAAAhCAAAT6iwACVn/FC28hAAEIQAACEIAABCAAAQhAAAIQgMDAEUDAGriQc8H9ToAHj/o9gvgPAQhAAAIQgAAEIAABCEAAAkUJIGAVJUZ7CEAAAhCAAAQgAAEIQAACEIAABCAAgVoJIGDVipvBIAABCEAAAhCAAAQgAAEIQAACEIAABIoSQMAqSoz2EIAABCAAAQhAAAIQgAAEIAABCEAAArUSQMCqFTeDQQACEIAABCAAAQhAAAIQgAAEIAABCBQlgIBVlBjtIQABCEAAAhCAAAQgEIwAr2sJhhbDEIAABCDQ1wQQsPo6fDgPAQhAAAIQgAAEIAABCEAAAhCAAASaTwABq/kx5gohAAEIQAACEIAABCAAgYgE2FcXET5DQwACjSGAgNWYUHIhEIAABCDQ/wRY4vR/DLkCCEAAAhCAAAQgAIEQBBCwQlDFJgQgAAEIQAACHQkg0zE5IAABCEAAAhCAAASKEkDAKkqM9hCAAAQgAAEIQAACEIAABCAAgSwB7s4wHyAQnAACVnDEDAABCEAAAhCAAAQgAAEIQAACEIAABCBQhQACVhV69IUABCAAAQhAAAIQgAAEIAABCEAAAhAITgABKzhiBoAABCAAAQhAAAIQgAAEIAABCEAAAhCoQgABqwo9+kIAAhCAAAQgAAEIQAACEIAABCAAAQgEJ4CAFRwxA0AAAv+/vXsLsar64wD+syK7YBe7EEVgL1kJYZc3ox6ii1RkpXax8MHKoCxKjDAqKrKoLAoFlYjI6TqZVEZUFBVFJEUkRIUPWU9djZKQwpw/vxVbzhxnTP9zZtz7zGeDoHPOXnutz9qCflnrtwgQIECAAAECBAgQIECAAIEdCvzHYQgCLO8PAQIECBAgQIAAAQIECBAgQIBArQUEWLWeHp0jQIAAAQIECBAgQIAAAQIECBAQYHkHCBAgQIAAgcYL/MeK88aPzwAIECBAgAABAqNdQIA12t8A46+pgP+K1XRidIsAAQI7FPjoo4/itNNOK985/vjjo7e3NyZNmrTDe7788suYMWNGfPXVV3HOOefEM888E4cccsiwSWf7V155Zdxzzz1xxx13DOk59957b9x5553R09MTs2bNGlJbbiZAgAABAgQI7EhAgOX9IECAAAECBAh0SKA1wMomn3jiiZgzZ84OW1++fHlcd9115TsCrA5NhGYIECBAgACBrhMQYHXdlBoQAQIECBAgsLsEqgDr8MMPj82bN8cll1wSS5Ysif3333/ALm3atCmuv/76WLlypQBrd02a5xIgQIAAAQKNEBBgNWKadJIAAQIECBBogkAVYE2fPj22bNkSuT3wpZdeihNPPHHA7n/22WdxwQUXlF+ffPJJHHHEEbYQNmGi9ZEAAQIECBAYcQEB1oiTeyABAgQIECDQrQJVgDV37tw44YQT4qabboply5ZF/rn96uvri0cffbR8nrWk7r///gEDrPze119/XbYjvv766/HNN9/ExIkT47zzzot58+bFhAkTBmx73bp18dhjj8Urr7xSPs/VYFnz6oMPPhi0BtZff/0Va9asKc/KseQ1ZcqUuPrqq+P888+PsWPH9nuWGljd+iYbFwECBAgQqJ+AAKt+c6JHBAgQIECAQEMFWgOsrH01e/bsOPXUU2Pp0qUxbty4fqP67bffSn2sAw88MG644Yby+/YVWLmKKwOuhQsXRm43POmkk+Kwww6L7777rgRZ48ePL21feumlMWbMmNJ+Bl7PPfdcqatV3ZNF4devX1/az0DqkUce2a6I+88//xzz588v2xmzr5MnT4699torvvjii9i4cWNcddVVsXjx4vL86hJgNfRF1e1//65ExL9/a1wECBAg0AQBAVYTZkkfCRAgQIAAgUYItAZY9913X9x+++3x7rvvDriNcO3atTFt2rSy+ipPLswQqj3AeuuttyK3Ix555JElPJo6dWrssccesXXr1li1alUsWLCguOTJghlM5fXpp5+We/LKcKu6J8OsRYsWxQMPPFA+az2FMFdeZV/zGddcc01k36ugKoOtBx98MB5++OESpN19990l2MpLgNWI11InCRAgUF8BSXJ956aGPRNg1XBSdIkAAQIECBBopkBrgJXbA19++eWyXa99G2GuksqQKOtjvfDCC2Ww7QHWn3/+WVZmPfXUU9HT0xOzZs3qh5Jt5Fa/a6+9Nm688cYSMmWwlAFTBksrVqwoW/+qlVl5c7Xqa/Xq1f0CrKoW18knn1zazCCt9frpp59KsJWruHp7e2PSpEkCrGa+onpNgAABAgQaKyDAauzU6TgBAgQIECBQN4H2AOv7778vwVQWcW/dRvjLL7+ULXnHHntsCZ42bNiwXYCVda9mzpwZuf0vV1jlKqz2K7cSXnHFFeXHzz77bBxwwAGl3Xzuiy++GMcdd9x29yxfvrxsL2xdgVX9LLcW3nzzzQOyZo2uXIH1/PPPl77mZQVW3d5A/SFAgAABAt0rIMDq3rk1MgIECBAgQGCEBdoDrNzud+utt8Ybb7zRbxvhO++8ExdddFFZXXXxxReXelbtK7Da29p33323G83vv/9eVlnld1977bVST+uyyy6LQw89dNDTDLOI+xlnnLEtwPrnn39KcfcMqKoaWwOx5VbCzz//vF/wJcAa4RfM4wgQIECAwCgWEGCN4sk3dAIECBAgQKCzAgOFTrmNME8ArFY3ZWCU2/yyvlUWWz/mmGP+7wBr8+bNZcVUrqD68MMPS3A1UC2t1lFWfaxWYLW2sTMarSu3BFg7I+Y7BAgQIECAQCcEBFidUNQGAQIECBAgQCCirITKguxz586NrIGVq6a+/fbbuPzyy+Poo48u9aWytlXWs8rVTllQfe+99/6/A6xqBVaeFJj1tPbbb7+yAuvggw8uWwpbTwysJqg9wPr777/jtttuK/1t3R64MxMqwNoZJd8hQIAAAQIEOiEgwOqEojYIECBAgAABAoMEWFVAlOFQbvPbuHFjnH322WUF1llnnVXcBtpCWP0sw6jBamBV4diee+5ZAquDDjqobCmsAq2svdV+Pf300zF79ux+WwEzvLrllltKTas8jbC18PuOJlaA5bUnQIAAAQIERkpAgDVS0p5DgAABAgQIdL3AYHWrXn311bjwwgtLwfY8CfDjjz/uF0oNFGDtyimE1YqvffbZp6ykmj9/fixevLhsL2wNo/7444+YN29eZIjVuhVw7dq1MW3atFL0feXKlXHUUUf1m6tqm2EGY9n29OnTy+cCrK5/pQ2QAAECBAjURkCAVZup0BECBAgQIECg6QKDBVjVaYG//vprZIiUq6TuuuuuyJVTeQ0UYOXPc5VWhkV5AmEGUlOnTo0sDL9169ZYtWpVLFiwoNyfK7SmTJlSfr9+/fpyEuEPP/wQDz30UKm/lfdkIJZ/zvpbebUGWBlQZbH5JUuWlO2OixYtigkTJpTv5WcrVqwohd5zRVdPT8+2zwRYTX9j9Z8AAQIECDRHQIDVnLnSUwIECBAgQKDmAoMFWK0n/Y0bNy5Wr14dZ5555rbRDBZgbdmyJZYtWxYLFy6MTZs2bTslMAOxvGf8+PGxdOnSUri9daXV+++/X7YJ5vcmTpxY6m9lsJXbF0855ZR47733+gVY2ZEff/yxrM7q7e2N7OPkyZNj7Nix5b6qnQyyTj/99G39FmDV/IXUPQIECBAg0EUCAqwumkxDIUCAAAECBHavwGABVvbq7bffLrWvzj333LJNL08MrK7BAqz8vK+vL9atWxdPPvlkvPnmmyW4ylBqxowZMWfOnG2rodpHvmHDhnj88ccjT0HMACoDsyzWnqFUhlCtK7Cqe3O11Zo1a8qzcixVaDZz5szyrPai8AKs3fu+eToBAgTqI9AXEWPq0x096UoBAVZXTqtBESBAgACB3SPgn6+7x91TCRAgQIAAAQLdLiDA6vYZNj4CBAgQIECAAAECBAgQIECAQMMFBFgNn0DdJ0CAAAECBAgQIECAAAECBAh0u4AAq9tn2PgIECBAgAABAgQIECBAgAABAg0XEGA1fAJ1nwABAgQIECBAgAABAgQIECDQ7QICrG6fYeMjQIAAAQIECBAgQIAAAQIECDRcQIDV8AnUfQIECBAgQIAAAQIECBAg0H0Czjbuvjkd2ogEWEPzczcBAgQIECBAgAABAgQIECBAgMAwCwiwhhlY8wQIECBAgAABAgQIECBAgAABAkMTEGANzc/dBAgQIECAAAECBAgQIECAAAECwywgwBpmYM0TIECAAAECBAgQIECAAAECBAjsqkD/OmgCrF31830CBAgQIECAAAECBAgQIECAAIERFRBgjSi3hxEgQIAAAQIECBAgQIAAAQIECOyqgABrV8V8nwABAgQIECBAYAQFHKM+gtgeRYAAAQIEaisgwKrt1OgYAQIECBAgQIAAAQIECBAgQIBACgiwvAcECBAgQIAAAQIECBAgQIAAAQK1FhBg1Xp6dI4AAQIECBAgQIAAAQIECBAgQECA5R0gQIAAAQIECBAgQIAAAQIECBCotYAAq9bTo3MECBAgQIAAAQIECBAgQIAAAQICLO8AAQIECBAgQIAAAQIECBAgQIBArQUEWLWeHp0j0CQBx5w3abb0lQABAgQIECBAgAABAk0SEGA1abb0lQABAgQIECBAgAABAgQIECAwCgUEWKNw0g2ZAAECBAgQIECAAAECBAgQINAkAQFWk2ZLXwkQIECAAAECBAgQIECAAAECo1BAgDUKJ92QCRAgQIAAAQIECBAgQIAAAQJNEhBgNWm29JUAAQIECBAgQIAAAQIEOi7gOKKOk2qQQMcFBFgdJ9UgAQIECBAgQIAAAQIECBAgQIBAJwUEWJ3U1BYBAgQIECBAgAABAgQIECBAgEDHBQRYHSfVIAECBAgQIECAAAECBAgQIECAQCcFBFid1NQWAQIECBAgQIAAAQIECBAgQIBAxwUEWB0n1SABAgQIECBAgAABAgQIECBAgEAnBQRYndTUFgECBAgQIECAAAECBAgQIFAjAWdM1mgyhtQVAdaQ+NxMgAABAgQIECBAgAABAgQIECAw3AICrOEW1j4BAgQIECBAgAABAgQIECBAgMCQBARYQ+JzMwECBAgQIECAAAECBAgQIECAwHALCLCGW1j7BAgQIECAAAECBAgQIECAAAECQxIQYA2Jz80ECBAgQIBAowTUcW3UdOksAQIECBAgQKASEGB5FwgQIECAAAECBAgQIECAAAECBGotIMCq9fToHAECBAgQIECAAAECBAgQIECAgADLO0CAAAECBAgQIECAAAECBAgQIFBrAQFWradH5wgQIECAQH0ElI+qz1zoCQECBAgQIEBgtAkIsEbbjBsvAQIECBAgQIAAAQIECBAgQKBhAv8Dk/9MJwFVETwAAAAASUVORK5CYII="/>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7" name="AutoShape 4" descr="data:image/png;base64,iVBORw0KGgoAAAANSUhEUgAABLAAAALmCAYAAABSJm0fAAAAAXNSR0IArs4c6QAAIABJREFUeF7s3QvYHdOh//H1Jogg2oioRkmKNKgKjVYiKUJIKy6pSxKXukbd24M/RzmnqFa1Pa3jGnEvcUtdUqQqBAlB0xJxUCl1Cy3iHkRI8v6f39L1dt6V2Xtm9p6991y+8zyelncuaz5r7dkzv73Wmrb29vZ2w4IAAggggAACCCCAAAIIIIAAAggggEBGBdoIsDJaMxQLAQQQQAABBBBAAAEEEEAAAQQQQMAKEGDREBBAAAEEEEAAAQQQQAABBBBAAAEEMi1AgJXp6qFwDRPQwNm2hu2dHSOAAAIIIIAAAggggAACCCCAQIoCBFgpYrIrBBBAAAEEEEAAAQQQQAABBBBAAIH0BQiw0jdljwgggAACCCCAAAIIIIAAAggggAACKQoQYKWIya4QQACBZggwArYZyhwDAQQQQAABBBBAAAEEsiRAgJWl2qAsCCCAAAIIIIAAAggggAACCCCAAALLCRBg0SgQQAABBIotQJe1YtcvZ4cAAggggAACCCBQCgECrFJUMyeJAAIIIIAAAggggAACCCCAAAII5FeAACu/dUfJEUAAAQQQQAABBBBAAAEEEEAAgVIIEGCVopo5SQQQQAABBBBAAAEEEEAAAQQQQCC/AgRY+a07So4AAggggAACCCCAAAIIIIAAAgiUQoAAqxTVzEkigAACCCCAAAIIIIAAAggggAAC+RUgwMpv3VFyBBBAAAEEEGiEAG+ubIQq+0QAAQQQQAABBOoSIMCqi4+NEUAAAQQQQAABBBBAAAEEEEAAAQQaLUCA1Whh9o8AAggggAACCCCAAAIIIIAAAgggUJcAAVZdfGyMAAIIIIAAAggggAACCCCAAAIIINBoAQKsRguzfwQQQAABBBBAAAEEEEAAAQQQQACBugQIsOriY2MEEEAAAQQQQAABBBBAAAEEEEAAgUYLEGA1Wpj9I4AAAhECvPCMJoIAAggggAACCCCAAAIIVBcgwKKFIIAAAggggAACCCCAAAIIIIAAAghkWoAAK9PVQ+EQQAABBIIC9FajPSCAAAIIIIAAAgggUE4BAqxy1jtnjQACCCCAAAIIIIAAAggggAACCORGgAArN1VFQREoiwB9bMpS05wnAggggAACCCCAAAIIIBBXgAArrhTrIYAAAggggAACCCCAAAIIIIAAAgi0RIAAqyXsHBQBBCRAXyvaAQIFEuADXaDK5FQQQAABBBBAAIHsCRBgZa9OKBECCCCAAAIIIIAAAggggAACCCCAQECAAIvmgAACCCCAAAIIIIAAAggggAACCCCQaQECrExXD4VDAAEEEEAAAQQQQAABBBBAAAEEECDAog0ggAACCCCAAAIIIIAAAggggAACCGRagAAr09VD4RBAAAEEEEAAAQQQQAABBBBAAAEECLBoA4US4CVYhapOTgYBBBBAAAEEEEAAAQQQQAABK0CARUNAAAEEEGicAKly42zZMwIIIIAAAggggAACJRIgwCpRZXOqCCCAAAIIIIAAAggggAACCCCAQB4FCLDyWGuUGQEEEEAAAQQQQAABBBBAAAEEECiRAAFWiSqbU0UAAQQQQAABBBBAAAEEEEAAAQTyKECAlcdao8wIIIAAAggggAACCCCAAAIIIIBAiQQIsEpU2ZwqAggggAACCCCAAAIIIIAAAgggkEcBAqw81hplRgABBBBAAAEEEEAAAQQQQAABBEokkOsA65lnnjG//e1vzdKlS22VrbTSSubQQw81X/7yl0tUhZxqXgU+/vhjc8UVV5gXX3wxlVPYaaedzIgRI1LZl9vJO++8Y+bMmWOefPJJo///4Ycfdux/1VVXNT179jSbbrqp2WKLLez/Z8mfQK3tcIUVVjBqA2uvvbb52te+Zv/p3r17/gBSKvF7771nLrzwQvPuu+/aPTbi8+gXtRXHTImL3SQQ8D+jAwcONPvtt1+CPSy/6v/93/+Za665pqZ9BD/7m2yyidlss83stYClusA999xjpk2bZlf6/Oc/b44++mjzuc99rtNG1157rZk7d679b/369TOHHHKIWXnllaFFAAEEEEAAgX8J5DbAam9vNzfffLOZPXt2p8r85je/afbcc0/T1tZGJSOQaYFag4NKJ5XmA/Prr79upkyZYp5//nmjz1rUos/bl770JbPXXnuZL37xi1Gr8/cMCaTVDldccUUzfPhws+222xr9/7ItrQiTWnHMstVrFs43awGWb6LPu75/vvWtb5kuXbpkgSyTZSDAymS1UCgEEEAAgZwJ5DbAevPNN83EiRONbuCDi37NOvzww82aa66Zs6qguGUTSCs4cG5pBVjqbTV58mSj8iVd9Mv8t7/9bfsgQ4icVK8166fdDtUjY+zYsaXrjdWKMKkVx2xNKy33UbMeYKl2dL3fcccdzQ477MC1v0JzJcAq9+eYs0cAAQQQSEcgtwHWo48+ah+y1TvkC1/4glm8eHHH0I1ddtnFbLPNNukIsRcEGiTgP5QodN1uu+1q7r2ink8azlXP8tJLL5krr7zSfPTRRx270S/q2reGM6iXlf592bJl5pVXXrHDH//5z3/af3eLQqwxY8aYzTffvJ6isG2TBGpthx988IHtoff3v/99ubBTD7IazlqmELMVYVIrjtmkZslhAgLNCLDUc3LYsGGR7pqyYf78+XZY+VNPPWWWLFnS6dq/zz772OHELMsLEGDRKhBAAAEEEKhfIJcB1qeffmofsp977jkroN4eCxcuNI8//rj9d+YNqL9hsIfGC/gPJa1ut2E9cQYMGGD22GOPqvNbaW6sW265xcybN68DbfXVV7c9IXv37t14SI5Ql0C97VDb/+53vzOaU8ct1H9dVcLGCHQSaEaAVUsPXl37r7vuOqMfPtyy4YYbmoMPPrjmH2KKXPUEWEWuXc4NAQQQQKBZArkMsP7xj3+YSy65xPYS0S/8BxxwgO0BMmnSJNsji8ncm9V8OE49AvUGB/UcO2xb9aTRpPIKiLX079/ffO9734s1gax+lb/xxhs7QmRtr95kO++8c9rFZH8pC6TRDhctWmRfqKEeWW6hJ2zKFcXuSiuQ1QBLFbJgwQI7ncP7779v60cTjo8fP96st956pa2vSidOgEWTQAABBBBAoH6BXAZYf/jDH8z9999vz15vPjvyyCPtsCbdROlmSguTudffONhDYwXSCA7SLGHw5lqT8urtRxtssEHsQ/gPMuuss4457LDDzCqrrBJ7H6zYfIG02uHTTz9t32rm3gqrubAUgHbt2rX5J8URESiQQJYDLDHrhTp/+tOfOsT33ntv841vfKNANZDOqRBgpePIXhBAAAEEyi2QuwBLva4uvfRS8+qrr9qa23TTTe3rpBVgBd9KyGTu5W7YeTj7tIKDtM41+PruSq/4rnYsBRcKMBRkaNFr1TWMsN55udI6P/YTLpBWO9SLNS6++OKOnhjqgaGeGLwCnpaHQH0CWQ+w/vznP9thxG6pZThifUL52JoAKx/1RCkRQACB8gjoTfNtuTvd3AVYwV/5NXxQk0UPGjTIwj/zzDN2GIvrAVDPEJYPP/zQPPHEE0Y3Zq+//nrHsCo9lGtC6yFDhhj1MIjbu6De/QXDhbhzJWlOGgUKWip16w+u4/ar4UB33XWXndNGw8l0zhpOprcLacJ8f9EE+qqXuXPnmpdfftnoXDWUU4t68ihM3GijjaxZkjmRtI833njD/rKr/b/77rt2qKjCSs2xo7k2NP+ZApLgZNHa7vrrr+8YzqYeQN///vdNnz59Yn1Agz38VF6FMDpe2ktawUFa5brjjjvMzJkzq7aXqGPpBv3ee++1bUZtbty4cUY9saotrv3os6ZgWu1PS/fu3U2vXr3M4MGDzcCBA023bt2iDm//rv2pLT7yyCPmrbfe6tif2qLa72abbWZ7B6iM1ZbgBNnu86PP/kMPPWQefPBB+wZU7VP/TcMldT0Ie4V8pfLUen6xEBKslFY79CcUDwtBgw9wqlP9+KCXAKjtvfDCC/barc/aV7/6VTN8+HB77fAXraPrwcMPP2y31fXGXWvUXvTygK222iqyfv396tqi69fs2bPNs88+a4M4XUv0UgKVQ2UaOnRoxfngkk6orvXV5tVW1U7dZNhqFzqe2qm+29TLuNKS9Jjaj85TL19QG9b/uuu12q7q7Ctf+Yq9VvvXVb8MfrtRbztN3q39q370OQl+nvV5+/KXv2xfsNK3b9+GTPDvvjPk+re//c26uiHR+o5QGXRe+vzrxy99fistYd+Nug7I/IEHHrCTmLvvJLURtb0tttjCbL311olCW/nrO27OnDkd7UD7Uzn1/aZ2oHPQ8G7Vlxb32UnwMV9u1eD56Y/1hE61BliaQ2vWrFl2Mni56jPg6kn3I5pUXv8bdl2tdu713m8F951mmyLAqqfFsi0CCCCAAAKfCeQqwPKDCT9c0IOvemfp7Wha9MY0DWHSA0HcRTeKM2bMMPfdd1/HjW+lbddYYw2jN+7oZrzSktb+mhVg6SZWb3fUjbm/+MMy9SCpoZwKLNxDQjVn3ZjqIV/DC6KGlenGdsqUKTaUdGFY2L4r7dMfzhQ3zPR7+OlBeM8994zbfBKtl1ZwkOigVVYOvtlTq+nhea+99ood0iYthx50H3vsMRteBN96GLYftReVRSFCpTfbJWmPenBVQKI3b1V6iPUDLIUtCk1cD7NgOcOCTp2fHnSnTZsW+fnQ+amNfv3rX0/8sJbU3V8/rXbohylhPbD8AEsP4rreqAz+4n9mdR3Qg+5NN90U2V7i1G/weArCVA7Xs7eSqR6kFe5obje/3cQNk9ROp06dagOe4Ns7w46p48nou9/9bmgoEveYbt8K5tRT+e23367abPQZ048Oo0ePrhighQVY+pFAk3rrLXWVliTfA0natn5ouuGGGyLr0O0z6priB1iamFzhZtTnOWq/7vhxrw+6tuiHOrWZrAZYSYcQ6nqvHlu6llb7fpeVfgDR+euHgqglrfstd5y02xQBVlQN8ncEEEAAAQSiBXIVYGmIiua50k27lrB5roK9Z9Q7Sr8KKzSJsygAU48l93bDONvoZlUPtuqh5C9p7q8ZAdaaa65pbyb1q7W/+BPj6yFMD5IKPZIu+oX/wAMPrBgcqBfEVVddZT744IPYu9avtJrMf7XVVrPbaFsNZ1IPLi1xe60Fe/E1+mUAaQUHsZEiVlSPk+A8cu4hdtdddzVqG2kuaj966FH76fQAU6Unq3ol6IFan/uwz5omkQ8Ll6qVW734dI0IC7n9AEs9ItwDpL9Pf8J6PUjdeuuty59flcLIW+GIvOP27EyjTtJqh2EvATjooIM6fc6DD3B6IFVPCTf5c/Bc/CHgethXUK7to0Kf4H507R87dmzVHzH09lo9TMcJ4d2+FSrpoToYYsUJk2q9bq6//vr2mum30zjHVJn1GVOY+sc//rGjp1ectqPrqeowbEJuv90o1FNPorDvj7BjRX0PxCmfW0dvwdObiaOCcH+fuqboe0Nhnb8EAyz9SKV/ZBgVuGg/1farv1e8/lU46R49etjg3n1WstQDy5/7MKrHs9ZXT3n33RynntXzTZ839ZqrtKR5v6VjNKJNEWDFqW3WQQABBBBAoLpArgIsDXm47bbb7BlVmmQ6+IZCrRd3MvewBwvdiKkLu4YbaFiLblx186WQLNgzSL+QqqeXhl+4Je39NSPAcmXXzaJ6P6gHjm6a1Tth3rx5djiDe2DTw6SGGbqbefVG23HHHe2DgBuapQdC/YKp9TScw61bLVhUzwD1ogs+BCk4GDFihB3aorJpv+pJoLYQ7Emw5ZZb2t5S7uE/GGbGeTOSyhecRy1u6FXrRSat4KDW44dtp4d59URxw5ncOqpfPTyoTay11lp1BSxynj59urn77rs7DTVV/enzpqE47mFNN/wanuJCC30mDz30ULPuuutW/aypnWq4l3rQqexa9PCnfek6EnzQrdTTzA8HtA+VS+XUw7raufapXmQbb7xxx/Ba93D6l7/8paOMKvf2229ve9PoWqL9uGEu+ny48ui/63Ok4bqVepqlWd/aVxrtUOesEEgWbgkbkhR8gHPr6bq5xx572M+32oZCQl3H1RacgX+9cfWra7Pai3oq6Tx0XVZIE7wuVOtJ6D+k6ngKi+SvwELH0X41nFzXk2A9jRw50tapW+KESSrf1Vdf3fH5Uu+SUaNG2d7Cbq6wSu0iOFw+yTG1rv+51nnKW+epz5KumTpPXadVR6+99lrHeclX32/uc+T+4Lcb7UPtQHWhnoTq4Vjts5z0B6ZK7V69hfWd4V7gouNrGKl6V7prldqVftTQsL/g5037VIit3lV+j7pggKV9ah/6Rw7f/va37Xddte+jSvvVMXUNuv322ztd/9Tedc3S9UGO+gyozenNnn5olpUAS58HhVEa/usW9ZLdf//9Q78j/LrSNvoM6Jqnz508da3X9796wet6Erz2q57Cerynfb/VqDZFgJX2txf7QwABBBAoo0BuAiyFFvqF1fWOqjQ80F8v7mTu/pAz3fjqF++wOZvCHsD9Hhhp769ZAZZ+OdbNZ7Vea35PnUoPOO4DFeYVNjTPD5D0kKWHTw2fCRvmpV9cdfOsG3wtfo8p9eS67LLLOoYn+XXkf+B10zphwgSj4Yta4g47rPXC4T8A1rofN/dMrdsHt4vTU0P1otBhwIABtp3oTYXV5pLxy+WHzOrloXPQ/Dhhi//w7V7c4IJK/V29r9zcd3rAVK+RSpPH+z0AdD4KPv2eXWEBltqt2mO1OVn8kELhlnoBVRo26z8Exglb06jrSkFE0uA2rM1U6oXhB1iqe73tUtfzSosCdAUUrkemHnh1jdJ1J2zRd4CCaBemqZ3IX6FGcPG/K1SnCsoVSoXVrx+u+98tUQGWPwReD+I690pD3PUQr/N2YZx6+f67R9tnXRWjjqnz1fXskksu6fhRQNf43XbbzYa7YSFpWO/BsFAi7Pqlete8d2E9mnT+6qGlnokukFGdaBh+PWGt5u3TMGQtcQJgvx4rvWzCnyNK+9d8VBoCHzYfn9rn5Zdf3jGEsdLn2K8PmakXmAIcf1F4o7Bfn5tgiNXKAEv1rnsAXXc1DDb4Y0DYDwzB+wDVveYm1KJ2qJBbc6JVup7qu12BrztGpWtT2vdbjWpTBFhpfnOxLwQQQACBsgrkJsDSL3y6Ofzkk09sXVWbcNSfUDQqiNCDrwIi/TqrpdpNWKWHPj1U6VdqbZv2/nTMZgVY1X41ducenCvJn0i/0gfJD73CbsD9IaIKRhQiVnuLmR9S6WZY9a0lbugZdl7NeINeFgMsZxF3TiD30KgwQfaaxDhqsvVgzzg9xOgBVpM/V1r83j3qoXDEEUfYYY1+HautKBTQg061xQ9FwgJxPxyIGhoT1uYUhOslABoCVG3xw4q4PUfT+OKqpQeWHqwXLlxow2M97CmUDD5ga+J9BX1+MOEHWFHn6YfaCrx0nY2aD0fhtia9Vg8rLWHXNf87xe/BGWbrh6UKM9QLTEtUmOQ7q4fSd77znapVqGBG11u1H10P9b0XDLyijqmdBx/G9e/q7aKgrlpopM+VfhxQjywtYcOpw65fUd+1/hyD9b6pstZ5L4MmcV5wIoM4L/Tw7z323Xff5YLTYE/ySuF5sFHo+qeAXm3PLY0IsOq9lkQN8/N/uKh0jfDLoSBavTvlENZrL+37rUa2KQKselsZ2yOAAAIIIJCjSdyDD71RD5J+EBI1mbv/+veohyrXcHQjql9H9ZYo/ZquX+71oJH2/nS8ZgVYGhoRHBYT9iHR25J0U6lhJnqYGj9+fORb+vyHnc69CT47SvDmP+7wEj1o6RdaBRJ6qNWwGA3DcL/oxhl2qmP7N8F+L59GXCyyHGDpfBUeqI4174t+4Y4zv0zU5Nn+A2ycwFRlUa8mPcTp86XPs4YH6Y2CfoAZ97Orffrz5SksDfYc8cMB9ZDQEJZqAZ28NI+YezNe1AN9sF0FJ0JW8KWQzs3p1oj25/aZVjt0+6s0X5P+HnyA08O7ep6od0+lxZ/LLkn9Bj/7YYF08K2bUd8prnwqj3pFyUwTlqtHjkJbLVFhku8c1QMrTp0nPWacEMYd1w/4/F6z/vkEg+VqZQ9+l4W9qTLOebt19MOIvoNVVgWqCgUVpEctwd5V+q7xP/va3u+BFfxxpNL+/euR/0Obvq80v6OGwGsJ/vBVrcx+XWQpwIoz4b/OLfh5jPt503b+NcBvh2nfbzWyTRFgRX0y+TsCCCCAAALRArnogeX33gkLP4Kn6v9qHxWG6M1WCkG0nW7GNDylWo+QKNa096fjNSPAivNAGXXulf4ep5eH3iDlhv0oFDzyyCM7zStWy7H9MLPSWwWDN8FptIE4ZfVN1KNIwxyTDMfTcTT0Ljj/WpxjJ11Hnw19DjUXmsIsPVDpl+pKi3qLaFigP2xObwhVAOC2refV7Tq2H3qGPYhWKqN656hXp3sDnl8WPxzQvD4aHlVtCZZHPRI0X1e1t5QG96UeFnqDm5ak2yatz+D6aQZYCq/U60RhRtgSfIBT+K3eVNWGD/oTw4f1aIlbv8FtFy9ebIeku+HHSYdNhh0zKkzSNv7b2hRUqt25+f2S1mPUMf2H+yRvVVW70BBshTJafKM41/SoNlBvgJXUy63vh1Nhw7DjrOMfP6o+/L/HrQ8/+G91gKXPrn4wUjkUQFf6vDsf/UCkF+S4l2wk6Xmn755JkybZQFGLv20j7rdqaVdx2gsBVi2ybIMAAggggEBngVwEWMH5DeIOWfPnRKjWoybpQ1VUI0p7fzpeMwKstOfe0a/Nmm9IdaGbTPWSchOyRj0MxentElUP+rs/70ylHgjBISVJeinEKUOldWp9AKznmGluq15GGmKkV8srDPInfg97y1jwJj+NwDTYiyZuDxBn4D9M+g+FUQ+jYZbB8tRrnebcZtXKUm+ApWGgCunU+0U96qrNDxbnAS5YVn9IVj2mwYCylnAy6thx2sv8+fNtaOr3ZnTzyikM0LxQ6pkT502UUcf0A8DgkMeo8/G/d/ywyW83cUOVpG0gTjmj1nGTuOsFAboG6boVrIOoACvud2NUffg9tDQXmSZvj7ME7wHiWlfbrx+4qFdrWFl0nde6Dz/8cIeZPvMacqsXEEQNGVcZ/AAuzvlWWsdvh42434pTvlraVJy2X8u9Xpzysk4zBaq8TrmZxeBYCCCAQEEFMh9g+UO7aq2HanMaTZs2zQ5t0ZLGL8Jp789/kIjbWyB4gxpnno+4N+l+HehBRg9mCjH01sFXX33VDqGq1kMnLMAK/tqfxg26K2cwzAzrjefPoxT3V/Fa26LbLu8BVvD8dS5Tp07t9MbAsLDZ72Wk4af6Rb3WpZ7hSL6/JqTXg6wLDqIeRsPKHCxPrefktksaNtR6vFp7AmqyfP2ja2u10CpYrjgPcJXWr/X83HbBIWB6YcOFF15oh/1pqbcnoPYRt73oM6A5fXTdqbTIUz1chgwZYnu5VAoJoo4Zp1dINddgffkBcRYDLPcGOwVFCqv0A4p6oWkYmvvxJOx8mxVgaSi05hZzL5xIElIH7yvS+H7020bUZ0AhlHpRKRR1i4JW9XqN6gEc9kKMWj/PfjtsxP1WsGxptqk41z8CrFpbBtshgAAC2RJoRJTdiH1mSy1eaTIfYPlDIOKdVvhaleajqechOOohNo1ATMeo5aam0QGWelTddNNNRsPC/Nd8R9WTH2BF9YaJ2l+1v/tzaPhvvgr+Kh42WXE9x662bZECLJ2n2oAmnNYwKfeA5g/3Dd7A1xqYBk3r+exG+UeFA1Gf/XrbTZLeGfUcK8qhnn3728Z5gAtu40/6Xk9ZgsF01FxFtRwnSXtR0K852DQkt1qwonKot4smvNaE7/7w4qhjphlg+Z/XLAVYCgPVi3bGjBkdQ4KT1GGzAqx66iP4WWhFgCVP/82/+m8awq4Qq9JbVrVOmgGW/2NkPd8B1dpII9pUnOtfLfd6Sdo66yKAAAIIIJB3gcwHWP4blOoBrzSZe3DYTxqBU9r7y1qApaDivvvuM/rls9rDl5snQ8OKFGTcfvvtFedTacQcH8G2Epyw259fK/i3uL3b6mmHbttmBgdR5VXvqblz59peIXpAqHUCcb83m/958ueIanUPrGq9/qLCgagAK41rSVS9pfH3ZrbDOA9wlQKszwKUQ8166/Wt+7T9H0aiep/EOWAt7UVzcamHqD57mti7Wq+sQYMGmb322qvT0MKoY9YTmOicq/VuyUqA9fbbb9s3Tr7xxhsVq0k92vR5VNiinpYKYvTji1uaFWDV0wMrCwGWvPw3puq/6UehsWPHVhz22sgfqBpxv9WoNhXn+keAFedqyzoIIIAAAmUWyHSA5d8g6wZUv/TFfTOXeoFMnjy5Y6LeSpO5pz2HQtr78wMsDds56qijIidObVQPLA2Bkaub80hDxfRGOL2RS3Ph6P8rBAnO4RL1kOz/Pa05sNyHO9jjIji0zX9ldpK3xtV74YgyqXf/SbYPTi5db8+o4AOFP1F32nNgBR+wszAHVtCx2rDlJHXT6HWb2Q7jPMAFzzf45rJKb4urxadVc2BVK2vwRQl606s/r1zYkNyoAMt/UUHSYanVerdkIcAK6xGk65feJjpgwACz7rrr2jeX6joUXOIEe3G+P/36jKoPv+dfnLf+umMEX3LSqh5Yrixh9wAjR46s+AZjvxd01It4knym077famSbinP9I8BKUvusiwACCCBQRoFMB1j+q6OTvELdVWbwAUj/LWwy9+C8PEkmltav+Hqjmnohrb322vYNcnr7Wtr78wOsuD074gzXSnqT7gc+GnI3ZswY+9ZG2VVaot5o5b9pKG5Ip+OpV49CEwUG8t9xxx2XC/f8nkGuHWieFP16r78nDUDqvWA0MziIKqv/OVFb3nnnnaM2C/178EHLb6v+A3XcBzj10FNvKb0rS6koAAAgAElEQVQJUW9r1HCwLbbYoq63EPoTXEe9hTBOL52gY7PeZllTJQU2amY7jPMAFzwfv8dKnDqI4+Ffj5IE5rrWaKisghEFJTvssIOdoyoqvIhTruA6uibdfffddlicG6Ltvwkz6pj1vIXQ7xUb9eKNuKFK0jZQzU31oB9TnI9eHKG3TVYbzqb9Bb+j9e/N6oGl69dFF11k1MNHiz+cvdK5qi1cddVVtpeelrjW1eySzoEV3Jd+HFQPNvm7ReZ666pCQ3/xy5/WW4b9ukzj/q2RbSpO2yfASnqlZH0EEEAAgbIJZDrACvZmqNR7KqrCdAM/ceLEjsl6dZP1/e9/3/Tp06dj09dee82uo4nHtcQNynQDqNc76+ZZc5MccsghNkBJe38qU/DG53Of+5w5+uijq06c6r+2Oq1J3DXflUI7N0F73Btw3yRsqJ7f20IPFRruUW3x3zKoSWUPO+yw0AeY4P5lePjhh5tHHnnEzp2ipdqbKqPaWS1/b2ZwEFW+f/zjH+aSSy7peMuUAkQ59urVK2rTTn/XA5o+S5o8WYtfz/4v8RpeevDBBy83t49/UL/ngutJ4v/3uJ9d7T84dDSsd09UOBAG44fueqvc/vvvH+uNcomgU1y5me0wzgNc8NT867c+3xp2qrC63iX4/RL2vRC2/2oT/0e1F10DFUbpJRcKhw466CCjYe3VlqgQKeqYfnmTvGHVb8v+yy2y0AMrGJYn6TkarHv5NyvA8r+X49aHf31udYAlM4VwuhfQkEK3hL151v0teL1V0LTnnnvae616l7TvtxrZpuJc/wiw6m0RbI8AAgggUHSBzAZY/oPwWmutVdO8PH7AoQr1e5f4vXM0RFEP73oLVKVF2+htQnodt5Zg+dLen/Z/7733mj/+8Y/2WHHCPP+GN60Ayw8Mgm/2qmSlOtDNqx7e3BIWYPllrnYz7PajieR1E61gREu1NwgGH4Z1A635ZNR7S72wWtFbppnBQdSFTA9WejPaY4891rGqwgKFL3FDrLBf5f3PmtqCHh5nz55tj6MJqg844ADbk6Va+7n11ltt2KglODTP/6ypnStIVvuqtvjtJuxBMiocCNu/30NR56ceigp6qy1y0Tnq13+dn8qjSdw1HLfRSzPbYZwHuOD5+m+h1edUPSzV66laj0/tQ4G1rjvyVG+pUaNG2R8Y3BJ8O6n+myZK/+53v1t1v+oRdvXVV3cMnw5OtB/VXqJ6/IXVsx9g1fKmTH8eSfmNGDGi6nn6329h3zlZCLCCD/txe9AqXFfIrnsMtzQrwNLx/B4+UfUR9v2ZhQBL56LvC31vuJd2VAum/EBU3yu6z9KPJdWWhQsXdvzAqJ6OG2+8sVHPXfdmzrTvtxrZpuJc/wiwGv2Nx/4RQAABBPIukNkAy7/JixOUVKoM/0ElrJeOhhTceOONHTdimstJN7W6KfYX3VBOnz7dDu9wQxf8oS1p788fSqMhL5oPzJ/bQ2XVjbled63hWm5JK8Dyf+1UcKcebWFOOrZubHXTpknfgxO+hwVYfoiim+Ftt93WaG6N4Hxa7pz8uSqifoH3w8z11lvP/nqsnndxfwlP8wPfzOAgTrn9UEfbqGeKQqghQ4Z0PDCE7UvhoCbpVzt1nwmZ6gHFf8W6H4LqAUa9UTQMN2zx51vRMCr1wHJtwv+sRe1PD7AKn92kz2pnu+66qxk2bFinw0cFEpVM/WuXDBXS6TMbtsjrgQcesAG1m1fOfT66rbyyqTwwN06tRq/TzHYY5wHOL7H/4KtQUOGzhpBWCrGefPJJO7RM56ZFD8u6Tmnoklv889Z+FUgpBA/br9/jxN9nVHvxw8047cJ/q6c/R1/UMXWu77zzju1d6XrKRJ2nAgEXpgaH5un7JvgWxCwEWMGeVKozhZTf+ta3KrYLfX/pu9H1EHVtoZkBlr5vNBxaPfG0VGvP8v/Tn/5kbrvtto5rg7bJSoCl72z1Qn/qqac6PleVeu/6YbQ2iHqDoT4zui/TPZxbwoYRp3m/1cg2Fef6R4AV/Z3FGghkU6DdmIbfsWXzzCkVAs0WyGSA5d/oaJ4lza2gm51aFv9X7LBfkyvN6aDwRJOT61d8raMbYD1oqueVu7kPG9aS9v78hx856Lh6oNHDrs5JwZV6tqjngc5Zb15SGfVPWgGW/2unyqEQS+VQ7wY94LjJiDXEUmVx830E607hkYYCqVzBJWxYgs5TDyYKFbV/PTgpKFE9BPetsEvzNlXrmeGHme7Y1QJS/yEx7hxkUW21mcFBVFnc3/2wyP13PWQpYFIdaNiT2pbClueff97+8+6773Z8HtxDWaWeR2EBsOpVAdLWW29tw1CtowduBZ/6ld+Fn/qbhn4qHHNL2GdN+xs6dKgNI9wv/Pp8qMed+3y47SuFwXHCgTDXsPLIS8Hb8OHDbZiif1f9a0iuwnAZuutJtV5pwQcgHTuNOaGa2Q7jPMD5pmHtRZ9x9dBUTwy1S13/dG16/fXXbU9PXXtcm6kUUOo4CvmvvPLKjqGzYftV4PDEE0+Yu+66q9N6/hCoOO1F12c9ILu6du30G9/4Rke7UPtR27///vs7tf2wQDjOMXWeYZNuy0892TRnkfzUDvS9pjrS95xbFLRpmK8++8ElCwGWfz3XZ0fD0vQ507VC9al2MX/+fPPwww/boMWFxMFz0bxZfi/JpPNDan9x6+O5556zc1p98sknthi6Hug+Q/Xhrm36QcG/13BlzkqApfKE/fCx5ZZb2iGC/g9PYd/val/B+yx9NtSjWnWlnuf6bnGL7jV0/VePyuCS5v1WI9tUnOsfAVbcuxXWQwABBBAoq0AmAyx/KJkemNWTI6y3UdyKC86/oG3C5jtSSKRfZ3VzGXep1tsj7f1VChfCyqoHIz3czpo1y94AphVg6Vj+zXccKzlpSKb7pbZaCKQeOrq5d8MC4+xfN//qleOGFVTaxp+DSetFBaRlCrD08KDeKxoW4nqvxPEPrqO2pvBKn7FKix449CCvHibuYT7qOHrQGTduXOhww7Bf6qP2p78rvNLDa1gPwrgPo2HHqeWzr/1E9Y4pY4All1rai7aL6sWpdXRdVXtX0BFnqbTPOO0l7EE7zjErfabiHFP7D+vlF+e4Gk6vz5zCLn/JQoAV1gMo6rwUFmluOoWXbhhhWBDcyABL9aE3TWoi9LBAzT8HXRcUfCug1ZKlAEvlUdCkgDcYwu+zzz725S7+Usv3u/YR1bO2lmtu2D4b2aYIsKI+nfwdAQQQQACBaIFMBliNeEjzQ7FKk/bqIUZhl36tDQ55C6PUw+/YsWM7DUvx10tzf7o5VG+U3//+91XDBffQoflzLrzwwtQDLJ2jgig99KmnV7VFQZp+EdcvrJprSkO3dIMYnPQ+bHv1QLjuuuvsL+fVFj2MqOeV5nQJDm+pto0fZkZNJF6mAMu5adjRnXfeaXueRH0O3DaqC81PomFYwaFalepC+9XQuWnTpkWGB+qVoKBJvfEqLWpX6rWih6moMEJtRb001HYqtZu44UCl8qgM6g2kXmRR5XEPaOq1oFfMV1oacW3Meg8sZ6H2ouuf3gIYdd3RNrrGqy1WG2ro9q0w4/rrrw/tLRqsC7UV9TZVzz619+ASt724YdVqG3HCC13HFSKFtf24x3Tl1FvsFByH9YoNnotCOs1LN3r06Iqf5SwEWCqzggt9F+k7KSoMV289tQn1Jgu+1c+fW0z7bWSAlaQ+1OZUZoVtmrZAS9YCLNWB3uYbnLagUm8plV/fL1OmTOk05LzSNc+1RV0bK01V4LZN636rUW2KAKvq7Rx/RAABBBBAIJZA5gKssHlC/LcGxjozb6WwoW/+BNPBTTRsRHNP6Nd5hSnuAVRDCTWUUUPOdBMcNZGw22ea+9ODw0MPPWR/wVXZ9BDkfqHVsCk9sPmvdU+zB5Y7p7By6G/qKadfizUsRmVxwwTVE2zChAn25lVL1Bvj9DCioSwKOdTrSzfweojVg6N6cKmHj+Y70RsFkyz+HEz+vDL+vsoYYDmDxYsX2/lH1CtLc7ZoQt1gGKPPgx6w9UDlhtomqQutq2PMnTvXTtKu9uzecKl2pId2DSvUA6YfGFQ6jhvypeGC/v7ULjVZt8ob1VsvaTiQtDw6Hz2QaQiwyqT/jTrHMgdYfptU/Wr4knt7rK7Fao8anjxo0CDbZsLmzqtUT7q2KGTXEFP9r/ara5C7tupaprboD3t2+0vaXrR/nYNC4mA7TdIukh5TZVWApqGC7gUWwfPUtVS9k/Q9EhVCZyXA0jmpnhSeaMJ6zZnm2oSz1I8U+oxpuKT7zg5+lsJ+0GpGgKWy63qq+wz9aKYeVvr3sO+4YHmzFmDpPPSZUYgV7LlbbVi/6kzzEOo+669//asdfukCXYV2ulYrRNX8i1Ft0f9Mp3G/1Yg2RYCV9O6A9RFAAAEEEFheIHMBFpWEQKMFgpNC64FNc2qsueaakYd1D4ta8eijj04cnEUegBUQiCngHoTSmAMr5iFZDQEEEEAAAQQQQAABBBBoqQABVkv5OXgrBIJDCMPmQqtUJk24femll9qeOwRYrag5jukEbrjhBjucjgCLNoEAAggggAACCCCAAAJlESDAKktNl/w83cttg6+UD3sbZTUm1+tFcxQddNBBsefcKjk9p5+ygGvDGpJ74IEHhk5qn/IhS7U7XoRdqurmZBFAAAEEEEAAAQRyJECAlaPKoqj1CfhvAIv7dkvNjaO35d1+++12vqZdd93VDBs2rL7CsDUCNQgovLrlllvMvHnzTLVJkmvYNZsggAACCCCAAAIIIIAAApkWIMDKdPVQuHoENOTvmWeesZPBfvDBB3ayWE0aq0UT+Y4ZM8ZO9hy1aOLyiRMn2m315kn1etEE4ywINFtAE4wrSFXvQbXfzTffvNlF4HgIIIAAAggggAACCCCAQEsECLBaws5BmyGg8Oq3v/2tfeuWv3zlK1+xQZTedhRnUXCgN0TpjYVRb6+Lsz/WQaAWAb2Jc/LkyUZv99JQVhYEEEAAAQQQQAABBBBAoCwCBFg11TSzpNTE1uSNXn75ZXPZZZd1eq23iqChV4cccohZY401mlwiDocAAggggAACCCCAAAIIIIAAArUIEGDVosY2uRBYtGiRmTRpknnhhRfMkiVLTI8ePczAgQPtm9tWXnnlXJwDhUQAAQQQQAABBBBAAAEEEEAAAWMIsIrUCugYVqTa5FwQQAABBBBAAAEEEEAAAQQQQOBfAgRYNAUEEEAAAQQQQAABBBBAAAEEEEAAgUwLEGBlunooHAIIIIAAAggggAACCCCAAAIIIIAAARZtAAEEEEAAAQQQQAABBBBAAAEEEEAg0wIEWJmuHgqHAAIIIIAAAggggAACCCCAAAIIIECARRtAAAEEEEAAAQQQQAABBBBAAAEEEMi0AAFWpquHwiGAAAIIIIAAAggggAACCCCAAAIIEGDRBhBAAAEEEEAAAQQQQAABBBBAAAEEMi1AgJXp6qFwCCCAAAIIIIAAAggggAACCCCAAAIEWLQBBBBAAAEEEEAAAQQQQAABBBBAAIFMCxBgZbp6KBwCCCCAAAIIIIAAAggggAACCCCAAAEWbQABBBBAAAEEEEAAAQQQQAABBBBAINMCBFiZrh4KhwACCCCAAAIIIIAAAggggMDyAu3GmDZgECiRAAFWiSqbU0UAAQQQQAABBBBAAAEEEEAAAQTyKECAlcdao8wIZFSAX4EyWjEUCwEEEEAAAQQQQAABBBDIuQABVs4rkOIjgAACCCCAAAIIIIAAAggggAACRRcgwCp6DXN+CCCAAAL/FqCbIK0BAQQQQAABBBBAAIFcChBg5bLaKDQCCCCAAAIIIIAAAggggAACCCBQXaBIv98SYNHaEUAAAQQQyKRAkW43MglMoRBAAAEEEEAAAQRyJECAlaPKoqgIIIAAAggggAACCCCAAAIIIIBAGQUIsMpY65wzAggggAACCCCAAAIIIIAAAgggkCMBAqwcVRZFRQABBBBAAAEEEEAAAQQQQAABBMooQIBVxlrnnBFAAAEEEEAAAQQQQAABBBBAAIEcCRBg5aiyKCoCCCCAAAIIIIAAAggggAACCCBQRgECrDLWOueMQA4FPvrEmDfeW5Zqyfuu2cW0taW6S3aGgFn6ysumfcmSVCVW6Ld+qvtjZ8URaF/0d2OWLU71hNpW3STV/bEzBCTw/HvzU4VYoUtXs16PPqnuk50hgAACCGRbgAAr2/VD6RBAwBhz/1+XmjNv/Th1iy5txvxq3+5m875dUt83OyynwAcTzjGLbr4+9ZNfadBWZvWf/sa0rbhi6vtmh/kVWPrsyab95V+nfgJtPbczXQZOMW1dV0193+ywfAJLli01xz1wlnnktbmpn/y+A3Yxx21+UOr7ZYcIIIAAAtkUIMDKZr1QKgQQCAjs+usPzUfpdjDo2Hu/3l3M5Yd1xxuBugU+fWy2efekY+reT6UdrLLvwWbVQ45s2P7Zcb4E2t+ZaZY+tkPDCt223vGma/9fNGz/7Lg8AhP+73pzxdM3N+yEL9jux2arL2zWsP2zYwQQQACB7AgQYGWnLigJAgiECHy4uN3s9uuPGmazarc2c9sJq6S+//b2dnPppZeaM844w/Tv399MnDjRDBgwIPXjsMPsCHx89x/Mwl+c3rACrbzjzqbHf9a//7///e/miCOOME8//XSssk6ZMsV84xvfiLXusmXLzJw5c8zvf/97c//99xsdS8vXv/51861vfct897vfNRtuuKFpY+xuLM9qKy17fbJZ9uR+de+n0g66fGGM6bLptXXv/89//rMZPXp01f2ofWy55ZZm3333zWT7cOdw4oknmv/4j/+oyeSdd94xxxzzWcB9wQUXmJ49e9a0nzxudPqfzjdTX5zRsKKfvtUxZlS/7era/8cff2xOO+00M2nSpKr7+dKXvmS22GILM2rUKLPjjjualVdeua7jNmtj1/7eeOMNc/HFF5sNNtjAHvp///d/za9+9Stz/vnnmz322KNZxeE4CCCAQM0CBFg107EhAgg0QyCvAdbrr79ufvjDH5q//vWvRjfGJ5xwgjnssMN4cG9Go2nRMcoeYL377rvml7/8pfntb39bsQZWW201+7kYP368WWmllVpUU8U4bJECLFcjah9nn322DbyyFHISYNX3mclbgLXpppuaXr16LXfSCuhfeOEF88orr9i/HXjggea//uu/zCqrpP8jWH3iy29NgJW2KPtDAIFWCRBgtUqe4yKAQCyBvAZYM2fONPvss485+OCDzTPPPGNWWGEFc+6555ovfOELsc477krtxhjmoY+r1dj18hZgSSP4S3w9OkuWLDG//vWvzXnnnWe23XZb84Mf/MBsvvnmtneCeiMq3LrrrrvMOeecYx/+tJ5+7c9SSFHP+bdi27wFWNttt11ozyO1DwX+6rGq9qgeqxMmTDAbb7xxK1g5ZgME8hZgVeuNpBDrwQcfNGeeeabtxfo///M/9rs+6wsBVtZriPIhgEBcAQKsuFKshwACLRHIY4D1ySefmJ/+9KfmxhtvNFdddZW92VU3fT2g7bzzzi1x5KCNFyhzgKVQ6uijjzYfffSRueiii2wIEbYoxFK4pSGJCrHWWGONxldMQY9QlADLVc/ChQttb5abbrrJnH766bbHKksxBIoUYLkaueaaa8zJJ59sh73+5Cc/Md27Z3suTQKsYnyWOAsEEDCGAItWgAACmRbIY4A1b948c/jhhxvNlaGHdP1Ke+ihh9rw6mc/+1nV4QavvvqqfYD7wx/+YJ588km7D80ddMghh9geCX6Plbjr33LLLebYY481leZwCfu7mytJ89McdNBBtofNnXfeaYYNG2bDim222ca2HZVBcx7de++95uGHH7b/TfNr7LDDDhXntFGvi+eee85cd911Zvr06XauJLeNznXddde1+1Hop4fZk046yQYf/vlrPzLW0LVWB4RlDrA079X+++9ve11Vm9/nrbfesm1Hyy9+8QvTt2/fTtefuO3ZbZRk/bjtWQH03Xffba6//nqjoWNaFLipl4XmvMnK0MeiBVhydqGAhmZpPqJu3bp1zNGj66KuGWpfWnbffXfblj73uc/Zf58/f7654oorql5P/C+7uO2n0hBCv6188MEHZsiQIXZ+JA2DDM5zVW0OrLjXQ1d+d71WTyH1eFRbnTx5sr2Oan6mMWPGmL322iszQ9uKGGA98sgjZs899zSVehY2sj2qHVSabzCq/TEHVqZveSkcAk0WyOc4DgKsJjcTDocAAskE8hhg6WHi//2//2cfwNSL4P3337dzYD366KP2AUsPGGGLbogV1OghRMHVl7/8ZaOHHgVZYXPDJFm/ngDr85//vB0GphvfPn36mAULFpjf/OY3ZuDAgTaw0qTG6oGjAErl/vTTT21op2Fj+nf1PtNNtVu0r9tuu82ccsopdh23nfbhzt1toznEZNivX7/QHjtvv/22DbbUe+PCCy+0x2vVUuYAy/XAeu+99+xkwF/72tcSV0OS9qw2pDBVL0kItj0FZO7zonaptqPhu1pcgFWtPWt77fPmm2+2n7mvfvWrpmvXrh3tWQ+s+lyHzY+T+ITr3KDIAZbq7dRTTzUrrrhiR4Al+xkzZtjrha4xChXVA0brVGsLuiaozr7zne90CsCTtLewAEu9DdXTVnO+qU1tsskmtq24OZK23357G9LqmqmlUoCl4bcK7jT3lwIwN/+Sux5q32eddZbZbbfdOsrvrud6GYO+V3SdVFvV8tRTT9n9aIiuyucCvjqbW12bFy3ACg6ZDrZVIUVdm9Jojzq+XgyjdqFFPzL16NHDfg8+9thj9r+NHDnStr/evXt3an8EWHU1ZTZGAIEMCBBgZaASKAICCFQWyFuApQd4F1bpwWazzT57tbfrSaSH6uOPP94+6AQX/VqrHlJ6EFGPIz2sqaeHboYfeughu42GKLi3GSZdv54AS2GUhknoIVAP9bp57tKliw2yNCG3epzpRnnEiBH2v2vRA5RCLpU32JtCf5s7d675/ve/b9fTDfjw4cPtdvpF+dZbb7XBlkI+zRmmm3I9yKpHmt4O5b8NT8Mz1btNk4KHuTbzs1XmACv4QKUHNPVW+va3v23DBgUMUUvS9qzPyZFHHmnb4I9//GP7dkP3efnLX/5i29DLL79se+app46W4NsXw9qzzkEhgtrsfvvtZ/7zP/+zI6hSsKWhkZqjSYGpPuMuGIs6t0b9vWgBVnAIoerhe9/7nqVzb0lba621bIitHqBaVF9qW9WuJ26uIgVewXm1kra3sADLXXsUFOkapWuju/app+3VV1/d8SOGeo5WCrAUyul6qPkRdY0NXg913dNcS1rU88xd/9z1XP/db6uac1E/oKhX5JVXXml22mmnRjXB2PstSoCl7yhdc9QbUG1R4WKwXqK+39Jqj67t6c2damv6gcctzz77rL3+6b5BbV7BpxaGEMZurqyIAAIZFyDAyngFUTwEyi6QtwDL3Vj6wwXdsEI95OhBeL311utUtW7oTNjDsUKsyy67zPYy0N81ZCHp+vUEWAoCwsIjPdT9/Oc/tyGdbpj9oVWu95SGiblhZUuXLu14ZbfCBQUJwWGBGpKjUEs34ZoPR8MmXdn98E/7Ukgmm8svv7zjwbZVn5m8BVgKJqst6lGSZJJ39UhRPasuFGBqUXvXQ7eGOW211Va2PsMCrSTtWUNqVe8KNtQD56ijjlouEHahgNbV0Ff1QnEBVqX2/MQTT9iwVb3HNDGzApPg8uabb9ohuOph44LkVrU1HbcoAZaCKNWJAmsFAwqv1YtPPVC1uABLQ1TVO04vBnCLgik9wOsHgkovBgi7fiRpb7rehgVYbr8qt4brBRdd+9SbdvDgwea4446zQ/nCAix9ZhR+afhf2MThuvZrmLX2paBe10RdZ92xZVXt+0SfD/0w0uolbwFWHC8Nl9b33tZbb93xHdaM9qih+2rvagP6ASlsXk3XvoNTBhBgxalV1kEAgTwIEGDloZYoIwIlFshTgOUCFT1w+Q8jbmJ3Pdz7by1atGiR7UWiYXVhQZFf/UnX1/b1BFjqaaJfcoO/8sZpki4wUBDgAiw3B5L+N244oodbhRQKQ4JvctSby3QDr/JlYULwsgdYahN64NbQp9tvv73TnGiuvahHlnpOuR6G+u9J27NrQzqOHuTC3lanYbvqhaLgwfWEdO2xUnt2D33VJhDX51q9g4I9G+J8FhqxTt4CrDgG6r2n3pwKjdziAqywMEbXAM2DpeCg0hDiF1980bY5DaVS/SkASnK9VTnCAqxp06bZt8y6t24OGjSoam/DsABLc3ppvkTNlaXyh72l1g3PVTncObrrud+71Znpu0TnXGnOwzh1keY6eQuw3DBOZ+CGJuvf1VtOPT7Dwvhmtceougn7vifAilLj7wggkBcBAqy81BTlRKCkAnkKsFzQoqoK+1Vcw0E0X4bmYnG9QrRupRvLSlWedP16A6xgAFWtGX744Yd2vi8FBRrGpd5omiMrOMltWKgV1bSDb3UM9rSaOXOmHarm5hrzJ3iP2m/af89bgKXzjxsi1mr18ccfm7/97W+2Laj9a1iTFj14qzdJsGeKPzdLpWPGaUPBnhBuGFW17YI9A/2H12A53INsFoKBogRYCqbVm0VBkIZ7rrPOOp2q3gVYYT2UXC9PXRPVYzCsd5+bk09zUam9682XxxxzjJ3TL277Dwuw1BbUhhUWadFwMg1v1NDZoUOH2sAseE0KC7DcfsN6lzmEsDA26geJSpPO1/o5rne7vAVYflvT0MH77rvP9rjSEjanmv57s9pjsD5UNg2/VXtWIPrAAw/Y662ud/TAqrflsj0CCGRRgAAri7VCmRBAoEMgTwGWm7w9qvr0wBYMYpIGUknXb2SApYe44BuwgueuYZKaZF3zdLgeWHHChzA/18lxHfYAACAASURBVNvBDSPUTbuGDunth8G5xqLsG/l3AqzquqozNweMwl71mtNEw0nbc9w25Acf1bZT0KaHUvWAjLMQYMVR+mwdF6ZUeltb1J6qBVhu31H70N/dkNi0AiztU0MANexRQwBdOOvKoh8q1Gtsww03tP+p1gAr2DanTJlih+QSYHWu8dO3OsaM6vfvXntx2oO/TtC50nBO+atOFVb6LycJtvU4x6+nPaqnq8IyDZ+/66677MtQ3KL7C7VxXWMJsOLUBOsggEDeBAiw8lZjlBeBkgnkJcByc5mol4neBhWcpyVYZa4HR3A+k6QP8EnX1/GjHnjC/h4VFGgyW010rRto9VrRfEM6d81do380Z5DekhXswRW1z0rN2w0X1N81jFC9KjR0SPNrac4sN4FyKz8eZQ2w1PY1LFYT8CuY1Ruxqi3+/CxJ23OcNhTsgaWAVfPGVNsuuH4WhgfGacd564HViAArOG+ZQoc4b9xL2t6CwUSl4FKBgq6Hjz/+uLnjjjvM9OnTbaiga6Ib9lxrgOV6YGnOOjdkNup6Tg+sOJ+gzutEBVhaW+vozY7q1am5r9Tm1l577Y4dNas9urf/qo0p0PzmN79pv3v1o9G6665re7tq7jMCrOTtINUt2o0xbanukZ0hgIA+Vu361mVBAAEEMiqQlwBLv74fcsgh9iay2nxMbj09aLmJoDXhtYYmKAiqNAeWhsupx5HeeKVhcxq6End9DVvUL8f+DW2wyt1bEoM3vFFBgdsmOBwsuE83v4tu8F0PLDdHiN7WWGn4jgIO9WjQmwXdG+SC84spkNCDhOaf8ecTa2UzLmuAFRx+F2c4p//wnbT9a/4s9cTT3EaV5sAKexto3PasCbP1soRWD0mNassEWMbOt6YgWyFq3OGASdubrp+PPvqoGT16dOw5pf75z3/acF9Blus1FRZguTap74NKc2C5oel6c60/B1alQI0AK+rTs/zf4wRY2kovGNGcjAoUda1Q+3NvJG1Gexw7dqw9rl5Uofn41C79a5V6BWp+SAKs5O2ALRBAIPsCBFjZryNKiECpBfIQYAXDlagH+OBbp4LrujAo7C2EekuX5sxSMKb19NahpOs/8sgjduLssLlWgq+vjxtgRd3sB9+eFex5EezpEvYWQlcWBXZXXHGFfSOZW/RQpvJrEl3Ni3XvvffGfmhtxoeorAGWbN3bN/v37297xOnNlGGL2r8mSb/22ms7veggSXvWsMO4byFU7wQXKEcFWC5c1pAvv2eFzsW1eT24qmfhqFGjmtGsKh6DAMvY64B6xKjnX9j1RHi69ukHAl1L9MY/Da9K0t50vfUDocWLF9ueVbNmzbLtOXidCrYV/SBRLcBK8hbC4LWbHlidPxbNGELojhj8btNLBy655BIzcOBA++dmtMcBAwbY64+WsNC20vc5k7i39HLNwRFAIEUBAqwUMdkVAgikL5CHAMsNb5s3b95yoUuYiJsrKzi8ZP78+baHlOa10AORe0ub5g3ScIAzzzzTzuHyq1/9yqy55pom6fru4V3DUX7+85+b4cOH219t9QClIVMKBLTEDbB0E69gQA+NY8aMsfMHaV4Q9/A2depU+zf9Iu0PHZo7d64NobQo7FBZunTpYm/+9cCnt5DpV+Uzzjij01BM16vm+eeft+tuv/32Ha+VT7/lJd9jmQMstSMFCZqPTO1Ak2Srt6AmslbdKvzR8Br9XQ/0mh9I9dyrVy8LnbQ963Oit6xp2JbeKKe3guntcmqXeoGAAgv1XFEbdL34ogKs4PAgtT/NdaPhOK5Nq23q86e3jyngcn9L3lLS2YIA6zNHhUtqb1rUM2XXXXftaAvqLaPrqXqr6Hqiodu67iVtb2E9mtx1XIGqrs9u8nm1wYceesgcf/zx5otf/GJHWwnrgaUyq2y6HuoNhLqOuuth8Nqv9dSLVYGsFgKszp+hZgZYOrKmAlAPuzvvvNPstdde9trXo0ePprRHXU/1Q5cmldf1TT2yXA8w3YsoUFOw5X+fE2Clc91lLwgg0HoBAqzW1wElQACBKgJ5CLDc2wXVI0ND2lZfffWqdeqGhKjHh+tRpQ3UU0APYHrQ3mCDDYx+3XVzZim80nABvardLUnWVy8x3djqRluL5inSPF3qTaK3c+2yyy72ZjhugKV96OHwuOOOs5MXK7RQGbVon+o1Nm7cOPtWJE3krpCsX79+9u96wNObuxQyaA4P99Y3hV06d72NTMMlNY+Wv7ieE/rvQbssfIjKHGDJX3WpNqSQqtoyYsQIGyr49ZukPasN6eFRoYTajf950ZxoGmao4V/u4S4qwFKZFYhpeK7mMdI+NCRYwdgLL7zQcRyd4+DBg1ve5AiwPqsC/3ri2oJ6ojz22GN2HQ1HVuCgt17Wcv0MC7AUCKj9/e53v+u4pirEcNdsXb+Db6urFGDpWqlh07q+a3ijfz3UtVVB/2677dYxVIwAq/PHr9kBlo7ugkf9/2BQ3uj2qP27yeTVXvz2rn9XiHvdddfZHwrUBrt161bxZRnVXpLQ8oscBUAAAQRCBAiwaBYIIJBpgawHWMGhdHHnYwrOGaTeSwpr3IPVq6++at9qdfPNN3cEWQrGNHzEf728Ki7J+npQckPz9ECmByPd4KpXwmuvvbbcHC9xHvjVk0HDdxQmuCBhhx12MPvuu68NKGSi3ip+2KSbcIVbGkrmttWDm3qe7b333qZnz56h7dK9plw9d9x8MFlpwGUPsFQP6jXyt7/9zQaUep27CxD0MD9kyBDbK0vhj0KhsCVJe9b2an/qCaO5hp588kkb+u600052njj1lArODROnPWuf+kzfc8895oYbbrC9e1yooIdC7df1Gmt1uyPA+ncN6HqiHwauuuoq2xZU17q+DRs2zGiOPrU59Vzxl7jtrdKcUup5qLkIFSio559CXAUIugZqTsRgL71KAZYL4XRtU5u7//77O679+mFBbc7v7UeA1foAS72AFTpqLkt/QvdGt0ddZxX467tXw7d1jdL1VfcK6j2qsmluLl3LLrroIju5Oz2wWn3F5vgIIJCWQHkCLN4EkVabYT8INFUg6wFWUzE4mB1iqV41GhamITqa2DgrS14CrKx4UY76BPISYNV3lmxdBIHT/3S+mfrijIadSho9sBpWOHaMAAIIIJCqQHkCrFTZ2BkCCDRLgACrWdLZP45+1VZPLk1oX+ltja08CwKsVuqX79gEWOWr87yeMQFWXmuOciOAAALZEyDAyl6dUCIEEAgINDrA0qGmn7Iq5hkVUGiloY+ax0iTv2t+Ig3RCU6am5WiE2BlpSbKUQ4CrHLUcxHOkgCrCLXIOSCAAALZECDAykY9UAoEEKgicPy1H5u5Ly1tiNEOX13BnLJ7t4bsm53WLxCcY0x70xxHmnRW831kbVn66nzz9oF7NqxYPU78b7PyyF0btn92nDOBj182S2Zt0LBCd9noItNlncMatn92XB6BO168z5zxpwsbdsK3jLrArLva2g3bPztGAAEEEMiOAAFWduqCkiCAQAWBtz5oNxfdvdi8+KYms0tv+eo6Xc2xI1c0K3ZtS2+n7ClVAfXA0ivBFVrpjXCamHb77bfvNDl3qgesc2eLH3nQLLr2CtO+6KM69/Tvzds//dR032UP033v/VLbJzsqhkD7W3eZZS/+zJhP30vvhJZ9bNr6jDdd+p2Y3j7ZU+kFJs27zdzy97vNil1WSM1i1RW6m0M22dMM6/Pvt/OmtnN2hAACCCCQSQECrExWC4VCAAEEEEAAAQQQQAABBBBAAAEEEHACBFi0BQQQQAABBBBAAAEEEEAAAQQQQACBTAsQYGW6eigcAggggAACCJRGQKOkGdGci+qmqnJRTRQSAQQQQKBgAgRYBatQTgcBBBBAAAEEEECg5AIkbCVvAJw+AgggUEwBAqxi1itnhQACCCCAAAIIIIAAAggggAACCBRGgACrMFXJiSCAAAIIIIAAAggggAACCCCAAALFFCDAKma9lvus6DZf7vrn7BFAAAEEEEAAAQQQQAABBAonQIBVuCrlhBBAAAEEEEAAAQQQQAABBBBAAIFiCRBgFas+ORsEEEAAAQQQQAABBBBAAAEEEECgcAIEWIWrUk4IAQQQQAABBBBAAAEEEEAAAQQQKJYAAVax6pOzQQABBBBAAAEEEEAAAQQQQAABBAonQIBVuCrlhBBAAAEEEEAAAQQQQAABBBBAAIFiCRBgFas+ORsEEEAAAQQQQAABBBBAAAEEEECgcAIEWIWrUk4IAQQQQAABBBBAAAEEEEAAAQQQKJYAAVax6pOzQQABBBBAAAEEEEAAAQQQQAABBAonQIBVuCrlhBBAAAEEEEAAAQQQQAABBBBAAIFiCRBgFas+ORsEEEAAAQQQQAABBBBAAAEEEECgcAIEWIWrUk4IAQQQQAABBBBAAAEEEEAAAQQQKJYAAVax6pOzQQABBBBAAAEEEEAAAQQQQAABBAonQIBVuCrlhBBAAAEEEEAAAQQQQAABBBBAAIFiCRBgFas+ORsEEEAAAQQQQAABBBBAAAEEEECgcAIEWIWrUk4IAQQQQAABBBBAAAEEEMiaQLsxpi1rhaI8CCCQIwECrBxVFkVFAAEEEEAAAQQQQAABBBBAAAEEyihAgFXGWuecEUAAAQQQQAABBBBAAAEEEEAAgRwJEGDlqLIoKgIIIIBAGgIMYUhDkX0ggAACCCCAAAIIINBMAQKsZmpzLAQQQAABBBBAAAEEEEAAAQQQQACBxAIEWInJ2AABBBBAAAEEEEAAgawL0Ns06zVE+RBAAAEEkgnkKsBasmSJOe2008yjjz5qrr32WtOrV69kZ2uMWbBggbn88svN5MmTzZw5c8yAAQPMqFGjzLHHHmv69esXur9ly5aZGTNmmAkTJpjp06ebTz/91AwdOtSMHz/e7LLLLqZbt26Jy8EGCCCAAAIIIIAAAsUSIDIqVn1yNggggAAC2RLITYCl8Oriiy82p5xyitl6661rCrBeeeUVc8QRR5ipU6eavn37mv79+5v58+ebefPmmYEDB9qAasiQIZ1qaOnSpWbSpEk24Fq4cKEZPHiwWXHFFc3jjz9u/13l0T+rrrpqtmqW0iCAAAIIIIAAAggggAACCCCAAAIFEchFgKWg6KyzzjJnn322ZR85cmTiAGvRokXmpJNOMhdccIE5/fTT7f/v3r27Wbx4sQ2ojjvuODNixAgzceJE07t3747qnTVrltlvv/3M2muvbS688EIzaNAg+7fnn3/e/OAHPzAzZ840l1xyiRk3blxBmgSngQACCCCAAAIIIIAAAggggAACCGRLINMBlnpd3XfffebUU081f/7zn81aa61lFETV0gNr9uzZZvTo0bYHlYYQ9uzZs6Mm3NBEhWQ333yz2WOPPezfFG4p6DrvvPM6/Xe34RNPPGGDq4022mi5fWarmikNAggggAACCCCAAAIIIIAAAgggkF+BTAdY6v00bNgw06NHD3PUUUeZ3Xbbzf6vekMlnQPrnHPOMccff7wdhnj44YcvV2PqSbXtttvanljq6bXSSiuZl156yey77772/+t4ffr06bTdRx99ZH74wx/aIYm33357R++s/DYHSo4AAggggAACCCCAAAIIIIAAAghkTyDTAZZ6Xf3xj380Bx54oFlvvfXsXFVjx45NHGB9/PHH5oQTTjAXXXSRnYx9m222Wa4mwvb9yCOPmJ122ske89xzzzWrrLLKctudeeaZ5sc//rEdhqihhiwIIIAAAggggAACCCCAAAIIIIAAAukKZDrA8k+11gDrvffes28MVI+uSj2l3nrrLRtAvfbaa+bGG2+0bye87bbbzO67796pV5ZfJvXM2n///c1PfvIT89///d/p1g57QwABBBBAAAEEEEAAAQQQQAABBBAwpQiwwsIpv+7D1okTTsVZh3aGAAIIIIAAAggggAACCCCAAAIIIFC7AAHWv+wIsGpvRGyJAAIIIIAAAggggAACCCCAAAIINFKAAKuFAdajjz7ayLpl3wgggAACCCCAAAIIIIAAAggggEBigUGDBiXeptEblCLAWrhwoTn66KONJmW/6aabzGabbbacq+uB9eabb5obbrjBbLjhhubuu++2k7j/6Ec/MpqsvWvXrstt54YQnnXWWXa9JAsBVhIt1kUgjwJtxpj25AWvcbPkB2ILBBBAAAEEEEAAAQQQQGB5AQKsOltFrZO48xbCOuHZHAEEEEAAAQQQQAABBAonsOS5eeajG642n86eZZZ99FGmz69ttR5mpS0Hm1XGHWBW2HBApstK4RBAoDECpeiBJbpzzjnHHH/88ebiiy82hx9++HKarrfVcccdZ84++2yz0kormZdeesnsu+++9v+rp1WfPn06bed6dt1zzz0V327YmGpjrwgggAACCCCAAAIIIIBA7QIKr9794XjTvnhx7TtpwZZt3bqZz597GSFWC+w5JAKtFihNgDV79mwzevRoM3jwYHP55Zebnj17dtgvWbLEnHbaaUbDAG+++Wazxx572L8tXrzYnHTSSea8887r9N/dhk888YQZN26c2WijjZbbZ6srluMjgAACCDRJQKNENeyTBQEEEEAAgRwJvP/TU83i++/OUYn/XdRu2+1oVv+vn+Wy7BQaAQRqFyhNgLVo0SIbRl1wwQU2rDrxxBPNqquuakOqSZMmGfW8Gj58uLn00kvNWmut1SE6a9Yss99++5m1117bnH/++WbLLbc0bW1t5vnnnzc/+MEPzNSpU+32WocFAQQQQAABBBBAAAEEEMiDwFu7bZf5YYOVHDWccM0p0/PATBkRQCBFgcIFWAqchg0bZkaOHGmH/fXq1auD69lnnzXHHHOMmTZtmunbt6/p37+/mT9/vtHcWgMHDjQTJkwwQ4YM6cSr3lkadnjKKacYDRlUD64VV1zRPP744/bf9d/1j8IwFgQQQAABBBBAAAEEEEAgDwILRnwzD8WsWMbe98zOdfkpPAIIJBcoVYAlngULFtjhfpMnTzZz5swxAwYMMKNGjTLHHnus6devX6jgsmXLzIwZM2zANX36dPPpp5+aoUOHmvHjx5tddtnFdOvWLbk8WyCAAAIIIIAAAggggAACLRIgwGoRPIdFAIGaBXIVYNV8lmyIAAIIIIAAAggggAACCCDQIUCARWNAAIG8CRBg5a3GKC8CCCCAAAIIIIAAAgggUKcAAVadgGyOAAJNFyDAajo5B0QAAQQQQKAcArygsRz1zFkigEA+BQiw8llvlBqBMgsQYJW59jl3BBBAAAEEEEAAAQQQKKUAAVYpq52TRiDXAgRYua4+Co8AAggggAACCCCAAAIIJBcgwEpuxhYIINBaAQKs1vpzdAQQQAABBBBAAAEEEECg6QIEWE0n54AIIFCnAAFWnYBsjgACCCCAAAIIIIAAAgjkTYAAK281RnkRQIAAizaAAAIIIIAAAggggAACCJRMgACrZBXO6SJQAAECrAJUIqeAAAIIIIAAAggggAACCCQRIMBKosW6CCCQBQECrCzUAmVAAAEEEEAAAQQQQACBugTajTFtde2hXBsTYJWrvjlbBIogQIBVhFrkHBBAAAEEEEAAAQQQQACBBAIEWAmwCrIqIW9BKrLEp0GAVeLK59QRQAABBBBAAAEEEECgnAIEWOWsd84agfoFWheFEmDVX3vsAQEEEEAAAQRSFmjdrVHKJ8LuEEAAgYwKEGBltGIoFgIIVBQgwKJxIIAAAggggAACCCCAAAIlEyDAKlmFc7oIFECAAKsAlcgpIIAAAggggAACCCCAAAJJBAiwkmixLgIIZEGAACsLtUAZEEAAAQQQQAABBBBAAIEmChBgNRGbQyGAQCoCBFipMLITBBBAAAEEEEAAgVABJjSjYSCQSQECrExWC4VCAIEqAgRYNA8EEEAAAQQQQAABBBBAoGQCBFglq3BOF4ECCBBgFaASOQUEEEAAAQQQQAABBBBAIIkAAVYSLdZFAIEsCBBgZaEWKAMCCCCAAAIIIIAAAggg0EQBAqwmYnMoBBBIRYAAKxVGdoIAAggggAACCCCAAAII5EeAACs/dUVJEUDgMwECLFoCAggggAACCCCAAAIIINBigWa/74AAq8UVzuERQCCxAAFWYjI2QAABBBBAAAEEEEAAAQTyLUCAle/6o/QIlFGAAKuMtc45I4AAAggggAACCORToNnddPKpRKljCBBgxUBiFQQQyJQAAVamqoPCIIAAAggggAACCCCAAAKNFyDAarwxR0AAgXQFCLDS9WRvCCCAAAIIIIAAAggggEDmBQiwMl9FFBABBDwBAiyaBAIIIIAAAggggAACCBRbgKGXy9UvAVaxmzxnh0ARBQiwilirnBMCCCCAAAIIIIAAAgggUEWAAIvmgQACeRMgwMpbjVFeBBBAAAEEEEAAAQQQQKBOAQKsOgHZHAEEmi5AgNV0cg6IAAIIIIAAAggggAACCLRWgACrtf4cHQEEkgsQYCU3YwsEEEAAAQQQQAABBBBAINcCBFi5rj4Kj0ApBQiwSlntnDQCCCCAQHwBZv6Nb8WaCCCAAAJ5ESDAyktNUU4EEHACBFi0BQQQQAABBBBAAAEEEECgZAIEWCWrcE4XgQIIEGAVoBI5BQQQQAABBBBAAAEEEEAgiQABVhIt1kUAgSwIEGBloRYoAwIIIIAAAggggAACCCDQRAECrCZicygEEEhFgAArFUZ2ggACaQow41CamuwLAQQQQAABBBBYXoAAi1aBAAJ5EyDAyluNUV4EEEAAAQQQQAABBBBAoE4BAqw6AdkcAQSaLkCA1XRyDogAAggggAACCCCAAAIItFaAAKu1/hwdAQSSCxBgJTcrzhaM0ypOXXImCCCAAAIIIIAAAggkECDASoDFqgggkAkBAqxMVAOFQAABBBBAAAEEEEAAAQSaJ0CA1TxrjoQAAukIEGCl48heEEAAAQQQQAABBBBAAIHcCBBg5aaqKCgCCPxLgACLpoAAAggggAACCCCAAAIIlEyAAKtkFc7pIlAAAQKsAlQip4AAAggggAACCCCAAAIIJBEgwEqixboIIJAFAQKsLNQCZUAAAQQQQAABBBBAAAEEmihAgNVEbA6FAAKpCBBgpcLIThBAAAEEEEAAAQQQQACB/AgQYOWnrigpAgh8JkCARUtAAAEEEEAAAQQQQAABBEomQIBVsgrndBEogAABVgEqkVNAAAEEEEAAAQQQQAABBJIIEGAl0WJdBBDIggABVhZqgTIggAACCCCAAAIIIIAAAk0UKEWA1a4xR01E5VAIINBQAQKshvKycwQQQAABBBBAAAEEEEAgewKlCLCyx06JEECgDgECrDrw2BQBBBBAAAEEEEAAAQQQyKMAAVYea40yI1BuAQKsctc/Z48AAggggAACCCCAAAIlFCDAKmGlc8oI5FyAACvnFUjxEUAAAQQQQAABBBBAAIGkAgRYScVYHwEEWi1AgNXqGuD4CCCAAAIIIIAAAggggECTBQiwmgzO4RBAoG4BAqy6CdkBAggggAACCCCAAAIIIJAvAQKsfNUXpUUAAWMIsGgFCCCAAAIIIIAAAggggEDJBAiwSlbhnC4CBRAgwCpAJXIKCCCAAAIIIIAAAggggEASAQKsJFqsiwACWRAgwMpCLVAGBBBAAAEEEEAAAQQQQKCJAgRYTcTmUAggkIoAAVYqjOwEAQQQQAABBBBAAAEEEMiPAAFWfuqKkiKAwGcCBFi0BAQQQAABBBBAoFUC7boba9XBOS4CCJRZgACrzLXPuSOQTwECrHzWG6VGAAEEEEAAAQQQQAABBGoWIMCqmY4NEUCgRQIEWC2C57AIIIAAAggggAACCCCAQKsECLBaJc9xEUCgVgECLCtH//1aGxDbIYAAAggggAACCCCAQP4EkgRYGumsJ6YsLb3vmZ2l4lAWBBBoggABVhOQOQQCCCCAAAIIIIAAAgggkCWBJAFWlsrtykKAlcVaoUwINFaAAKuxvuwdAQQQQAABBBBAAAEEEMicAAFW5qqEAiGAQIQAARZNBAEEEEAAAQQQQAABBBAomQABVskqnNNFoAACBFgFqEROAQEEEEAAAQQQQAABBBBIIkCAlUSLdRFAIAsCBFhZqAXKgAACCCCAAAIIIIAAAgg0UYAAq4nYHAoBBFIRIMBKhZGdIIAAAggggAACCCCAAAL5ESDAyk9dUVIEEPhMgACLloAAAggggAACCCCAAAIIlEyAAKtkFc7pIlAAAQKsAlQip1BEgXbly0U8Mc4JAQQQQAABBBBAIAMCBFgZqASKgAACiQQIsBJxsTICCCCAAAIIIIAAAgggkH8BAqz81yFngEDZBAiwylbjnC8CCCCAAAIIIIAAAgiUXoAAq/RNAAAEcidAgJW7KqPACCCAAAIIIIAAAggggEB9AgRY9fmxNQIINF+AAKv55hwRAQQQQAABBBBAAAEEEGipAAFWS/k5OAII1CBAgFUDGpsggAACCCCAAAIIIIAAAnkWIMDKc+1RdgTKKUCAVc5656wRQAABBBBAAAEEEECgxAIEWCWufE4dgZwKEGDltOIoNgIIIIAAAggggAACCCBQqwABVq1ybIcAAq0SIMBqlTzHRQABBBBAAAEEEEAAAQRaJECA1SJ4DosAAjULEGDVTMeGCCCAAAIIIIAAAggggEA+BQiw8llvlBqBMgsQYJW59jl3BBBAAAEEEEAAAQQQKKUAAVYpq52TRiDXAgRYua4+Co8AAgggkJ5AuzGmLb3dsScEEEAAAQQyLECAleHKoWgIIBAqQIBFw0AAAQQQQAABBBBAAAEESiZAgFWyCud0ESiAAAFWASqRU0AAAQQQQAABBBBAAAEEkggQYCXRYl0EEMiCAAFWFmqBMiCAAAIIIIAAAggggAACTRQgwGoiNodCAIFUBAiwUmFkJwgggAACCCCAAAIIIIBAfgQIsPJTERDJGgAAIABJREFUV5QUAQQ+EyDAStoSmOM3qRjrI4AAAggggAACCCCAQMYECLAyViEUBwEEIgUIsCKJWAEBBBBAAAEEEEAAAQQQKJZA/QFWa3/Z733P7GJVCGeDAAKRAgRYkUSsgAACCCCAAAIIIIAAAggUS6D+AKu1HgRYrfXn6Ai0QoAAqxXqHBMBBBBAAAEEEEAAAQQQaKEAAVYL8Tk0AgjUJECAVRMbGyGAAAIIIIAAAggggAAC+RUgwMpv3VFyBMoqQIBV1prnvBFAAAEEEEAAAQQQQKC0AgRYpa16ThyB3AoQYOW26ig4AggggAACCCCAAAIIIFCbAAFWbW5shQACrRMgwGqdPUdGYDmB1r7LhQpBAAEEEEAAAQQQKIsAAVZZaprzRKA4AgRYxalLzqTkAoRfJW8AnD4CCCCAAAIIIJBAgAArARarIoBAJgQyH2AtWLDAXH755Wby5Mlmzpw5ZsCAAWbUqFHm2GOPNf369YuFuGjRInPccceZiRMnxlr/wQcfNEOHDu1YV9sdccQRFbcdOXKkufbaa02vXr1i7Z+VyilAwFTOeuesEUAAAQQQQACBLAoQYGWxVigTAghUE8h0gPXKK6/Y4Gjq1Kmmb9++pn///mb+/Plm3rx5ZuDAgWbChAlmyJAhkTWcJMDScaZMmWI233xzu99PPvnEnHzyyeacc84hwIqUZgUEEEAAAQQQQAABBBDIgwABVh5qiTIigEBQILMBlkKnk046yVxwwQXm9NNPt/+/e/fuZvHixWbSpEm2R9WIESNsr6revXvXVasffvih3f8111xjLr74YrPPPvuYtrY2u8/33nvPjB8/3vzjH/8w1113nQ3SWBBAAAEEEEAAAQQQQACBPAsQYOW59ig7AuUUyGyANXv2bDN69GgzePBgO4SwZ8+eHTW0ZMkSc9ppp5mzzjrL3HzzzWaPPfaoufaWLl1qfvOb39gA64QTTjA/+9nPTLdu3Tr299xzz5lx48aZTTbZxFx44YWmR48eNR+LDRFAAAEEEEAAAQQQQACBLAgQYGWhFigDAggkEchsgKUhe8cff7ztEXX44Ycvd04zZ8402267re2JdfbZZ5uVVlopyXl3rDtr1iyz3377mfXXX9/2wFpnnXU67eeRRx4xO+20kznmmGPMmWeeabp27VrTcdgIAQQQQAABBBBAAAEEEMiKAAFWVmqCciCAQFyBTAZYH3/8se0NddFFF5kZM2aYbbbZZrnz0TxYY8eONWuvvXbNE6i///77djL4W2+91YZXu++++3LHufrqq82BBx5orrzySvOlL33JhmXTp0+3k8kfdNBB5tBDD617CGPcymI9BBBAAAEEEEAAAQQQQCANAQKsNBTZBwIINFMgkwGWm3dKvaNuv/12M2jQoOVM3nrrLdtz6rXXXjM33nijDZSSLrfccovZc889zQEHHGDOP/98s/rqq3faRXt7uznjjDPsP9ttt515+umn7XFWWGEFM3fuXPP222+brbbayg4tDCtj0vKwPgIIIIAAAggggAACCCDQDAECrGYocwwEEEhTIJMBVpxwKs461aDeeecd23vqnnvusT2wdthhh+VWX7hwoTn66KNt76xRo0aZ8847zw411KLtf/nLX9oeWfrbZZddZnuDsSCAAAIINFGg3Rjz2Ts3WBBAAAEEEEAggQABVgIsVkUAgUwIlDbAcr2vNAxQbzpcddVVl6uQBQsWmBNPPNG89NJLdjjjxhtv3GkdNwRRwwwVYCkQY0EAAQQQQAABBBBAAAEE0hJo1G81BFhp1RD7QQCBZgmUMsBatGiRnfx94sSJdb/F8NprrzX777+/Oeqoo8yvf/1rs/LKKzer7jgOAggggAACCCCAAAIIIFCTAAFWTWxsVINAo0LYGorCJjkXyGSA5Ybu6Q2AN910k9lss82WY3ZDCN98801zww03mA033DB2VTz11FNm7733Nj179jTXXXed6du3b+xt/RU1T9ewYcPsmxL15sTu3bvH3tejjz4ae11WRAABBBBAAAEEEEAAAQTSEljvP49Ma1ct2c/Lv5jQkuNyUATKIpDFeb4zGWA1+i2ErtfUj370I3PmmWearl27VmyDn3zyidE/q622Wug6M2fONNtuuy0BVlk+xZwnAggggAACCCCAAALNFtB8j+rGkuJCgJUiJrtCoIACBFgJKlW9mY4//nhz8cUX23DIX+6++26z00472aGAmkh9pZVWirV3hVEnn3yy7S31+9//3uy2224Vt7vtttvM7rvvbsaPH2/OPfdcs8oqqyy3roYhHnHEETYIO/XUU01bG7MJx6oIVkIAAQQQQAABBBBAAIGWCTCEsGX0HBgBBGoUyGQPLJ3L7NmzzejRo83gwYPN5Zdfbof7uWXJkiXmtNNOM2eddVbiOaw05PB73/ueefXVV83kyZPNRhttVJHODTXUChqm6A9lfO2112y4pV5Yld5kWGO9sBkCCCCAAAIIIIAAAggg0DCBsgZYzMfUsCbFjhFouEBmAyxNtH7SSSfZNwQqrNLbAPWmwMWLF5tJkybZnlfDhw83l156qVlrrbViQz3zzDNmzJgxpk+fPkZDCXv16lVx22BQNmrUKHPeeeeZ9ddf366v8Erlu+aaa8wxxxxjfvnLXyaa/yp2gVkRAQQQQAABBBBAAAEEEEhZoKwBVsqM7A4BBJookNkASwbPPvusDYemTZtmJ1rv37+/mT9/vpk3b54ZOHCgmTBhghkyZEgnLjep+siRI0MDqqSTri9YsMCccMIJNqjq0aOH2Xzzze3xHn/8caPJ5tWbS28f7N27dxOrjUMhgAACCCCAAAIIIIAAArULEGDVbseWCCDQGoFMB1giUYCkIYQa7jdnzhwzYMAAo95Qxx57rOnXr99yalEB1o033mjGjRtn4kzg7nauXl933HGHueyyy4z2r2Xo0KF2+OAuu+xiunXr1pra46gIIIAAAggggAACCCCAQA0CBFg1oLEJAgi0VCDzAVZLdTg4AggggAACCCCAAAIIIFBAAQKsAlYqp4RAwQUIsApewZweAggggAACCCCAAAIIIOALEGDRJhBAIG8CBFh5qzHKiwACCCCAAAIIIIAAAgjUKUCAVScgmyOAQNMFCLCaTs4BEUAAAQQQQAABBBBAAIHWChBgtdafoyOAQHIBAqzkZmyBAAIIIIAAAggggAACCORagAAr19VH4RHIpEC7MaatgSUjwGogLrtGAAEEEEAAAQQQQAABBLIoQIDVqlpp9CN+q86L4yLQeAECrMYbcwQEEEAAAQQQQAABBBBAIFMCBFiZqg4KgwACMQQIsGIgsQoCCCCAAAIIIIBAlgXo0ZDl2qFs2RQgwMpmvVAqBBCoLECARetAAAEEEEAAAQQQQAABBEomQIBVsgrndBEogAABVgEqkVNAAAEEEEAAAQQQQAABBJIIEGAl0WJdBBDIggABVhZqgTIggAACCCCAAAIIIIAAAk0UIMBqIjaHQgCBVAQIsFJhZCcIIIAAAggggAACCCCAQH4ECLDyU1eUFAEEPhMgwKIlIIAAAggggAACCCCAAAJFFajwjgMCrKJWOOeFQHEFCLCKW7ecGQIIIIAAAggggAACngBvbKRJfCZAgEVLQACBvAkQYOWtxigvAggggAACCCCAAAIIIFCnAAFWnYBsjgACTRcgwGo6OQdEAAEEEEAAAQQQyKoA/ZOyWjOUK20BAqy0RdkfAgg0WoAAq9HC7B8BBBBAAAEEEEAAAQQQyJgAAVbGKoTiIIBApAABViQRKyCAAAIIIIAAAggggAACxRIgwCpWfXI2CJRBgACrDLXMOSKAAAIIIIAAAggggAACAQECLJoDAgjkTYAAK281RnkRQAABBBBAAAEEEEAAgToFCLDqBGRzBBBougABVtPJOSACCCCAAAIIIIAAAggg0FoBAqzW+nN0BBBILkCAldyMLRBAAAEEEEAAAQQQQACBXAsQYOW6+ig8AqUUIMAqZbVz0ggggAACCCCAAAIIIFBmAQKsMtc+545APgUIsPJZb5QaAQQQQAABBBBAAAEEMiXQboxpy1SJqhWGACs3VUVBEUDgXwIEWDQFBBBAAAEEEEAAgUIJ5CtGKBQ9J5MjAQKsHFUWRUUAAStAgEVDQAABBBBAAAEEEEAAAQRKJkCAVbIK53QRKIAAAVaGKpFfCzNUGRQFAQQQQAABBBBAAIECCxBgFbhyOTUECipAgFXQiuW0EEAAAQQQQAABBBBAAIFKAgRYtA0EEMibAAFW3mqM8iKAAAIIIIAAAggggAACdQoQYNUJyOYIINB0AQKsppNzQAQQQAABBBBAAAEEEECgtQIEWK315+gIIJBcgAAruRlbIIAAAggggAACCCCAAAK5FiDAynX1UXgESilAgFXKauekEUAAAQQQQAABBBBAoMwCBFhlrn3OHYF8ChBg5bPeKDUCCCCAAAIIIIAAAgggULMAAVbNdGyIAAItEiDAahE8h0UAAQQQQAABBBAooEC7MaatgOfFKRVOoIgBVvvCx82yl35lzFt3mvYlC7NdZyt83rT12sl06XuiaeuxebbLSukQyIgAAVZGKoJiIIAAAggggAACCCCAAALNEihagKXwaulftjFm2aJmEaZznC7dTdctZxJipaPJXgouQIBV8Arm9BBAAAEEEEAAAQQQQAABX6BoAdbSJ/cz7a9PzmVFt31hjOm66bW5LDuFRqCZAgRYzdTmWAgggAACCCCAAAIIIIBABgQKF2DNWCP7wwYr1fsKnzcrbLsgA62CIiCQbQECrGzXD6VDAAEEEEAAAQQQaLkAE1u1vAooQOoCRQuwlkxfMXWjZu5whR0+bebhOBYCuRQgwMpltVFoBBBAAAEEEEAAAQQQQKB2AQKs2u0asSUBViNU2WfRBPIbYPFDWNHaIueDAAIZEeDympGKoBgIIIAAAgg0UIAAq4G4NeyaAKsGNDYpnUB+A6zSVRUnjAACCCCAAAIIIIAAAgikI0CAlY5jWnshwEpLkv0UWYAAq8i1y7khgAACCCCAAAIIIIBA/gUa0D2aACtbzYIAK1v1QWmyKUCAlc16oVQIIIAAAggggAACCCCAQMMECLAaRlvTjgmwamJjo5IJEGCVrMI5XQQQQAABBBBAAAEEEECAACtbbYAAK1v1QWmyKUCAlc16oVQIIFAGgQYMBygDG+eIAAIIIIAAAvULEGDVb5jmHgiw0tRswL64b28AavJdEmAlN2MLBBBAAAEEEEAAAQQQQCDXAgRY2ao+Aqxs1QelyaYAAVY264VSIYAAAggggAACCCCAAAINEyDAahhtTTsmwKqJjY1KJkCAVbIK53QRQAABBBBAAAEEEEAAAQKsbLUBAqxs1QelyaYAAVY264VSIYAAAggggAACCCCAAAINEyDAahhtTTsmwKqJjY1KJkCAVbIK53QRQAABBJiFkzaAAAIIIIAAAVa22gABVrbqg9JkU4AAK5v1QqkQQAABBBBAAAEEEEAAgYYJEGA1jLamHRNg1cTGRiUTIMAqWYVzuggggAACCCCAAAIIIIAAAVa22gABVrbqg9JkU4AAK5v1QqkQQAABBBBAAAEEEEAAgYYJEGA1jLamHRNg1cTGRiUTIMAqWYVzuggggAACCCCAAAIIIIAAAVa22gABVrbqg9JkU4AAK5v1QqkQQAABBBBAAAEEEEAAgYYJNC7Aas7LUnrfM7uTzZLpKzbMqhk7JsBqhjLHyLsAAVbea5DyI4AAAggggAACCCCAAAIJBRoXYCUsSI2rRwVYzYnRaix8yGYEWOlZsqfiChBgFbduOTMEEEAAAQQQQAABBBBAIFSg6AFW3qqdACtvNUZ5WyFAgNUKdY6JAAIIIFBCgbz9FlzCKuKUEUAAgRIJEGBlq7IJsLJVH5QmmwIEWNmsF0qFAAIIIIAAAggggAACCDRMgACrYbQ17ZgAqyY2NiqZAAFWySqc00UAAQQQQAABBBBAAAEECLCy1QYIsLJVH5QmmwIEWNmsF0qFAAIIIIAAAgggkAUBRv9moRYoQwMECLAagFrHLpsbYHFhq6Oq2LSFAgRYLcTn0AgggAACCCCAAAIIIIBAKwQIsFqhXvmYzQ2wsnXulAaBuAIpBVgkuHHBWQ8BBBBAAIEiCPDNX4Ra5BwQQKDMAgRY2ap9Aqxs1QelyaZASgFWNk+OUiGAAAIIIIAAAggggAACCCwvQICVrVbx/9k7E7C7qup+70BIhICCKQhoDfUPBbUltgwmDSVgGLSBEmOUyKCoqYBMAoIai6BopLaKhECYopVBSQShIFaBWEFTMYoMdSAPlIpQoA2oGE0Imf7P7+j5er773eEMe5+97rnvfR4eINl77XXete+6a//OPvsgYNmKB97YJICAZTMueAUBCEAAAhAYTAJs7RrMuHPVEIBA7QQQsGpH3nVABCxb8TDjDXXRsFAgYJmZmTgCAQhAAAIQgAAEIAABCECgHgIIWPVwzjsKAlZeUrQbZAIIWIMcfa4dAhCAAAQgAAEIQAACEBhIAghYtsKOgGUrHnhjkwACls244BUEIAABCEAAAhCAAAQgAIFgBBCwgqEtZRgBqxQ2Og0YAQSsAQs4lwsBCEAAAhCAAAQgAAEIQAABy9YcQMCyFQ+8sUkAActmXPAKAhCAAAQgAAEIQAACEIBAMAIIWMHQljKMgFUKG50GjAAC1oAFnMuFAAQgAAEIQAACEIAABCCAgDV8DsR+2RsCFt9JCPQmgIDVmxEtIAABCEAAAhCAAAQgAAEINIoAApatcCJg2YoH3tgkgIBlMy54BQEIQAACEIAABCAAAQhAIBgBBKxgaEsZtihgxd6VVgoknRpNAAGr0eHl4uwQIP3biQWeQAACEIAABCAAAQggYNmaAxYFLFuE8AYCziFgMQsgAAEIQAACEIAABCAAAQgMGAEELFsBR8CyFQ+8sUkAActmXPAKAhCAAAQgAAEIQAACEIBAMAIIWMHQljKMgFUKG50GjAAC1oAFnMuFAAQgAAEIQAACEIAABCCAgGVrDiBg2YoH3tgkgIBlMy54BQEIQAACEIAABCAAAQhAIBgBBKxgaEsZRsAqhY1OA0YAAWvAAs7lQgACEIAABCAAAQhAAAIQQMCyNQcQsGzFA29sEkDAshkXvIIABCAAAQhAAAIQgAAEIBCMAAJWMLSlDCNglcJGpwEjgIA1YAHnciEAAQhAAAIQgAAEIAABCCBg2ZoDCFi24oE3NgkgYNmMC15BAAIQgAAEIAABCEAAAhAIRgABKxjaUoYRsEph69ppk3NulH+zWIxIAAErInyGhgAEIFCcAD/FxZnRAwIQgAAEIACBVgIIWLbmBAKWrXjgjU0CCFg244JXEIAABCAAAQhAAAIQgAAEghFAwAqGtpRhBKxS2OJ04n5yHO7aUbdp06ZNjgBECwADQwACEIAABCAAAQhAAAIQqJsAAlbdxLuPh4BlKx54Y5MAO7BsxgWvIAABCEAAAhCAAAQgAAEIBCOAgBUMbSnDCFilsNFpwAggYA1YwLlcCEAAAhCAAAQgAAEIQAACCFi25gAClq144I1NAghYNuOCVxCAAAQgAAEIQAACEIAABIIRQMAKhraUYQSsUtjoNGAEELAGLOBcLgQgAAEIQAACEIAABCAAAQQsW3MAActWPPDGJgEELJtxwSsIQAACEIAABCAAAQhAAALBCCBgBUNbyjACVilsdBowAghYAxZwLhcCEIAABCAAAQhAAAIQgAAClq05gIBlKx54Y5MAApbNuOAVBCAAAQhAAAIQgEApApucc6NK9aQTBAaJAAKWrWgjYNmKB97YJICAZTMuBryi+DMQBFyAAAQgAAEIQAACEBgIAvXX3ghYtiYWApateOCNTQIIWDbjglcQgAAEIAABCEAAAhCAAASCEUDACoa2lGEErFLY6DRgBBCwBizgXC4EIAABCEAAAhCAAAQgAAEELFtzAAHLVjzwxiYB8wLWypUr3aJFi9ySJUvcfffd53bffXc3ffp0d8opp7hddtmlENUnn3zSHX300e7b3/52x37XXntt0ib72bhxo7vrrrvcwoUL3dKlS926devclClT3Jw5c9xhhx3mxo4dW8gPGkMAAhCAAAQgAAEIQAACEIhJAAErJv2RYyNg2YoH3tgkYFrAeuKJJ9wJJ5zgbrvtNjdhwgS32267uccff9ytWLHCTZw4MRGUJk+enJvsvffe6w4//HD31FNP5RawNmzY4CRqSTBbtWqVmzRpkttiiy3c/fffn/z/3Llzk3/GjRuX2w8aQgACEIAABCAAAQhAAAIQiEkAASsmfQQsW/Txpl8ImBWw1qxZ484++2y3YMECd9555yX/veWWW7q1a9cmgtLpp5/uDjroIHf55Ze77bffPhfvW265xR1xxBHus5/9bNI/z2fZsmXJjqwdd9zRXXLJJW6vvfZKuj366KPu1FNPdXfffbe74oor3OzZs/OYow0EINCBQP1HlxIKCEAAAhCAAAQgMLgEELBsxZ4dWLbigTc2CZgVsJYvX+5mzJiR7HjSI4TbbbfdEMH169e7c889182bN8/deOONbubMmbnofupTn0p2S91+++3u4IMP7tlHYpmEs/nz57cd58EHH0yEqz322GOEjz2N0wACEIAABCAAAQhAAAIQgEAkAghYkcB3GBYBy1Y88MYmAbMC1oUXXujOOOMMd9lll7njjz9+BD3tfJo6dWqyk+qCCy5wY8aM6Ur4+eefd2eeeaa744473A033OD23HPPnhF57LHH3FFHHZXYvu6669zOO+88rM/q1avdaaedljzieOuttw7tzuppmAYQgAAEIAABCEAAAhCAAAQiEkDAigi/zdAIWLbigTc2CZgUsFKx6dJLL00OT99///1H0NM5WEceeWTyaJ/EpfHjx3clrMPgJUbp87nPfc59+ctfTh5F/OUvf+mmTZuWPA4oQWyzzTYbsnPPPfe4Qw45JBnnoosucltttdWIMc4//3z30Y9+NLHVevi7zZDjFQQgAAEIQAACEIAABCAw6AQQsGzNAAQsW/HAG5sETApYzz33XPKGP50/1Wln07PPPpsIRk8//bRbvHhx8nbCbp+HHnrIve1tb0sEKj2CqH90MLyELb3dUJ/sWVv6//TMrG67vCSeHXPMMe7jH/+4O+ecc2xGGa8gAAEIQAACEIAABCAAgcoEHnl6o/vyPevc8kc2uNUv6ARPu5+txzq39/8b7d4+aQu3647/d5M+9RgBy1bsELBsxQNvbBIwKWDlEafytMki16OD2k21zTbbOD2eKNFp7NixbuPGjYlQprcMPvDAA+6aa65JhLFRo0YlO7t6iVN52tgMPV5BAAIQgAAEIAABCEAAAnkJSLw69ern3dr1toWr1usZO3qUm/+OF40QsRCw8ka+nnYIWPVwZpT+JjAwAtb111+fPAaog+F1Ftbo0aOHRU4Hu8+aNcu9/vWvd1dffbXbaaedggtY9957b3/PHufcKOdcf/2E9z1yLgACEIAABCAAAQhAIAKB6x58uXvgqW0ijFx9yIk7rXJH7/nfwwy98oMnVjcc0cIv/mHhsNEn/npSRG+qD/3AtvdUN4IFCHgksNdee3m05sfUwAhYvXA988wz7thjj012Y0nM0tsP8+yuytOm09hNELB6ceXvIQABCEAAAhCAAAQg0AQC59z5p27thpGP4vXDtW05eoP72LSHEbAMBwsBy3BwBtQ1BKycgV+1apU76aSTnA5R7/TGwPQRQglP2l2166675rTevtmaNWuSNxpefvnl7rvf/a6bMmVK8sZCPXb44Q9/2Omw9s0333xE51TAmjdvXtKODwQgAAEIQAACEIAABCDQPALT5v2ury9q6dxxw/znEUJb4eQRQlvxwBubBEzuwArxFsJNmza53/72t27LLbcc8figQrN69Wp32mmnuauuumpIwOIthDYnLV5BAAIQgAAEIAABCECgbgIIWHUT7z7e9ncuH9Zg/dItbDlY0BsErILAaD6QBEwKWIqEDlo/44wz3GWXXeaOP/74EcFJd0d1e0Ng2il9q6F2c911111u//33H2HvySefTA5v/9WvfjX0VsPHHnvMHXXUUW7MmDHJ44Q777zzsH7pTrE777yz49sSB3JWcdEQgAAEIDAQBJr0Nq6BCBgXCQEIVCKAgFUJn/fOCFjekWIQAuYJmBWwli9fnhy4rrOoFi1a5LbbbrshmOvXr3fnnnuu02N7N954o5s5c2ZX0Bs2bHAf+9jHkscA586dm/x39hB37c6SQKUzsI477ji3YMECN27cOLd27Vp39tlnu/nz57cd58EHH3SzZ892e+yxxwgfzUceByEAAQhAAAIVCDTtbVy5UOitJXp7CR8IQGAgCSBg2Qo7ApateOANBOogYFbA0plUEo8kJkmsOuuss4ZEpWuvvTY5r+rAAw90V155pdthhx16skrFpieeeCLZ3XXMMce4sWPHuo0bNybilOzrIyFL51+lHx3qrp1ZO+64o7v44ovd3nvv7UaNGuUeffRRd+qpp7rbbrvNyR+14QMBCEAAAhAYFALn37zWffun6/vycg94zWh3zoyxfek7TkMAAvEIIGDFY99u5EEQsFb86r/cFx+62S176kdu9bo1tgLQ4s02W4xzk3Z6nXvnHjPc7tv9iWlfca5/CZgVsIT04YcfdieffHLyVsAJEya43XbbzT3++ONuxYoVbuLEiW7hwoVu8uTJw+hLcNpvv/3coYcemohR48ePT/5eu6xuuumm5LFEPRq4++67Jzb137Kn//7sZz/r3vzmNycCVfrRbi89xqidW3pkUDvCtthiC3f//fcn/68/1z/ascUHAhCAAAQgMCgEDv+n1W71C9qS1H+frcc69y9n8rvdf5HDYwjEJYCAFZd/6+hNF7AkXr1n6Ufc2g0v2ALfw5uxm49xi6Z9EhHnL3xMAAAgAElEQVSrr6LWP86aFrCEceXKlcnjeUuWLHH33XdfIjxNnz7dnXLKKW6XXXYZQbqTgJU2/PnPf57spNLOKQlXveypn3Zp6ewsCWZLly5169atS3ZpzZkzxx122GHJTi4+EGgKgfWPrHCrr7/arVu+zG1cvdr0ZY3aehs3Zu9JbqvZ73Cjd93dtK84B4GmEWjaQq5p8eF6IAAB/wSalvd4C6H/OVLFYush7nO/d6G74xfLqpiM1vfgV05x8yafHm18Bm4uAfMCVnPRc2UQsEdA4tWvT5vjNq1da8+5Lh6NGjvWbXvRVYhYfRU1nO13Ak1byPV7PPAfAhAIT6BpeQ8BK/ycKTJCq4A19avHmn9ssNP16XHCb838YpHLp601AkbP/UTAsjZR8AcCEQn85hMfcWu/fUdED8oPPfaAg92L//6T5Q3QEwIQKESgaQu5QhdPYwhAYCAJNC3vIWDZmsatAtY+i2fZcrCgNz848oaCPWgOgd4EELB6M6IFBAaGwLN/e4D5xwY7BUOPE/7RzUsHJlZcKARiE2jaQi42z67jG70LapoZzkEgAIGm5T0ErACTpIJJBKwK8Og6MAQQsAYm1FwoBHoTaFoh0/uKaQEBCJQl0LSFXFkO9IMABAaHQNPyXtPqvvVLt+jryYiA1dfhw/maCCBg1QSaYSDQDwSaVsj0A3N8hEC/EmjaQq5f44DfEIBAfQSalveaVvchYNX3XcgzEo8Q5qFEm6IEELCKEqM9BFoIPPL0Rvfle9a55Y9sMP9Keb06fu//N9q9fdIWbtcdNxsRy6YVMkxWCEAgHIGmLeTCkcKyLwJ6pfwXH7rZLXvqR+YPNtYBxpN2ep175x4zeJW8rwlgwE7T8l7T6j4ELANfkowLCFi24tEUbxCwmhJJriMKAYlXp179vFu7XgeU9M9n7OhRbv47XjRCxGpaIdM/EcFTCPQfgaYt5PovAoPlscSr9yz9iFu74YW+uvCxm49xi6Z9EhGrr6LW2dmm5b2m1X0IWLa+aAhYtuLR0Zs+O2cTAatP5hVu2iRw/s1r3bd/ut6mcz28OuA1o905M8YOa9W0QkYXt2nV/W7jY//o3LP/6jatX2U7VqO3daPGH+I2m3CWG7XN62z7incDT6BpC7mBD6hxAHO/d6G74xfLjHvZ3r2DXznFzZt8el/6jtPDCTQt7zWt7kPAsvWNRcCyFY+meIOA1ZRIch1RCBz+T6vNPzbYCYweJ/yXM8c1WsCSeLXhh/s7t3FNlPlRetDNtnSb7303IlZpgHSsg0DTFnJ1MGOM8gSmfvVY848Ndro6PU74rZlfLH/x9DRDoGl5DwHLzNRKHOEQd1vx6OpNn+1a6iOyPV1FwOqJiAYQ6EyAQsbW7Nj+zuXDHNrw46Pdpv9ZYsvJnN6Metnb3OZ/dl3O1jSDQP0Empb/6ifIiEUI7LN4VpHm5tqyE8FcSEo51LS8h4BVahoE64SAFQwthhtEAAGrQcHkUuonQCFTP/NuI44QsO56qf3HBjtd0Oht3eipK20BxhsIZAg0Lf8RXNsEELBsx2dQvGta3kPAsjVzEbBsxQNvbBJAwLIZF7zqEwIUMrYC1SpgNe0sBFu08WbQCTQt/w16PK1fPwKW9QgNhn9Ny3sIWLbmLQKWrXjgjU0CCFg244JXfUKAQsZWoBCwbMUDb5pNoGn5r9nR6v+rQ8Dq/xg24QqalvcQsGzNSgQsW/HAG5sEELBsxgWv+oQAhYytQA2CgKVXyX/xoZvdsqd+ZP5AYx1cPGmn17l37jGDV8jb+qp48aZp+c8LFIwEI4CAFQwthgsQaFreQ8AqEPwamiJg1QCZIfqeAAJW34eQCwhBIO+LJShkQtAvb7PpApbEq/cs/Yhbu+GF8pAi9By7+Ri3aNonEbEisA85ZNPyX0hW2K5OAAGrOkMsVCfQtLyHgFV9TnS0MMo5pwVFgQ8CVgFYNB1YAghYAxt6LtwHAQoZHxT92Wi6gDX3exe6O36xzB+wGi0d/Mopbt7k02sckaFCE2ha/gvNC/vVCCBgVeNHbz8Empb3ELD8zAtfVhCwfJHETpMJIGA1ObpcW3ACFDLBERcaoOkC1tSvHmv+scFOAdPjhN+a+cVC8aSxbQJNy3+2aeMdAhZzwAKBpuU9BCwLs+r/fEDAshUPvLFJAAHLZlzwqk8IUMjYClTTBSwWcLbm26B707T818R4blp1v9v42D869+y/uk3rV9m+xNHbulHjD3GbTTjLjdrmdSN8Jf/ZDt+geNe0vIeAZWvmImDZigfe2CSAgGUzLnjVJwQoZGwFCgHLVjxavfnBkTfYdhDvChFoWv4rdPF90Fji1YYf7u/cxjV94G3Gxc22dJvvffcIEQsBq7/C2FRvm5b3ELBszVQELFvxwBubBBCwbMYFr/qEAIWMrUAhYNmKBwKW7XhU9a5p+a8qD2v9N/z4aLfpf5ZYcyuXP6Ne9ja3+Z9dN6wtAlYudDQKTKBpeQ8BK/CEKWgeAasgMJoPJAEErIEMOxftiwCFjC+SfuwgYPnhGMoKO7BCkY1jt2n5Lw7FcKNuuOul9h8b7HT5o7d1o6euRMAKNz2wXJJA0/IeAlbJiRCoGwJWILCYbRQBBKxGhZOLqZsAhUzdxLuPh4BlKx6t3iBg2Y5PUe+alv+KXr/19uuXbmHdxa7+sZDr6/A11vmm5T0ELFtTlbxnKx54Y5MAApbNuOBVnxCgkLEVKAQsW/FAwLIdj6reNS3/VeVhrT8Clq2IIODbikdZb5qW9xCwys6EMP0QsMJwxWqzCCBgNSueXE3NBChkagbeYzgELFvxQMCyHY+q3jUt/1XlYa0/ApatiCBg2YpHWW+alvcQsMrOhDD9ELDCcMVqswggYDUrnlxNzQQoZGoGjoBlC3hBb1jAFQRmvHnT8p9x3IXdQ8AqjCxoB/JfULy1GW9a3kPAqm3q5BoIASsXJhoNOAEErAGfAFx+NQIUMtX4+e7NDizfRP3aYwHnl2dsa03Lf7F5+h4fAcs30Wr2yH/V+Fnp3bS8h4BlZWb93g8ELFvxwBubBBCwbMYFr/qEAIWMrUAhYNmKR6s3LOBsx6eod03Lf0Wv33p7BCxbESL/2YpHWW+alvcQsMrOhDD9ELDCcMVqswggYDUrnlxNzQQoZGoG3mM4BCxb8UDAsh2Pqt41Lf+Jx/pHVrjV11/t1i1f5jauXl0VUdD+o7bexo3Ze5LbavY73Ohddx8xFgJWUPyFjSNgFUZmskPT8h4Clq1p1ipg7bt4lttky8VC3pD3CuGicU4CCFg5QdEMAu0IUMjYmhcIWLbigYBlOx5VvWta/pN49evT5rhNa9dWRVNr/1Fjx7ptL7pqhIiFgFVrGHoOxkKuJ6K+aNC0vIeAZWvasQPLVjzwxiYBBCybccGrPiFAIWMrUAhYtuKBgGU7HlW9a1r++80nPuLWfvuOqlii9B97wMHuxX//yWFjI2BFCUXHQRGwbMWjrDdNy3sIWGVnQph+CFhhuGK1WQQQsJoVT66mZgIUMjUD7zEcApateCBg2Y5HVe+alv+e/dsDzD822Clmepzwj25eioBVdVIH7I+AFRBujaablvcQsGqcPDmGQsDKAYkmA08AAWvgpwAAqhCgkKlCz39fBCz/TH1aZAHnk2Z8W+S/+DHIekD+sxUPBHzb8SjrHXmvLLkw/ch7Ybj6skrd54skdrIEELCYDxCoQIBCpgK8nF1HOZf7AEsKmZxQIzWjkIkEPtCw5L9AYEuaJf+VBFdTN/JfTaADD0PeCwy4oHnyXkFgNTcn79UMfECGQ8AakEBzmWEIUMiE4VrWKoVMWXL19KOQqYdzXaOQ/+oinW8c8l8+TrFakf9ikfc7LnnPL8+q1sh7VQmG7U/eC8t3UK0jYA1q5LluLwQoZLxg9GaEQsYbyiCGKGSCYI1mlPwXDX3bgcl/tuLR6g35z3Z88npH3stLqp525L16OJcdhbxXlhz9uhFAwGJ+QKACAQqZCvACdKWQCQDVo0kKGY8wDZgi/xkIQsYF8p+teCBg2Y5HWe/Ie2XJhelH3gvD1ZfVfqn7NjnndGQJn/4ggIDVH3HCS6MEKGRsBYZCxlY8WMDZjkdV78h/VQn67U/+88vTt7V+Wcj5vu6m2SPv2Yooec9WPKj7bMejKd4hYDUlklxHFAIUMlGwdxyUQsZWPChkbMejqnfkv6oE/fYn//nl6dsaApZvonHskfficO80KnnPVjyo+2zHoyneIWA1JZJcRxQCFDJRsCNg2cKe2xsWcLlR9UVD8p+tMLGQsxUPFnK241HWO/JeWXJh+pH3wnD1ZZW6zxdJ7GQJIGAxHzoQ4GngPFODQiYPpfraUMjUx7rMSBQyZajZ7UP+sxUb8p+teCBg2Y5HWe/Ie2XJhelH3gvD1ZdV6j5fJLGDgMUcgIAnAhQynkB6MkMh4wlkIDMUMoHARjJL/osEvsOw5D9b8UDAsh2Pst6R98qSC9OPvBeGqy+r1H2+SGIHAYs5AAFPBChkPIH0ZIZCxhPIQGYoZAKBjWSW/BcJPAKWLfA5vSH/5QRlvBl5z1aAqPtsxQPh3nY8muIdjxA2JZJcRxQCFDJRsHcclELGVjwoZGzHo6p35L+qBP32J//55enbGgKWb6Jx7JH34nDvNCp5z1Y8qPtsx6Mp3iFgNSWSXEcUAhQyUbAjYNnCntsbFnC5UfVFQ/KfrTCxkLMVDxZytuNR1jvyXllyYfqR98Jw9WWVus8XSexkCSBgMR8gUIEAhUwFeAG6UsgEgOrRJIWMR5gGTJH/DAQh4wL5z1Y8ELBsx6Osd+S9suTC9CPvheHqyyp1ny+S2EHAYg5AwBMBChlPID2ZoZDxBDKQGQqZQGAjmSX/RQLfYVjyn614IGDZjkdZ78h7ZcmF6UfeC8PVl1XqPl8ksYOAxRyAgCcCFDKeQHoyQyHjCWQgMxQygcBGMkv+iwQeAcsW+JzekP9ygjLejLxnK0DUfbbigXBvOx5N8Y5HCJsSSa4jCgEKmSjYOw5KIWMrHhQytuNR1TvyX1WCfvuT//zy9G0NAcs30Tj2yHtxuHcalbxnKx7Ufbbj0RTvELCaEkmuIwoBCpko2BGwbGHP7Q0LuNyo+qIh+c9WmFjI2YoHCznb8SjrHXmvLLkw/ch7Ybj6skrd54skdrIEELCYDxCoQIBCpgK8AF0pZAJA9WiSQsYjTAOmyH8GgpBxgfxnKx4IWLbjUdY78l5ZcmH6kffCcPVllbrPF0nsIGAxByDgiQCFjCeQnsxQyHgCGcgMhUwgsJHMkv8ige8wLPnPVjwQsGzHo6x35L2y5ML0I++F4erLKnWfL5LYQcBiDkDAEwEKGU8gPZmhkPEEMpAZCplAYCOZJf9FAo+AZQt8Tm/IfzlBGW9G3rMVIOo+W/FAuLcdj6Z4xyOETYkk1xGFAIVMeOyjnHObcg5DIZMTVKRmLOAigQ80LPkvENiSZsl/JcHV1I38VxPowMOQ9wIDLmievFcQWM3NyXs1Ax+Q4RCwBiTQXGYYApUKGakyUmcifpbOHTds9JUH7RvRm+pDU8hUZxjSAoVMSLr1266U/+p3d8SI5D8DQejiwuhp64b97T6LZ9l2uId35L++Dt+Q8+Q9W3Gk7rMVj1ZvyHu249Ov3iFg9Wvk8NsEAQoZE2EYcoJCxlY8KGRsx6Oqd3nyX5EdlFX9KdofAasosXrbI2DVy5vR8hHIk/fyWYrTirwXh3veUcl7eUnRbpAJIGANcvS59soEKGQqI/RqAAHLK07vxrgT5x1pVIPkv6j4RwxO/rMVDwR82/Eo6x15ryy5MP3Ie2G4+rJK3eeLJHayBBCwmA8QqECAQqYCvABdKWQCQPVokkLGI0wDpsh/BoKQcYH8ZyseCFi241HWO/JeWXJh+pH3wnD1ZZW6zxdJ7CBgMQcg4IkAhYwnkJ7MUMh4AhnIDIVMILCRzJL/IoHvMCz5z1Y8ELBsx6Osd+S9suTC9CPvheHqyyp1ny+S2EHAYg5AwBMBChlPID2ZoZDxBDKQGQqZQGAjmSX/RQKPgGULfE5vyH85QRlvRt6zFSDqPlvxQLi3HY+meMcjhE2JJNcRhQCFTBTsHQelkLEVDwoZ2/Go6h35rypBv/3Jf355+rbW3wKWgdcm+w5ISXvkvZLgAnUj7wUC68lsX+U90pynqIc3g4AVnjEjRCFQTxaikIkSXAQsW9hze9NXhUzuqxrchuQ/W7FnIWcrHgj4tuNR1jvyXllyYfqR98Jw9WWVus8XSexkCSBgMR8gUIFAuULGzovleZ1yheDX0JXXKdcAmSFKEyiX/0oP570j+c87Uq8GyX9ecWLMEwHynieQnswgYHkCGcgMAlYgsANuFgFrwCcAl1+NAIVMNX6+e1PI+Cbq1x6FjF+esa2R/2JHYPj45D9b8Wj1hvxnOz55vSPv5SVVTzvyXj2cy45C3itLjn7dCCBgMT8gUIEAhUwFeAG6UsgEgOrRJIWMR5gGTJH/DAQh4wL5z1Y8ELBsx6Osd+S9suTC9CPvheHqyyp1ny+S2MkSQMBiPkCgAgEKmQrwAnSlkAkA1aNJChmPMA2YIv8ZCAIClq0gdPGG/Nc3oerqKHnPVhyp+2zFA+Hedjya4h0CVlMiyXVEIUAhEwV7x0EpZGzFg0LGdjyqekf+q0rQb3/yn1+evq0hYPkmGsceeS8O906jkvdsxYO6z3Y8muIdAlZTIsl1RCFAIRMFOwKWLey5vWEBlxtVXzQk/9kKEws5W/FgIWc7HmW9I++VJRemH3kvDFdfVqn7fJHETpYAAhbzAQIVCFDIVIAXoCuFTACoHk1SyHiEacAU+c9AEDIukP9sxQMBy3Y8ynpH3itLLkw/8l4Yrr6sUvf5IokdBCzmAAQ8EaCQ8QTSkxkKGU8gA5mhkAkENpJZ8l8k8B2GJf/ZigcClu14lPWOvFeWXJh+5L0wXH1Zpe7zRbJpdjY550aVvih2YJVGR0cIOEchY2sWUMjYigcLONvxqOod+a8qQb/9yX9+efq2xkLON9E49sh7rdyrLUSrRpG8V5Vg2P7kvbB8B9U6AtagRp7r9kKAQsYLRm9GKGS8oQxiiEImCNZoRsl/0dC3HZj8ZyseCPi241HWO/JeWXJh+pH3wnD1ZZW6zxdJ7GQJIGAxHyBQgQCFTAV4AbpSyASA6tEkhYxHmAZMkf8MBCHjAvnPVjwQsGzHo6x35L2y5ML0I++F4erLKnWfL5LYQcBiDkDAEwEKGU8gPZmhkPEEMpAZCplAYCOZJf9FAt9hWPKfrXggYNmOR1nvyHtlyYXpR94Lw9WXVeo+XySxg4DFHICAJwIUMp5AejJDIeMJZCAzFDKBwEYyS/6LBB4Byxb4nN6Q/3KCMt6MvGcrQNR9tuKBcG87Hk3xjkcImxJJriMKAQqZKNg7DkohYyseFDK241HVO/JfVYJ++5P//PL0bQ0ByzfROPbIe3G4dxo1Rt4LeWz96Gnrhl3qPotn2QJe0BvyXkFgNM9FAAErFyYaQaA9AQoZWzMjRiETkgCFTEi62K5KgPxXlaDf/uQ/vzx9W2Mh55toHHvkvTjcLQlYIQlQ94Wki+2mEEDAakokuY4oBChkomDvOCgLOFvxaPWGBZzt+BT1jvxXlFjY9uS/sHyrWif/VSVooz95z0YcUi/Ie7biQd1nOx5N8Q4BqymR5DqiEKCQiYIdAcsW9tzesIDLjapzw5DPLhR0j/xXEFjg5izkAgOuaJ78VxGgke7kPSOB+IMb5D1b8UDAsh2PpniHgNWUSHIdUQhQyETBjoBlC3tub1jA5UbVFw3Jf7bCxELOVjxYyNmOR1nvyHtlyYXpR94Lw9WXVeo+XySxkyWAgMV8gEAFAhQyFeAF6EohEwCqR5MUMh5hGjBF/jMQhIwL5D9b8UDAsh2Pst6R98qSC9OPvBeGqy+r2brP0AZyX5eHnUgEELAigWfYZhCgkLEVRwoZW/FgAWc7HlW9I/9VJei3P/nPL0/f1hDwfRONY4+8F4d7p1HJe7biQd1nOx5N8Q4BqymR5DqiEKCQiYK946AUMrbiQSFjOx5VvSP/VSXotz/5zy9P39YQsHwTjWOPvBeHOwKWLe55vSHv5SVFuyIEELCK0KItBFoIUMjYmhIs4GzFAwHLdjyqekf+q0rQb3/yn1+evq2xkPNNNI498l4c7ghYtrjn9Ya8l5cU7YoQQMAqQou2EEDAMj0HWMCZDo+jkLEdn6LesZArSixse/JfWL5VrZP/qhK00Z+8ZyMOqRfkPVvxaPWGvGc7Pv3qHQJWv0YOv00QoJAxEYYhJyhkbMWDQsZ2PKp6R/6rStBvf/KfX56+rbGQ8000jj3yXhzunUYl79mKB3Wf7Xg0xTsErKZEkuuIQoBCJgr2joNSyNiKB4WM7XhU9Y78V5Wg3/7kP788fVtDwPJNNI498l4c7ghYtrjn9Ya8l5cU7YoQQMAqQou2EGgh0G+FzCjnnF5jm36Wzh037IpWHrRvX8eYBZzt8FHI2I5PUe/6Lf+1Xh/5r2jE620/etq6YQPus3hWvQ54Ho385xloJHPkvUjgOwxL3WcrHq3ekPdsx6dfvUPA6tfI4bcJAhQyJsIw5ASFTIl4tKqaJUzk7UIhk5dUf7Qj/9mKE/nPVjxYyNmOR1nvyHtlyYXpR94Lw9WXVeo+XySxkyWAgMV8gEAFAhQyFeAF6EohEwCqR5MUMh5hGjBF/jMQhIwL5D9b8UDAsh2Pst6R98qSC9OPvBeGqy+r1H2+SGIHAYs5AAFPBChkPIH0ZIZCxhPIQGYoZAKBjWSW/BcJfIdhyX+24oGAZTseZb0j75UlF6YfeS8MV19Wqft8kcQOAhZzAAKeCFDIeALpyQyFjCeQgcxQyAQCG8ks+S8SeAQsW+BzekP+ywnKeDPynq0AUffZigfCve14NMU7HiFsSiS5jigEKGSiYO84KIWMrXhQyNiOR1XvyH9VCfrtT/7zy9O3NQQs30Tj2CPvxeHeaVTynq14UPfZjkdTvEPAakokuY4oBChkomBHwLKFPbc3LOByo+qLhuQ/W2FiIWcrHizkbMejrHfkvbLkwvQj74Xh6ssqdZ8vktjJEkDAYj5AoAIBCpkK8AJ0pZAJALWDyTIvL6SQqS8+dYxE/quDcv4xRua/Mc65TfkNGGs5etq6YR7ts3iWMQ+LuUP+K8bLamvynq3IUPfZigfCve14NMU7BKymRJLriEKAQiYK9o6DUsjYigeFjO14VPWO/FeVoN/+5D+/PH1bQ8DyTTSOPfJeHO6dRiXv2YoHdZ/teDTFO/MC1sqVK92iRYvckiVL3H333ed23313N336dHfKKae4XXbZpVAcNm3a5B566CF31VVXudtuu82tWLHCvfSlL3XTpk1zJ554ops6darbbLPNRti8/PLL3QknnNBxrEMPPdRdd911bvz48YX8idJYN2O1dYKPFwIUMl4wejNCIeMNZRBDLOCCYI1mlPwXDX3bgcl/tuLBQs52PMp6R94rSy5MP/JeGK6+rFL3+SKJnSwB0wLWE088kQhHEpsmTJjgdtttN/f4448nwtPEiRPdwoUL3eTJk3NFVOLV4sWL3UknneR++ctfJkKYbP7mN79x99xzT2Jj7ty5yT/jxo0bsvnCCy+4D33oQ+7CCy9shoCVixaN8hKgkMlLqp52FDL1cC47CoVMWXI2+5H/bMWF/GcrHghYtuNR1jvyXllyYfqR98Jw9WWVus8XSez0hYC1Zs0ad/bZZ7sFCxa48847L/nvLbfc0q1du9Zde+217vTTT3cHHXSQ0+6o7bffvmdUH3zwQTd79my3evVqd8kll7g3velNyW4rCVs//OEPkx1d3//+9xPbRx999JC95557zs2ZM8c9+eST7ktf+lIievGBQEqAQsbWXKCQsRUPFnC241HVO/JfVYJ++5P//PL0bY2FnG+iceyR9+Jw7zQqec9WPKj7bMejKd6Z3YG1fPlyN2PGDDdp0qTkEcLttttuiPn69evdueee6+bNm+duvPFGN3PmzJ7x0A6qM844w33mM59JxK9Ro4Y/R3f77be7WbNmJWNK4Npmm20Sm4888kgifL3mNa8Z9uc9B6TBQBCgkLEVZgoZW/GgkLEdj6rekf+qEvTbn/znl6dvawhYvonGsUfei8MdAcsW97zekPfykqJdEQJmBaxUcLrsssvc8ccfP+Ka7r777uTMKolRF1xwgRszRm/baf95/vnn3Sc/+Un3la98JRHDpkyZMqKhHks88sgj3Y477jjsPCs9XnjIIYe4k08+2Z1//vlu8803L8KXtg0nQCFjK8As4GzFAwHLdjyqekf+q0rQb3/yn1+evq2xkPNNNI498l4c7ghYtrjn9Ya8l5cU7YoQMClgSXA688wz3aWXXuruuusut//+++cWnIpcfLatHjHUDqxXvepVwwSsq6++2r3zne90X/jCF9wrXvGKRCxbunRpcobWcccd597znvfkeoSxrF/0s02AQsZWfFjA2YoHApbteFT1jvxXlaDf/uQ/vzx9W2Mh55toHHvkvTjcEbBscc/rDXkvLynaFSFgUsBKz51atmyZu/XWW91ee+014pqeffbZ5Kyqp59+OjmcXYJS2Y/OwdKOL4lm55xzTvJ4onZa6c8/9rGPJf8ccMAB7qc//WkyzujRo90DDzyQHAb/+te/Pnm0sJ2PZf2hX/8QoJCxFSsWcLbigYBlOx5VvSP/VSXotz/5zy9P39ZYyPkmGsceeS8OdwQsW9zzekPey0uKdkUImBSw8ohTedrkBaFdXtpltdVWW7nrr7/e7bnnnknXVatWJW8tvOaaa9z06dPd/Pnzkx1a+vzqV79yn/70p5MdWfq7q666Knn8kM9gEaCQsRVvFnC24oGAZTseVb0j/1Ul6Lc/+c8vT9/WWMj5JhrHHnkvDncELDa7gQEAACAASURBVFvc83pD3stLinZFCAy8gPW9733PnXjiie7RRx91Om/r7W9/+9AB7ytXrnRnnXWWe+yxx5LHGV/96lcPY/ub3/wmeXuhHjOUgKXHCYt87r333iLNaWuQwNnf3MOgV/ld+vShDw1r/MoPnpi/s8GWv/iHhcO8mvjrSQa9zO/SA9veM6zxCY98Kn9ngy0v2/XDBr3CpbIEyH9lyYXpR/4Lw9WXVfKfL5Jx7ZD34vJvHZ28Zyserd6Q92zHJ493Fp8yG1gBS48HfvOb33Tvf//73ZNPPpk8QqhdWHo8sMjnuuuuc8ccc4x73/vel7zh8EUvelHu7ghYuVGZbUghYys0FDK24kEhYzseVb0j/1Ul6Lc/+c8vT9/WWMj5JhrHHnkvDvdOo5L3bMWDus92PMp4h4CVk1r66J7eAHjDDTcMPdKX7Z4+QvjMM88kj/3tuuuuOa07t379+uSg9jPOOCPpc/HFF7vZs2e7zTbbLLeNtKHO6dpvv/2SNyVKBNtyyy0L26BD/xJgK7mt2PEIja14tHrDVnLb8SnqHfmvKLGw7cl/YflWtU7+q0rQRn/yno04pF6Q92zFg7rPdjya4p3JHVgh30L4u9/9zs2bNy/5Rwey67HBqVOnDj022BrYF154wemfrbfeum3M77777qQ/AlZTvhLFroNCphiv0K2bUMhscs6N+gOo0dPWDUO2z+JZoREGtc8CLije2o2T/2pH3nXAJuS/7AWS/2zNL7z5PYH+y3uqKFRZ/P6zdO64YaFcedC+fR1a8p7t8FH32Y5Pv3pnUsASTO1m0g4pCUwSh1o/d9xxhzvkkEPc6aefnhykPmbMmJ4x0M6uD37wg27hwoVJ34suusjtsUfnM4xuueUWd8QRR7g5c+YkbXXIe+vn8ssvdyeccII7//zz3Uc+8pGOQlhP52jQlwT6r5AZjplCxva0YwFnOz6D7l3Y/Dd80RWCNfkvBFV/Nsl//lhiyR+BsHnPn5+dLBXLe9lbauF9KzMCAlYZavX1QcCqj/UgjWRWwFq+fLmbMWOGmzRpklu0aJHbbrvthuKiRwDPPffcZBfVjTfe6GbOnNkzZtp5dfbZZyeHsb/1rW9NBLKXv/zlXfv95Cc/Sdrqk307Ydrp6aefTsQt7cK66aab3LRp03r6QYNmERisQsZ+7ChkbMeIQsZ2fIp6R/4rSixse/JfWL5VrZP/qhK00Z+8ZyMOqRfkPVvxaPWGvGc7Pv3qnVkBa82aNYngtGDBgkSs0tsAx40b59auXeuuvfbaZOfVgQce6K688kq3ww479OQvAeq9732ve8Mb3uC0a+plL3tZzz5ZoWz69Olu/vz57lWvelXST+KV/LvmmmvcySef7D796U9z/lVPos1rQCFjK6YUMrbiQSFjOx5VvSP/VSXotz/5zy9P39ZYyPkmGsceeS8O906jkvdsxYO6z3Y8muKdWQFLgB9++OFEHLr99tvdhAkT3G677eYef/xxt2LFCjdx4sTkUcDJkycPi0V6qPqhhx6aHNQ+fvx4p4Pejz32WPeNb3yjZ9yy/dR45cqV7swzz0yEqm222ca97nWvS2zcf//9To8kyq7ePrj99tv3tN3YBvZ3GAdDTyETDG0pwxQypbDV1okFXG2oaxmI/FcL5tyDkP9yo4rSkPwXBbv3Qcl73pFWMkjeq4QveGfyXnDEAzmAaQErFZD0COGSJUvcfffdlxy8rt1Qp5xyittll11GBK2dgHXvvfe6ww8/3D311FM9g9wqYKmDdn197Wtfc1dddZWTfX2mTJmSPD542GGHubFjx/a0S4NmEqCQsRVXChlb8Wj1hkLGdnyKekf+K0osbHvyX1i+Va2T/6oStNGfvGcjDqkX5D1b8aDusx2PpnhnXsBqCmiuo5kEKGRsxZVCxlY8KGRsx6Oqd+S/qgT99if/+eXp2xoClm+iceyR9+Jw7zQqec9WPKj7bMejKd4hYDUlklxHFAIUMlGwdxyUQsZWPChkbMejqnfkv6oE/fYn//nl6dsaApZvonHskfficEfAssU9rzfkvbykaFeEAAJWEVoD3HaAj7nqGnUKGVtfChZwtuKBgGU7HlW9I/9VJei3P/nPL0/f1ljI+SYaxx55Lw53BCxb3PN6Q97LS4p2RQggYBWhRVsItBCgkLE1JVjAxYhHfnmbQiZGfMKNSf4Lx7aMZfJfGWr19SH/1cc65EjkvZB0i9sm7xVnVmcP8l6dtAdnLASswYk1VxqAAIVMAKgVTFLIVIBXQ1cKmRog1zgE+a9G2DmGIv/lgBSxCfkvInyPQ5P3PML0YIq85wFiQBOx8l7+W6sBLx7TwQggYAVDi+FBIEAhYyvKFDK24tHqTaxCxjaV/vWO/GcrduQ/W/Eg/9mOR1nvyHtlyYXpR94Lw9WXVeo+XySxkyWAgMV8gEAFAhQyFeAF6EohEwCqR5MUMh5hGjBF/jMQhIwL5D9b8UDAsh2Pst6R98qSC9OPvBeGqy+r1H2+SGIHAYs5AAFPBChkPIH0ZIZCxhPIQGYoZAKBjWSW/BcJfIdhyX+24oGAZTseZb0j75UlF6YfeS8MV19Wqft8kcQOAhZzAAKeCFDIeALpyQyFjCeQgcxQyAQCG8ks+S8SeAQsW+BzekP+ywnKeDPynq0AUffZigfCve14NMU7HiFsSiS5jigEKGSiYO84KIWMrXhQyOSIRx+fNEr+yxHfGpuQ/2qEXWIoBKwS0Ax2Ie/ZCgp5z1Y8qPtsx6Mp3iFgNSWSXEcUAhQyUbAjYNnCntsbFnC5UfVFQ/KfrTCxkLMVDxZytuNR1jvyXllyYfqR98Jw9WWVus8XSexkCSBgMR8gUIEAhUwFeAG6UsgEgOrRJIWMR5gGTJH/DAQh4wL5z1Y8ELBsx6Osd+S9suTC9CPvheHqyyp1ny+S2EHAYg5AwBMBChlPID2ZoZDxBDKQGQqZQGAjmSX/RQLfYVjyn614IGDZjkdZ78h7ZcmF6UfeC8PVl1XqPl8ksYOAxRyAgCcCFDKeQHoyQyFTBGT9hy9RyBSJj/225D9bMSL/2YoHApbteJT1jrxXllyYfuS9MFx9WaXu80USOwhYzAEIeCJAIeMJpCczFDKeQAYyQyETCGwks+S/SOA7DEv+sxUPBCzb8SjrHXmvLLkw/ch7Ybj6skrd54skdhCwmAMQ8ESAQsYTSE9mKGQ8gQxkhkImENhIZsl/kcAjYNkCn9Mb8l9OUMabkfdsBSh43TfKOacN6zV9Rk9bN2ykfRbPqmnkMMOQ98JwHXSrHOI+6DOA669EgEKmEj7vnYMXMt497m6QQqZm4AxXiAD5rxCu4I3Jf8ERVxqAhVwlfGY6k/fMhCJxhLxnKx6t3pD3bMenX71DwOrXyOG3CQIUMibCMOQEhYyteFDI2I5HVe/If1UJ+u1P/vPL07c1FnK+icaxR96Lw73TqOQ9W/Gg7rMdj6Z4h4DVlEhyHVEIUMhEwd5xUAoZW/GgkLEdj6rekf+qEvTbn/znl6dvawhYvonGsUfei8MdAcsW97zekPfykqJdEQIIWEVo0RYCLQQoZGxNCRZwtuLR7wJW/e9ptB2/Vu/If7biRf6zFY9+z3+2acbzjrwXj327kcl7tuJB3rMdj6Z4h4DVlEhyHVEIUMhEwd5xUAoZW/GgkLEdj6rekf+qEvTbn/znl6dva+xE8E00jj3yXhzunUYl79mKB3Wf7Xg0xTsErKZEkuuIQoBCJgp2BCxb2HN7wwIuN6q+aEj+sxUmFnK24sFCznY8ynpH3itLLkw/8l4Yrr6sUvf5IomdLAEELOYDBCoQoJCpAC9AVwqZAFA9mqSQ8QjTgCnyn4EgZFwg/9mKBwKW7XiU9Y68V5ZcmH7kvTBcfVml7vNFEjsIWMwBCHgiQCHjCaQnM00uZHQe076LZ3kiFcdMXYUMZ1fVE1/yXz2c847S5PwnBvuQ//JOBdoFJEDeCwi3hGnyXgloNXapq+6r8ZIYygABdmAZCAIu9C8BChlbsaOQsRWPVm8oZGzHp6h35L+ixMK2J/+F5VvVOvmvKkEb/cl7NuKQekHesxUP6j7b8WiKdwhYTYkk1xGFAIVMFOwdB6WQsRUPChnb8ajqHfmvKkG//cl/fnn6toaA5ZtoHHvkvTjcO41K3rMVD+o+2/FoincIWE2JJNdRmUCZx44oZCpj92qAQsYrTu/GWMB5RxrVIPkvKv4Rg5P/bMWDhZzteJT1jrxXllyYfuS9MFx9WaXu80USO1kCCFjMBwhUIEAhUwFegK4UMgGgejRJIeMRpgFT5D8DQci4QP6zFQ8ELNvxKOsdea8suTD9yHthuPqySt3niyR2ELCyBMpsu2EOQeAPBChkbE0FChlb8WABZzseVb0j/1Ul6Lc/+c8vT9/WWMj5JhrHHnkvDvdOo5L3bMWDus92PJriHTuwmhJJriMKAQqZKNg7DkohYyseFDK241HVO/JfVYJ++5P//PL0bQ0ByzfROPbIe3G4I2DZ4p7XG/JeXlK0K0IAAasILdpCoIUAhYytKcECzlY8ELBsx6Oqd+S/qgT99if/+eXp2xoLOd9E49gj78XhjoBli3teb8h7eUnRrggBBKwitGgLAQQs03OABZzp8LjuhQzPc9uO3kjvWMjZihj5z1Y8EPBtx6Osd+S9suTC9CPvheHqyyoCli+S2MkSQMBiPkCgAgEKmQrwAnSlkAkA1aNJChmPMA2YIv8ZCELGBfKfrXggYNmOR1nvyHtlyYXpR94Lw9WXVeo+XySxg4DFHICAJwIUMp5AejJDIeMJZCAzFDKBwEYyS/6LBL7DsOQ/W/FAwLIdj7LekffKkgvTj7wXhqsvq9R9vkhiBwGLOQABTwQoZDyB9GSGQsYTyEBmKGQCgY1klvwXCTwCli3wOb0h/+UEZbwZec9WgELWfTEONhg9bd0wwPssnmULeEFvyHsFgdE8FwEeIcyFiUYQaE+AQsbWzAhZyMS4UgqZGNQZMy8B8l9eUvW0I//Vw7nsKCzkypKz1Y+8Zyse5D1b8Wj1hrxnOz796h0CVr9GDr9NEKCQMRGGIScoZGzFg0LGdjyqekf+q0rQb3/yn1+evq2xkPNNNI498l4c7p1GJe/Zigd1X0ogxv4923PBp3cIWD5pYmvgCFDI2Ao5hYyteFDI2I5HVe/If1UJ+i1wyX9V4xG2PwJWWL51WSfv1UU63zjkvXycYrUi78Ui3+xxEbCaHV+uLjABCpnAgAuap5ApCKzm5hQyNQMPPBz5LzDggubJfwWB1dyc/Fcz8EDDxcl7o5xzEryrf5bOHTfMyMqD9q1uNKIF8l5E+DmGJu/lgESTwgQQsAojowME/o9AnELGXwQoZPyxDGGJM7BCUMWmLwLkP18k/dhhIeeHYygrLORCka3XLnmvXt69RiPv9SIU9+/Je3H5N3V0BKymRpbrqoUAhUwtmHMPQiGTG1WUhhQyUbAHG5T8FwxtKcPkv1LYautE/qsNddCByHtB8RY2Tt4rjKzWDuS9GnH7PZWgRseLD4WAVZwZPSAwRIBCxtZkoJCxFY9WbyhkbMenqHfkv6LEwrYn/4XlW9U6+a8qQRv9yXs24pB6Qd6zFQ/qPtvxaIp3CFhNiSTXEYUAhUwU7B0HpZCxFQ8KGdvxqOod+a8qQb/9yX9+efq2hoDlm2gce+S9ONw7jUresxUP6j7b8WiKdwhYTYkk1xGFAIVMFOwDLmD17x5hFnC2vi9VvSH/VSXotz8LOb88fVsj//kmGsceeS8OdwQsW9zzekPey0uKdkUIIGAVoUVbCLQQoJCxNSVYwNmKB3fibMejqnfkv6oE/fYn//nl6dsaCznfROPYI+/F4Y6AZYt7Xm/Ie3lJ0a4IAQSsIrRoCwEELNNzgAWc6fA4Chnb8SnqHQu5osTCtif/heVb1Tr5rypBG/3JezbikHpB3rMVj1ZvyHu249Ov3iFg9Wvk8NsEAQoZE2EYcoJCxlY8KGRsx6Oqd+S/qgT99if/+eXp2xoLOd9E49gj78Xh3mlU8p6teFD32Y5HU7xDwGpKJLmOKAQoZKJg7zgohYyteFDI2I5HVe/If1UJ+u1P/vPL07c1BCzfROPYI+/F4Y6AZYt7Xm/Ie3lJ0a4IAQSsIrRomxDo3yOk/QeQQsY/0yoWWcBVoRe+L4VMeMZ1jkD+q5N277HIf70ZxWxB/otJ39/Y5D1/LH1YIu/5oBjOBnkvHNtBtoyANcjR59orE6CQqYzQqwEKGa84vRujkPGONKpB8l9U/CMGJ//ZikerN+Q/2/HJ6x15Ly+petqR9+rhXHYU8l5ZcvTrRgABi/kBgQoEKGQqwAvQlUImAFSPJilkPMI0YIr8ZyAIGRfIfxHiMeoP29JzDE3+ywGpD5qQ92wFibxnKx4I97bj0RTvELCaEkmuIwoBCpko2DsOSiFjKx4UMrbjUdU78l9Vgn77k//88vRtDQHLN9E49sh7cbh3GpW8Zyse1H2249EU7xCwmhJJriMKAQqZKNgRsGxhz+0NC7jcqPqiIfnPVphYyNmKBws52/Eo6x15ryy5MP3Ie2G4+rJK3eeLJHayBBCwmA8QqECAQqYCvABdKWQCQPVokkLGI0wDpsh/BoKQcYH8ZyseCFi241HWO/JeWXJh+pH3wnD1ZZW6zxdJ7CBgMQcg4IkAhYwnkJ7MUMh4AhnIDIVMILCRzJL/IoHvMCz5z1Y8ELBsx6Osd+S9suTC9CPvheHqyyp1ny+S2EHAYg5AwBMBChlPID2ZoZDxBDKQGQqZQGAjmSX/RQKPgGULfE5vyH85QRlv1o95L/uugaVzxw0jvPKgfY0T7+4edZ/t8JH3bMenX73jEcJ+jRx+myDQj4VMFhyFjIlp1NGJ0dPWDfu7fRbPsu1wD+8oZPo6fCOcJ//ZiicLOVvxaPWG/Gc7Pnm9I+/lJVVPO/JePZzLjkLeK0uOft0IIGAxPyBQgQCFTAV4AbpSyASA6tEkhYxHmAZMkf8MBCHjAvnPVjwQsGzHo6x35L2y5ML0I++F4erLKnWfL5LYyRJAwGI+QKACAQqZCvACdKWQCQDVo0kKGY8wDZgi/xkIAgKWrSB08Yb81zeh6uooec9WHKn7bMUD4d52PJriHQJWUyLJdUQhQCETBXvHQfuzkMmeTjH80niE0Nb8wpvhBMh/tmZEf+a/zgzJf7bmF978ngB5z9ZMIO/ZigcClu14NMU7BKymRJLriEKAQiYK9oYJWCzgbM0ivMlLgPyXl1Q97VjI1cO57CjswCpLzlY/8p6teJD3bMUDAct2PJriHQJWUyLJdUQhQCETBTsCli3sub1hAZcbVV80JP/ZChMLOVvxYCFnOx5lvSPvlSUXph95LwxXX1ap+3yRxE6WAAIW8wECFQhQyFSAF6ArhUwAqB5NUsh4hGnAFPnPQBAyLpD/bMUDAct2PMp6R94rSy5MP/JeGK6+rFL3+SKJHQQs5gAEPBGgkPEE0pMZChlPIAOZoZAJBDaSWfJfJPAdhiX/2YoHApbteJT1jrxXllyYfuS9MFx9WaXu80USO4YFrE3OOR1ozAcC/UGAQsZWnChkbMWDBZzteFT1jvxXlaDf/uQ/vzx9W2Mh55toHHvkvTjcO41K3rMVD+o+2/Foinc8QtiUSHIdUQhQyETB3nFQChlb8aCQsR2Pqt6R/6oS9Nuf/OeXp29rCFi+icaxR96Lwx0Byxb3vN6Q9/KSol0RAghYRWjRFgItBChkbE0JFnC24oGAZTseVb0j/1Ul6Lc/+c8vT9/WWMj5JhrHHnkvDncELFvc83pD3stLqt52/f7MGwJWvfOF0RpGgELGVkBZwNmKBwKW7XhU9Y78V5Wg3/7kP788fVtjIeebaBx75L043BGwbHHP6w15Ly8p2hUhgIBVhBZt6yPQJ9IwhUx9UyLPSCzg8lCK14ZCJh77ECOHzn86EVM/BaE+S+eOG2Z65UH7hhqqFrvkv1owlx6E/FcanamOofNe6Isl74UmXM3+6GnrhhnYZ/GsagYj9ybvRQ5AQ4dHwGpoYLmseghQyNTDOe8oLODykorTjkImDvdQo5L/QpEtZ5f815lbaDE0T8TIf3ko2W9D3rMVI/KerXi0etMvea9P9k3YDnaN3iFg1QiboZpHgELGVkwpZGzFo18LGdsU7XhH/rMTC3lC/rMVD/Kf7XiU9Y68V5ZcmH7kvTBcfVntFwHL1/Vipx4CCFj1cGaUhhKgkLEVWAoZW/FgAWc7HlW9I/9VJei3P/nPL0/f1ljI+SYaxx55Lw73TqOS92zFg7rPdjya4h0CVlMiyXVEIUAhEwV7x0EpZGzFg0LGdjyqekf+q0rQb3/yn1+evq0hYPkmGsceeS8OdwQsW9zzekPey0uKdkUIIGAVoUVbCLQQoJCxNSVYwNmKBwKW7XhU9Y78V5Wg3/7kP788fVtjIeebaBx75L043BGwbHHP6w15Ly8p2hUhgIBVhBZtIYCAZXoOsIAzHR5HIWM7PkW9YyFXlFjY9uS/sHyrWif/VSVooz95z0YcUi/Ie7bi0eoNec92fPrVOwSsfo0cfpsgQCFjIgxDTlDI2IoHhYzteFT1jvxXlaDf/uQ/vzx9W2Mh55toHHvkvTjcO41aLu9ZeC9p+ysaPW3dsL/YZ/EsW8ALekPeKwiM5rkIIGDlwkQjCLQnQCFja2aUK2RsXUPWGwoZu7HBM+fIf7ZmAfnPVjwQ8G3Ho6x35L2y5ML0I++F4erLKgKWL5LYyRJAwGI+QKACAQqZCvACdKWQCQDVo0kKGY8wDZgi/4ULQpn9AeS/cPHwYZn854NifBvkvfgxyHpA3rMVD4R72/FoincIWE2JJNcRhQCFTBTsHQelkLEVDwoZ2/Go6h35rypBv/3Jf355+raGgOWbaBx75L043DuNSt6zFQ/qPtvxaIp3CFhNiSTXEYUAhUwU7AhYtrDn9oYFXG5UfdGQ/GcrTCzkbMWDhZzteJT1jrxXllyYfuS9MFx9WaXu80USO1kCCFjMBwhUIEAhUwFegK4UMgGgejRJIeMRpgFT5D8DQci4QP6zFQ8ELNvxKOsdea8suTD9yHthuPqySt3niyR2ELCYAxDwRIBCxhNIT2YoZDyBDGSGQiYQ2EhmyX+RwHcYlvxnKx4IWLbjUdY78l5ZcmH6kffCcPVllbrPF0nsIGAxByDgiQCFjCeQnsxQyHgCGcgMhUwgsJHMkv8igUfAsgU+pzfkv5ygjDcj79kKEHWfrXgg3NuOR1O84xHCpkSS64hCgEImCvaOg1LI2IoHhYzteFT1jvxXlaDf/uQ/vzx9WwsmYG1yzum1lXxqIUDeqwVz7kHIe7lRRWkYLO9FuRoGtUIAActKJPCjLwlQyNgKW72FTJkX3RfjNXraumEd9lk8q5gBY60pZIwFpKI75L+KAD13rzf/eXa+jTnyX3jGjFCcAHmvOLOQPch7IelWt03dV50hFkYSQMBiVkCgAgEKmQrwAnSlkAkA1aNJChmPMA2YIv8ZCELGBfKfrXi0ekP+sx2fvN6R9/KSqqcdea8ezmVHIe+VJUe/bgQQsJgfEKhAgEKmArwAXSlkAkD1aJJCxiNMA6bIfwaCgIBlKwhdvCH/9U2oujpK3rMVR+o+W/FAuLcdj6Z4h4DVlEhyHVEIUMhEwd5xUAoZW/GoXMhwtovpgJL/bIWH/GcrHpXzn+3LGVjvyHu2Qk/esxUP8p7teDTFOwSspkSS64hCoGwhE/70pHw4ls4dN6zhyoP2zdfRaCsKGaOB+YNb7ECwHZ+i3pXNf0XHCdWe/BeKrB+7nIHlhyNW/BIg7/nlWdUadV9VgmH7U/eF5Tuo1hGwBjXyXLcXAhQyXjB6M0Ih4w1lEEMUMkGwRjNK/ouGvu3A5D9b8Wj1hvxnOz55vQuW92racYxwnzfScdoh3Mfhzqj9RQABq7/ihbfGCAQrZGq6ThOFjMeijQVcTROn5DAs4EqCM9qN/GcrMOQ/W/FAwLIdj7LekffKkgvTj7wXhqsvq9R9vkhiJ0sAAYv5AIEKBChkKsAL0JVCJgBUjyYpZDzCNGCK/GcgCBkXyH+24oGAZTseZb0j75UlF6YfeS8MV19Wqft8kcQOAhZzAAKeCFDIeALpyQyFjCeQgcwMTiHjcVthoFj4MEv+80HRnw3ynz+WISwNTv4LQc+OTfKenVjIE/KerXgg3NuOR1O8YwdWUyLJdUQhQCETBXvHQSlkbMWDQsZ2PKp6R/6rStBvf/KfX56+rSFg+SYaxx55Lw73TqOS92zFg7rPdjya4p15AWvlypVu0aJFbsmSJe6+++5zu+++u5s+fbo75ZRT3C677FI4DmXsbdy40d11111u4cKFbunSpW7dunVuypQpbs6cOe6www5zY8eOLexH9w6DcffeM7Qo5ihkomBHwLKFPbc3LOByo+qLhuQ/W2FiIWcrHizkbMejrHfkvbLkwvQj74Xh6ssqdZ8vktjJEjAtYD3xxBPuhBNOcLfddpubMGGC22233dzjjz/uVqxY4SZOnJgISpMnT84d0TL2NmzY4K699tpEMFu1apWbNGmS22KLLdz999+f/P/cuXOTf8aNG5fbDxo2hwCFjK1YUsjYigcLONvxqOod+a8qQb/9yX9+efq2xkLON9E49sh7cbh3GpW8Zyse1H2249EU78wKWGvWrHFnn322W7BggTvvvPOS/95yyy3d2rVrE0Hp9NNPdwcddJC7/PLL3fbbb98zHmXtLVu2zB199NFuxx13dJdcconba6+9krEeffRRd+qpp7q7777bXXHFFW727Nk9faBB8whQyNiKKYWMrXhQyNiOR1XvyH9VCfrtT/7zy9O3NQQs30Tj2CPvxeGOgGWLe15vyHt5SdFuGIEeD6OZFbCWL1/uZsyYkex40iOE22233dB1rV+/3p177rlu3rx57sYbJ5VrTgAAIABJREFUb3QzZ87sGfUy9iSWSTibP39+23EefPDBRLjaY489RvjY0yEaNIIAhYytMLKAsxUPBCzb8ajqHfmvKkG//cl/fnn6tsZCzjfROPbIe3G4I2DZ4p7XG/JeXlK0K0LArIB14YUXujPOOMNddtll7vjjjx9xTdr5NHXq1GQn1gUXXODGjBnT9brL2HvsscfcUUcdldi+7rrr3M477zxsjNWrV7vTTjstecTx1ltvHdqdVSQAtO1vAhQytuLHAs5WPBCwbMejqnfkv6oE/fYn//nl6dsaCznfROPYI+/F4Y6AZYt7Xm/Ie3lJ0a4IAZMC1vPPP+/OPPNMd+mllyaHp++///4jrknnYB155JHJo30Sl8aPH9/xusvau+eee9whhxySjHPRRRe5rbbaasQY559/vvvoRz+aPNaoRw35DBYBChlb8WYBZyseCFi241HVO/JfVYJ++5P//PL0bY2FnG+iceyR9+JwR8CyxT2vN+S9vKRoV4SASQHrueeeS97wp/OnOu1sevbZZxPB6Omnn3aLFy9O3k7Y6VPW3i233OKOOOKIrru8JJ4dc8wx7uMf/7g755xzirCnbQMIUMjYCiILOFvxQMCyHY+q3pH/qhL025/855enb2ss5HwTjWOPvBeHOwKWLe55vSHv5SVFuyIETApYecSpPG1SEHnatmuTR5zK06ZIQGjbXwQoZGzFiwWcrXggYNmOR1XvyH9VCfrtT/7zy9O3NRZyvonGsUfei8MdAcsW97zekPfykqJdEQIIWH+ghYBVZNrQNiVAIWNrLrCAsxUPBCzb8ajqHfmvKkG//cl/fnn6tsZCzjfROPbIe3G4I2DZ4p7XG/JeXlK0K0IAASuigLX33nsXiRVtIQABCEAAAhCAAAQgAAEIQAACEIBAcAI//OEPg49RdACTAtaqVavcSSed5HSI+g033OD23HPPEdeV7ph65pln3PXXX+923XXXjtde1t4dd9yRHOL+4Q9/2Omw9s0333zEGOkjhPPmzUvaFfk0S8Da5JwbVeTyaQsBCEAAAhCAAAQgAAEIQAACEICAQQIIWDmDUvatgZ3Ml7XHWwhzBoxmEIAABCAAAQhAAAIQgAAEIAABCEAgIAGTO7B0vRdeeKE744wz3GWXXeaOP/74EQjS3VGnn366u+CCC9yYMWO6Yipj77HHHnNHHXVUYls7rXbeeedhY6Q7u+68886Ob0sMGDtMeyDAvjEPEDEBAQhAAAIQgAAEIAABCEAAAhAITMCsgLV8+XI3Y8YMN2nSJLdo0SK33XbbDaFYv369O/fcc50e27vxxhvdzJkze2IqY2/t2rXu7LPPdvPnz287zoMPPuhmz57t9thjjxE+9nSIBhCAAAQgAAEIQAACEIAABCAAAQhAAAK5CJgVsNasWZOIRwsWLEjEqrPOOsuNGzfOSVS69tprnXZeHXjgge7KK690O+ywQ8+LLWtv2bJl7uijj3Y77riju/jii53OrRo1apR79NFH3amnnupuu+22xB+14QMBCEAAAhCAAAQgYIkAe60tRQNfIAABCEAAAlUImBWwdFEPP/ywO/nkk93tt9/uJkyY4HbbbTf3+OOPuxUrVriJEye6hQsXusmTJw+7fglO++23nzv00EOTx/7Gjx8/9Pdl7Gm3lx5jnDt3rtMjg9oRtsUWW7j7778/+X/9uf6RuMYHAhCAAAQgAIGIBNAqIsJnaAhAAAIQgAAEIBCWgGkBS5e+cuXK5PG8JUuWuPvuu8/tvvvubvr06e6UU05xu+yyywg63QSsMvbUZ+PGje6uu+5KBLOlS5e6devWuSlTprg5c+a4ww47zI0dOzZslLAOAQhAAAIQgAAEIAABCEAAAhCAAAQGmIB5AWuAY8OlQwACEIAABCDQDwTY+dUPUcJHCEAAAhCAAAT6nAACVp8HEPchAAEIQAACEIAABCAAAQhAAAIQgEA/EKhy3w8Bqx8ijI8QgAAEIAABCEAAAhCAAAQgAAEIQGCACSBgDXDwuXQIQAACEIAABCAAAQhAAAIQgAAEINAPBBCw+iFK+AgBCEAAAhCAAAQgAAEIQAACEIAABAaYAALWAAefS4cABOokUOVp7zr9ZCwIQAACEIAABCAAAQhAAAL2CCBg2YsJHkEAAhCAAAQgAAEIQAACEIAABCAAAQhkCCBgMR36nsD555/vPvrRj3a9jpe+9KXur/7qr9zhhx/ujjzySPeSl7zE5HU/++yz7uijj3ZPP/20W7x4sdt9991N+tnq1IoVKxKuDzzwQC5/v/vd77opU6bkamu50dq1a92NN96YxGmvvfYq7Or69evd97//fbdkyRL3zW9+04njNtts4/bdd193yCGHuNmzZ7tXvvKVI+ymc/7aa69N5ovVz5o1a9zpp5/u7rnnnhHzWXP8M5/5jPvKV77iHnvsMfcXf/EX7sorr0z+adfe4jVed9117phjjnEf//jH3TnnnNPVxWXLlrn99tvPHX/88e7CCy90W265ZdI+/fM8NroNUHUubty40f30pz91N910k7vrrrvc8uXL3apVq9yECRPc61//enfccce5Aw44YMhvC/Fo9z3wxbPK9a1cudJ96Utfcu94xzvcdttt19NU+j25/PLL27ZNc8KMGTPc29/+djd+/PieNkM26HR96ffBel4i7/Z33g05t3vZVp49++yz3fz5891BBx3krr76arfTTjv16tbx7+v4Le+3/FIUZtF822pffL7zne8kOfvb3/52Uo9k1wxvectbRuTcfqrVU1913crR6e/Hpk2bkvrzH/7hH9zSpUuT3/s5c+a4v//7v0/qlNb2ReNCewiEJGBTwOJJm5Axb5zttACQiKDFVruPfpAkDuhzxBFHOC0UXvayl5lj0U8/ill4gypgfepTn3Jz5851ZQS5+++/PxE9vva1ryUoJeBsv/32bt26dYkQ+Mtf/jIpoj7xiU+4v/u7v3OjR48eQl5H0evjy9FJwPrd737nTj75ZPfP//zPyXd2t912S4oqiTif/exnEbBKwK8yFyUmfuQjH3Gf//znk5E17yZOnOi22GILp8XBfffdl/y5RGct3P7yL/+yhIf+u1gUsH71q1+5Y4891kkkyS4Wul19rwVmtq9isGjRomg3N7pdXz8IWOTd/s+7/jNJfos/+clP3Fvf+lb361//2j311FPJDayZM2fmN9DSso7f8n7KL0VBlsm36RgScP7t3/7NfehDH3I/+MEPkj+eNGmSe/GLX+zETLlCoo7WFvp91Q2EUaNGJe36qVbvJGClc/lnP/vZUP05efLkRLx617velVxn3t+wonGjPQSqErApYFW9KvoPFIG0AOi2g0E/VFqEffjDH3a33357Ihyce+65bvPNNzfFqp9+FLPgUgFLf9ZPO8eqBj+de0UFrLvvvtu9973vdU8++aR73/ve50477bRhd3FVPKkw1p0wCVmXXXZZsvMiLZ7qKHqrsunWP53nWgR8+ctfdn/yJ38Scrhgtn3swPLlXNm5+PDDDydiovLiYYcdluwuUBGbFUy1UJOw+E//9E/JbqwvfOEL7tWvfrUv10vbsfg96LRYyCtgtcslEsMeffRRd9555yXflzPPPNN98pOfdGPHji3NrmzHMtdXdizf/ci7v9/h3e951/e8KGJPNz9POOGE5MaVdg9LUF6wYIEbN25cETNDbevIYVkBy3p+KQqxbD7SmkC16kknnZQMqVrrPe95TyJepZ/f/OY37oorrkhurOmmzhe/+EU3derU5K/7tVbP8k13K5966qnu05/+dJTfk6Lxpn1nAoO29wcBi29D3xPII2ClF3nHHXckj2Zp67e2C2vHi6VPv/4oImDlfyTyv//7v5MdGj/84Q/dpZde6o466ii32WabjZiGKrD0OJce3XrFK16RFMuvfe1rk3Z1FL0hvxdli86QPpWx3e8ClhY2Eqy0ADvxxBOTRwn0uFq7j0SUCy64IBH/tXj72Mc+NkzkKsOvah+L34Myc7vXAjPllN4x32qrrdz111/vdt1116oIC/cvc32FBwnQgbz7f4tu4WVnRfFJpt0+EjkkJmsXpPKmHv2/+eabk8f+y3zqyGH9lF+KMiybjx588MHkiIbVq1cnO48PPPDAoRuEWR/0aP1FF13kzjjjjGGPjPZrrd5OwKp6fEHRmNEeAj4IIGD5oIiNqASKCFgPPfSQe9vb3pYIBq07hXS2ge7QqrBLn4PXYk532CQ46NHD7F22VLTRlmMt7PQM+cKFC5N/67EobSvXnY1ddtllBB89QqWzE3RHR8+ga1fD+9///uRH9J3vfGfbM7AkaMj/q666yt12223JI5Ha2jx9+nR3yimnjBin1b9//dd/TX6INZ76acGq5911Tf/xH/+RnMvzL//yL4mvulbtVtOjXXk+VQUssddWbhUS4qddR7rTpXO1dI5M693NNOaKk5hoe7c+Kkg++MEPDp078/Of/9xdfPHFuXipv/zQI31irLtT2j4uP2bNmjXs7JlOj0zmOftFha+467rkW/aOXytrzRMVTvJLd3011/TpVvT+4he/SBa3X//615OzjPRJ54nG3WOPPYYVairQ1C6du2Kvxxk1f+Vj6xlcRdq3PkL4R3/0R8kOABX9rR+x05idzsxS+yLxzM5/7XLT7hUJgtOmTUvmyMEHH5xnandt40PA6nRmUx1zUd+1N7/5zW7PPfd04t8uV2UB/Nd//VfyPdAnu3MuL+uic1PjpPNNjy7KX90J17lj+l5ccsklyfmH2e9dtzOwWpnKvvK7vhfafda6oym7q+3lL3958vjkV7/61eSMFM0j5dBsv3Q+ZJnpUcxeu1LzLjB7LZqUL5TDr7nmmiR/9bo+/X2R35Ve19fuEcLsn+nmkfKfHh3WnNHvnn7v2uV4+db6O6k8JkFfu1fT2Ofd/Roy72qO6ndVeTc9y1D+t/vtSOdGkTya/R7kydMx824ab83BrbfeOvl+SjzU41fKwX/8x39cOe/GMpDmS910Ur2km6DKHb129BfNYen1lcmX7djEzC9Fazv5r8fW9X3V2aB6ckI5X/n23e9+d1Ijp3m6Vz7qNE82bNiQ3IBRfs9zM0Y7kFVD7Lzzzkmdrrq4Wy4ukw/y/t6n11SkfavIp5pZ53G2ftLfqrRO09+3Ct3t8la3Wr3J+SBWHmLc3xNAwGIm9D2BvAKWCnUJEyp+JUjov9PD3FUoayeCdsRItHrd616XHFacPf9FP2DaZpuKKemi7U//9E+TQk2P1Wjhr7N89FiOFjkquJXAswd8/8///E/yjLkWGulZMyowdHC1BC/9YGvrcnbRo90PeoxMP7YSVdLzktKzvWRHBb0En/Qxs6x/+sHXIk8CiM61SZ/t16MoWsjLnxe96EVJcZn6rsWFitA8IlYVAUuM5YfGStnr8aX0HKh2Z76kMddCVo8+ibPOjlJbPVozZsyYRKzQIjeNg0TFNJ76bz0SpcV7yis7B9K46BHTlMff/M3fJDEQI92BlcAnH3Xt6bkJmiMS/zp9nnvuuaTgveGGG4Ytuot+CTsJWBKitCDMXnP2TC1dd3YbvOaVDlLXGRDZeZ/OKxU0ElolcOhTtH3rQmqHHXZIvmf/+Z//OXTgf3rWkthpgdtOwEp3oxWJZzonFUsVXTrnSbHT909C6d57710U+4j2oQSsOuaiingtvCT+ag6Ie/pd6ATmhRdeSAr/3/72t8l3Kz1zMA/ronOzdb7p//U9U17W9+6v//qvE6FaYkgeAatXntFNCnHI7spNv2fipMWUbGi+pvlaPum7o4W5cqxyum4SpC+zUFvZE+NXvepVHedb3gVmugNLYlrr4dHZR0HT/KXva5rrdW6PBPPs2Y9Ff1d6XV83AesDH/iA+973vue080G/r/qkvknUlm/ZA+/1PdWNGe08bf2dVI5NY59HwAqZd7M5MZ2juimh33D9puvTeu5m0TxatH3MvJvOAd0olKinA85Vc2jxL/Etz0sNKifmAAayokd67lUnQT87fLv50SuHqX+ZfNnpsmPll145t11tp/OYdP5SeqNVvzHZ86j0+6MbUFXyreobiZC6casbu2VeKNRJwCqTD4r83ivGRdu3Cli6Eai1RJqj0vODt9122+S3Suui9OVAWQFL486bNy/5J811WvukNbLqN+1KzK4ZmpoPAqQYTBYkgIBVEBjN7RHoJWBp8atdJSq+tVVW/63n2rVbJ/2kd2d1d1ciVbqIUV/dyZbo9cQTTyRiSboLJrsLR2KPCnAtirUIlMikH1kVbFoYaoeWRBXdNdFhyVoo6WBuiS0aS+P8+7//e/I8vhY/rXftNa5ENxWB6vumN70p2UWmhbmKqbPOOiu5FP1YpD/G3fz70Y9+lOxi0DXpB0gM9f8qCuS7FqcS+CTYpG8j6Rb5sgKWfux1Fpl+ECUm6YyddKEnP/TnYqe/09kTaVzSmKs41kJOd+fSBa+KZT2eJ176SNjL8tJdVPHSYlx3zFNxJr27Kg7ZR6mysWxd6Bc9d+iRRx5J5p0KB4lY6dhFv1XtBCzdJdROBi1yFTftDEkfTdQ1qPCT/xKK9G8JlumCWCKsOGlhrI/mqQQ+FTnZ8xGKtu90iHunbf+d2peJZ3b+SzTU9Uik05wTl3aPbRaNQygBq465qMWFivg777wzWSztv//+RS9/qH0v1hIjis5NGVfOlrD0mte8Zlh+lRgpIVSitz69BKxOeVd9xUE5X7mn9W589g23ylPKG7qBkR7+qx0ByiO33nrr0E2KMo+09Fpgas5qYafFhXaItp6Jp3wisUe5MN1tmObKLCuddaZrTd+AWeZ3pdv1dROwxDr7m6f///GPf5wI+lqsKtZ/+7d/O5TH09+F1t9J5QJdq/rok0fACpl30++q3nKsxVv2sU7FTL/p2l2s3xrdYNKnaB4t2j5m3s3uipG4rO+vcq2+J6qB+vWTilW6qaWdVxJWdE0SsLUbS/WSHi9s/ZTJYWV+y7txjZFfytR2qUj4uc99bsTxCmmu0K607CObZfKthGWJLbqxrPmqurrop5OAVSYfFP29L9q+E6NOu5XbtddvnnYgaweanvrQf6e1uoQtrXW0vlKtnn2yoKn5oOh8ob1/AghY/plisWYC2UVGr6F1p0GFse5Gp4cUK/kq8ep8LC0MWs8yyO5UyC6Usou2dm+i0Z1miSgSB7TQ0p3HtBDdcccdkz9LBYPUbz2eolf2ZgWs7Bvb2j2ilt1ZlhUbuvn3/PPPJ7uetOOs3QGOt9xyS3LXOCu+dWOb9y2ErcJcykOFbbvHbLILsyzjNOYS11Q8pgsy+ZgtKsVYd5Jad5akP6rZrf/pn2mHkhbb2Y9iqbG0yNcjEekuvKIC1r333usOP/zw5NDytAjuNWfb/X2nt69pV5iKMol+rY9DpfNRRUd6Vy0tYPSd0D9ZTjpgXgW5dmz84z/+YyIeFm3vYyFVNp7pnNRuubJ3WXvFpt0jDL36tM7ZdkVkHXOxrOjc7vp6sdY1Fp2bad7T915irxYc2U+6oJSQ0UvASr93enuiFprKv9nP//7v/ybiiu4ktztrTkW5bnJkd49kfxey4kSZBVXet4TpzrYWDmKRFWDTBY0er7nyyiuddjpmP+n5T3p0JF38lf1dKStg6SZPuxc2pIdi62aF5khW4On0O5kKbxLm8whYofKubiDp90ffVx0C3e5tdOn1Zc+ZKZpHi7aPmXfT3PXGN74xqXH0OFITPulNztbHBdPvns5Vbc0RVXJY0XyZV8Dq1s5nfilT26XzVjdzteNVxx1kP/ouSRTVS2/SG9Bl8m1a37Y+iVFknrYTsMrmg6K/90Xb+xCw0l1rmtPK460vcUljp7o2PapBPJuaD4rMFdqGIYCAFYYrVmskkC7m022w6dDZLfy6C6hdVHr0rszbYtoJBumiTUJYuwN107u+KuBSwUAijX542wkG8luigQQXHRaaCjrpuV16NLHT3aL0x0U2UmGk1wK12zlKacHcTiDqtoBNH53pFP5WAUs7BvTIm4o1+dPurZDtxLTU9+yiJx0zZSjho5NIlMYmXSBpYZqOo8Whdslpp12vO8ZFBayU66GHHlrpEN0yB7+m80HXnM7HdGGnBa9svuENb+j6/Sja3sdCqmw8e30/faSoUAJWHXOxV34Qn243B7IL8qqs283N9Duq72a7F250urHQThBMRQTtwpMo3+6j3U3agZUVo7rlGdlI+2QFtDILqrwClsbcZ599EoE6PXRYNzC0u1L/dNsxK6FFO2tTBmV/V8oKWNmdn1n+6W9idj6lfyb+ysWtNyDSw7S1UMojYMXMu+12aRbNo0Xb1513X7bjju7aP9ykS6+3U7x95N26bWSFqNabIelc1E7W7MJdPpbNYb2ur12+9CFg+cwvZWo7jZ/uaFOe1o5RncvYbbd0mXybztG89W07tr3OI+wUj3b5oOjvfdH2PgSs9AVY3W5qp3k7W5c3MR/0+n7y9/UQQMCqhzOjBCTQ6RFCFfbp4wY//elPk8fRdBB29vXw7dzS1mfd2ZUopH6625se6t5uB1ZWEMjaa/ej0W7Bk+2jN6Lo7tIPfvCDIQErj5iUnvGhtunjLL2KnBAClq6l14HF2evNI8SkxbsejUzPLevWL91pJP7p+UqtcU7PhdKZSKm/epRIj6bo//VJDw7V4bMSdrQTqXUhVVTASn3TbibfO7Bar1HnFOl16ZoHuqOpO8V6VCwrnmmho0W7tuzrk760QI/y6Mwv8ckWj2XatzvTqsgjhGXj2Wv++0hJoR4hrGMuhhCwOuXCMnMzfcwjPTA5u8sytZcukrrtwMoKXenZge1in56PlxVSeuWndo/MlVlQ9XrEJz3DTTta9Ni5clP6uHivvum1tt4I0G+MDvLttohr97tSVsDq9KardoJjL+7ZHcR5BKy68q7iJGZ6bFMCoUQN5V1917LXXyaPFs3TsfJukZzoIwfXYWP58uXJIfS6qdW6y0p1psRh7Whv3c1eNoeVyZd5Bax235cQ+UXHMLS+YKPVx3a1nfKBdn7rO6OPbkyrZtEuWIn3rTegy+TbVIzxvQOr9fry5oOiv/dF2/sQsNKbQK0bBbLXnG4ayP6mNDEf1JFzGKM3AQSs3oxoYZxArzOw0sMwdfZV69kh6aW1viVGAlb60WJBP5qPP/74sEdVei2Q2/1o9CrM2905zSNgtVvE9PKvXwSsdteRx/c807Z1R1jrW6+yNlRASQTNbmsvKmClO+VUgPg+A0u+pm/vSd/ylfVfjw7q73VWS/ZgzvRtNunbrbJ9dFC2dntMnjx5SLwr0t7HToB0/heNZ6/5n8derzZFirNO3+NO51CEnovpGVh6BC97tl+Za87DuujczJP32glIrTyL7G7StVsUsNKY6OaKvo96jCldJOjvJFZogdFNzGnlqXMQewlY7X5XLAhYuuYiuTdk3pWAIYFMh/frvCPVGelHNwR0s0KPMbcKeEXyqOwVaR8z7xbJib1yjYW/zx7e3ssfPVaVfQS5bA4r+1veyb+8IrfP/KIzBXsJWJ1+N3TIePaNr9laXGfK6SxCfbf0KSNgpcJZ+pIln2dglc0HRX/vi7T3IWAVOaoFAatXpuDvfRBAwPJBERtRCfQSsFSA6LEJHfqrAiN7cLcc1w+OnunW7iwdAK4DwXVehw7Y1oGsOqeq3d2kXou2bjuw2p2zJF/KCljpnXI9wpcKI738yyMC5d1inWc3R7tJ0kvQU5+02NAZEzpoXIVLt37Z827Ss8eKTlDNCR08rTuv4nnbbbclCxP5kH37V5FFVDa+Wmy2O8+snZ+arzobTY/BaleUHrNsd/3Zt1tqp4l81du+dK6F5rHO+dEhwt12yehxCO3M0EHR2rGhhV9rUZ71sVd7HwupsvHsNf+Lzol27Yss1ooKWOl4oeZi9myxvG8hlE/trrkX6zJzM929oDkrcWCrrbYaEYI8Alb2OrOPB+aJf6/8VNcOrKyvrY/DiUseASvdgZU+ri2+vQSsdr8rFgSsbEzz7MDKLuB9593sDTLtEpborxsjumGgx5+Uu/VikE470BTbXnm0da72ah8z7xbJiXm+g7HbpAeqS/DttKNbPqZv7s3m0rI5rEy+7MYpr4AlG77yi2729RKw2tV22euQoKY3Fn/rW99KXlak3Yz6ZM8hKyNgPfPMM0k9pWvNcz6mfoN1DqieyNBZifqed3qEsGo+yPt7X6Q+8CFgpY+gtzu2o9vca1o+iJ2PGP//CCBgMRv6nkAvAUsXqC39etuRhAj9ACkZp1uR07uzOuhWwtLUqVOHMcmeMVL1EcLWRUTrmU/prgj9O320LV0c6iyYTmdgtXtDTq9FpQUBK/1x63YGVnqwffbZ+26+Zw+bLPI4Y7cvgt7WKIFT8ye7YCoqYGmM9DBYHRSffVtLu/Gzh9hnz+9pd/1pgaGzR/Smsdat9umZN7rbmN2B1em6s2+jzLPoa9fex0KqbDx7zX8fia9IcVZWwGr10+dcTA8g1ttT271UIq9o14t1mbmZxl3n0LXLe53ycrsdben4nc5U6jQX+kHA0g5hPVaoRV2nM7CyjzmleaTs70odAlb6veoUr1RY082FPAJWqLyb+vHNb36z4+7u9DHXbgJWdv71e94tkhN95ODQNtL6o9fNvLRd9iZX2RxWJl+GErDK5peytV2n61AO0++V6ibdXE5rmDICVnZXXeubZ9uNn74EQ28TTd+W2k7ACpEPOv3ed+LUrr0PAStdu/T6HrT61bR8EDrfYD8/AQSs/KxoaZRAHgFLrqdvLtJ/a7Gmt+zp0+uA1+yPV1UBKxWaNG67NzKlPurubSq+FHlbVPbHpdei0oKAVeRNNVn23XzXoxbabact6FdccUUiXLaeXXX33Xcnr5vXTjvtrtt6662TRaDu9Kl4bH0TZac7mGUErPSNZyqG9BZInfHT7pAw4wfqAAAbrUlEQVTS7M5AFWy6ft3R16f1+nvtMMi+qTJ7BpYENJ3FpS357d6g1TpO0fY+BKwy8dSLE3rNfx/prEhxllfA0vk+dc1F5RZ9VzQPTzzxxOS7kD6a0Y6PRFCd0ac81e4Q93a7+8rOzWzc273ltVNebidgpWfY6PHfdkJd6qN2sOosG52N0u571qk493mIezdBRgsvidNadGVzfd63EOpMyHTHQdnflToErF5v61X+1stQtDsmr4AVIu/22nmcvQGR/b4UzaNF28fMu0Vyoo8cHNJG9jvSLgdlx053auncs7RtmRxWNl/6ELB85pcytZ0etdUh7jqnVrvts2991fW1+00vI2Blbemc0M9//vNDL8Vo5ahdYNpVJ7/09nLtnpdf7QSsMvmg6O+93jJdtD7wIWClaxfltNanWMQsnTt6hFYvZtJ5sqprm5QPQuYabBcngIBVnBk9jBHIK2CpMNBibcGCBcmPVbqQSX90VODqFeR6TEuChxb9Stp6PbbEJn2qCljZxxm1hVmLES36sgfO60ya1rOZUmFLu2f0Y/qmN70p+XHQ2V0qliRA6JMe7Nvpxz4bOgsClooDvZFR25J1xpTOTZB4p4/uROvPdeaL/k6Fg84TybOw1CJWb3PU5xOf+ERSeIwdOzbh/LOf/Sx55EZMdXi5Dl5VvNOdURI2JX698pWvTPqrj8Smd7/73e4Vr3hFWyGp0yOhnb4q2W3mEtIkCuy0005DzVUkSHzTokef1rPbWmMnH9NdGMcdd1wyR3TnVB/Ne80RzWPdEc4KWOnC9zWveU0y3p//+Z8PiX0//vGPE/FPuxe100G7dIq297GQ0jWUiWe/Cli63jrnYvZxFc2ND3zgA27//fcf9gZO5UbNcX0X9SjtYYcdljyWrcdTe+WasnMzG/dtt902WdDo/DZ9V7VDVW+nU75uzcvtBKxs7n/729+e5JVUDNbfae5rB1Mvobj1+9ztEUK9PbPdq+Db5YQ8j/josTGdbad8ppdQZG/CZIUS5ZPzzjtvKFfq+6vfPbXXW730m5MeiF/mdyVdDLW7vnY8ei1g2sUr+7ugHdPKbcr9mkt67Oj9739/khP0yStgqa3vvJs+ivSNb3wjmUPvete7hl4SI0FD3xH9pumTFbCK5tGi7WPm3V7x7vSbaPHPUxHmxS9+cdsbjlmfs7t69BusOlO7oNPfrrw5rEq+7MQwRn4pU9tlBUN951WnpblKYqC+TxLvdZNBf6+arls+6janWo8OUX2kw+MV6/ST/Q5PmDBh2BMa7QSssvmg6O990fY+BKzs2kVv6tYLqXRUhX6PFWvtQNTvjD5pvaj/blI+sJijBtknBKxBjn5Drj2vgKXL1WGrunMrEUOFvF4rrh+y9A6L2qRvqkrfSpWea6HFW/b5714L5E4/GtldD9rtoHOKtCDReQmvfe1rhwrg7ONv+oGQiKEfbwk7qY/puQsSK7TA03kx6W6jXv5ZELDEW5xVkGiBlfLQHTjthtBiWfz1g60DN9NPr0d7FFPx04GfspG+OSV9S4rsSDRSEZQ+aqd4yQ8t1PXRG4dUzKTzQAWMCiiJaSnj9MdZ/CU6qgBKhbNexZPeDCj/dJ3ZeZf1UX6rUNAbkLK7yNpdv+a0FlASQFN/ZFf2Nb8kwGkHjYos3UHTuVgqbLUg1rxu54PikX17Z5n2Vd+GJb/KxLPX/PeR/ooUZ3l3YMmvOueixtN3RPlQO7GUX9LvoRYP6fxXO80rFfrvfe97hz2i2ot1mbmZxj09nzDNe1oIpt8Z5cvvfOc7w24sdDoUX0Kd7grrDnF6fVoAPfzww4mwq++aRAiJd3nzTDvBJrtYlE2dIafvkP7d6VPkoHn5LrFN36vsG3V1HRKoJEql33/9btx///1JTCXiayeP3qaafsr8rnS7Pl8ClvzLxiu9Ho2dniuknKZ5W+QxceURn3k3uwgW49bfGf3/2972tuTtufrdUJ3xohe9qNF5t0hO9JGDQ9nIPnabPb6g23jpTk+1ufnmm5Od3K1zRLVbrxxWNl9ayy9lajudwSnRWjk+/d7rqI00T0s8kTiY3jwpk29TTtkbwPoNaFf36c/09kPd1FRNmH7aCVhl80HR3/sy7dO6NHt8RKffym5rF9040pmUWVbd1iFNyQeh8gx2yxNAwCrPjp5GCBQRsPQDox8i3cHNHuje+oYfLRIknGiXlHbk6CBJPVbyZ3/2Z0OvUe61aOu2tbl1PIkjOuhVP9wSLFSktxbm6dtNtN1ZZ25ofBXIWphIOEl3FKRh6eWfFQFL/orH17/+9eQup+42a2Giw/S1W0KCY+t5Tr0ErHTxqx10EvZ0dpV4qCCSXT0upbPOWh/dk7ioMw7khxY6qfg1ffr0ZPHbyljtdYf9C1/4QrII7naWV7uvi8QqXfdNN92UCE+ykc49LXje8pa3uPHjx4/o2un6W9/eo/kh37WTSgWfDlXV/Mo+DiH22mGma0h90HzUWR66Zu1KyYpnRdr72glQJp695r+P9FWkOCsiYMm3eubiJufcqCEUeixPZ11oTqbzP/3OSETVDq128zEP6zJzM4179i1vEi7e+MY3Jo906FBd5ejszthORblsaT7qBQXKoWqXimISGZRD0x2eKZBeeaadYKO+Wmyp0NfOHI0hUenggw/uOOXyCFhaPGlBrMczdNOj3WPHmjMSp3UHPN2hpHync2O0s1iCXeun6O9Kt+vzKWCl3wGdIaWbCspNymfK3fpN0K5jzYsiAlZ67T7zbrs3GOu3RfWCfr+UL7V4VIyzxwYUyaPpb2TePB0z7xbJiT5ycCgb2YO+9fus71Gvj77ruimlm3HZg8Zb30zXK4dpnLL5sp2PMfNL0dpO/v/iF79IXpajuk21sD76TukGrXJZaz1YNN+2MtIOYwmOt95664jfPR2tcPjhh48Ys9Mh7mXzQZnf+7y1qo8dWCkz3fTQTlY9EZHW6mmd2a5Gbko+6PXd5+/rJ4CAVT9zRoQABCAAAQhAAAIQKEEgXZBld5OWMEMXCEAAAhCAAAT6kAACVh8GDZchAAEIQAACEIBAEwlo14XOYtNZldrJpsfusp/0KAA9QqrH817ykpc0EQPXBAEIQAACEIBAGwIIWEwLCECgfwkMfwKqf68DzyEAAQhAICGgR6n1dlY90iqB6g1veMPQI5N6vEjils4y09/p0U8+EIAABCAAAQgMDgEErMGJNVcKAQhAAAIQgAAETBNod/C1zifr9hIO0xc0yM5xk2mQo8+1QwACEAhCAAErCFaMQgACEIAABCAAAQiUIdDucPleL+EoMw59IAABCEAAAhDoLwLDBCxulPRX8PAWAhCAAAQgAAEIQAACEIAABCAAAQgMAgF2YA1ClLlGCEAAAhCAAAQgAAEIQCA/Ae7s52dFSwhAAAI1EUDAqgk0w0AAAhCAAAQgAAEIQAACEIAABCAAAQiUI4CAVY4bvSAAAQhAAAIQgAAEIAABCEAAAhCAAARqIoCAVRNohoEABCAAAQhAAAIQgAAEIAABCEAAAhAoRwABqxw3ekEAAhCAAAQgAAEI9DEBjjjq4+DhOgQgAAEIDCQBBKyBDDsXDQEIQAACEIAABCAAAQhAAAIQgAAE+ocAAlb/xApPIQABCEAAAhCAAAQgAAEIQAACEIDAQBJAwBrIsDfponkAoEnR5FogAAEIQAACEIAABCAAAQhAAALtCCBgMS8gAAEIQAACEIAABCAAAQhAAAIQgAAETBNAwDIdHpyDAAQgAAEIQAACEIAABCAAAQhAAAIQQMBiDkAAAhCAAAQgAAEIQKAyAY41qIwQAxDoSIDvF5MDAhBwDgGLWQABCEAAAhCAAAQgYJgAC1fDwcE1CEAAAhCAQG0EELBqQ81AEIAABCAAAQhAAAIQgAAEIAABCEAAAmUIIGCVoUYfCEAAAhCAAAQgAAEIQAACEIAABCAAgdoIIGDVhpqBIAABCEAAAhCAAAQgAAEIQAACEIAABMoQQMAqQ40+EIAABCAAgUoEONOnEj46QwACEIAABCAAAQgMHAEErIELORcMAQhAAAIQgAAEIAABCEAAAhCAAAT6iwACVn/FC28hAAEIQAACEIAABCAAAQhAAAIQgMDAEUDAGriQc8H9ToAHj/o9gvgPAQhAAAIQgAAEIAABCEAAAkUJIGAVJUZ7CEAAAhCAAAQgAAEIQAACEIAABCAAgVoJIGDVipvBIAABCEAAAhCAAAQgAAEIQAACEIAABIoSQMAqSoz2EIAABCAAAQhAAAIQgAAEIAABCEAAArUSQMCqFTeDQQACEIAABCAAAQhAAAIQgAAEIAABCBQlgIBVlBjtIQABCEAAAhCAAAQgEIwAr2sJhhbDEIAABCDQ1wQQsPo6fDgPAQhAAAIQgAAEIAABCEAAAhCAAASaTwABq/kx5gohAAEIQAACEIAABCAAgYgE2FcXET5DQwACjSGAgNWYUHIhEIAABCDQ/wRY4vR/DLkCCEAAAhCAAAQgAIEQBBCwQlDFJgQgAAEIQAACHQkg0zE5IAABCEAAAhCAAASKEkDAKkqM9hCAAAQgAAEIQAACEIAABCAAgSwB7s4wHyAQnAACVnDEDAABCEAAAhCAAAQgAAEIQAACEIAABCBQhQACVhV69IUABCAAAQhAAAIQgAAEIAABCEAAAhAITgABKzhiBoAABCAAAQhAAAIQgAAEIAABCEAAAhCoQgABqwo9+kIAAhCAAAQgAAEIQAACEIAABCAAAQgEJ4CAFRwxA0AAAv+/vXsLsar64wD+syK7YBe7EEVgL1kJYZc3ox6ii1RkpXax8MHKoCxKjDAqKrKoLAoFlYjI6TqZVEZUFBVFJEUkRIUPWU9djZKQwpw/vxVbzhxnTP9zZtz7zGeDoHPOXnutz9qCflnrtwgQIECAAAECBAgQIECAAIEdCvzHYQgCLO8PAQIECBAgQIAAAQIECBAgQIBArQUEWLWeHp0jQIAAAQIECBAgQIAAAQIECBAQYHkHCBAgQIAAgcYL/MeK88aPzwAIECBAgAABAqNdQIA12t8A46+pgP+K1XRidIsAAQI7FPjoo4/itNNOK985/vjjo7e3NyZNmrTDe7788suYMWNGfPXVV3HOOefEM888E4cccsiwSWf7V155Zdxzzz1xxx13DOk59957b9x5553R09MTs2bNGlJbbiZAgAABAgQI7EhAgOX9IECAAAECBAh0SKA1wMomn3jiiZgzZ84OW1++fHlcd9115TsCrA5NhGYIECBAgACBrhMQYHXdlBoQAQIECBAgsLsEqgDr8MMPj82bN8cll1wSS5Ysif3333/ALm3atCmuv/76WLlypQBrd02a5xIgQIAAAQKNEBBgNWKadJIAAQIECBBogkAVYE2fPj22bNkSuT3wpZdeihNPPHHA7n/22WdxwQUXlF+ffPJJHHHEEbYQNmGi9ZEAAQIECBAYcQEB1oiTeyABAgQIECDQrQJVgDV37tw44YQT4qabboply5ZF/rn96uvri0cffbR8nrWk7r///gEDrPze119/XbYjvv766/HNN9/ExIkT47zzzot58+bFhAkTBmx73bp18dhjj8Urr7xSPs/VYFnz6oMPPhi0BtZff/0Va9asKc/KseQ1ZcqUuPrqq+P888+PsWPH9nuWGljd+iYbFwECBAgQqJ+AAKt+c6JHBAgQIECAQEMFWgOsrH01e/bsOPXUU2Pp0qUxbty4fqP67bffSn2sAw88MG644Yby+/YVWLmKKwOuhQsXRm43POmkk+Kwww6L7777rgRZ48ePL21feumlMWbMmNJ+Bl7PPfdcqatV3ZNF4devX1/az0DqkUce2a6I+88//xzz588v2xmzr5MnT4699torvvjii9i4cWNcddVVsXjx4vL86hJgNfRF1e1//65ExL9/a1wECBAg0AQBAVYTZkkfCRAgQIAAgUYItAZY9913X9x+++3x7rvvDriNcO3atTFt2rSy+ipPLswQqj3AeuuttyK3Ix555JElPJo6dWrssccesXXr1li1alUsWLCguOTJghlM5fXpp5+We/LKcKu6J8OsRYsWxQMPPFA+az2FMFdeZV/zGddcc01k36ugKoOtBx98MB5++OESpN19990l2MpLgNWI11InCRAgUF8BSXJ956aGPRNg1XBSdIkAAQIECBBopkBrgJXbA19++eWyXa99G2GuksqQKOtjvfDCC2Ww7QHWn3/+WVZmPfXUU9HT0xOzZs3qh5Jt5Fa/a6+9Nm688cYSMmWwlAFTBksrVqwoW/+qlVl5c7Xqa/Xq1f0CrKoW18knn1zazCCt9frpp59KsJWruHp7e2PSpEkCrGa+onpNgAABAgQaKyDAauzU6TgBAgQIECBQN4H2AOv7778vwVQWcW/dRvjLL7+ULXnHHntsCZ42bNiwXYCVda9mzpwZuf0vV1jlKqz2K7cSXnHFFeXHzz77bBxwwAGl3Xzuiy++GMcdd9x29yxfvrxsL2xdgVX9LLcW3nzzzQOyZo2uXIH1/PPPl77mZQVW3d5A/SFAgAABAt0rIMDq3rk1MgIECBAgQGCEBdoDrNzud+utt8Ybb7zRbxvhO++8ExdddFFZXXXxxReXelbtK7Da29p33323G83vv/9eVlnld1977bVST+uyyy6LQw89dNDTDLOI+xlnnLEtwPrnn39KcfcMqKoaWwOx5VbCzz//vF/wJcAa4RfM4wgQIECAwCgWEGCN4sk3dAIECBAgQKCzAgOFTrmNME8ArFY3ZWCU2/yyvlUWWz/mmGP+7wBr8+bNZcVUrqD68MMPS3A1UC2t1lFWfaxWYLW2sTMarSu3BFg7I+Y7BAgQIECAQCcEBFidUNQGAQIECBAgQCCirITKguxz586NrIGVq6a+/fbbuPzyy+Poo48u9aWytlXWs8rVTllQfe+99/6/A6xqBVaeFJj1tPbbb7+yAuvggw8uWwpbTwysJqg9wPr777/jtttuK/1t3R64MxMqwNoZJd8hQIAAAQIEOiEgwOqEojYIECBAgAABAoMEWFVAlOFQbvPbuHFjnH322WUF1llnnVXcBtpCWP0sw6jBamBV4diee+5ZAquDDjqobCmsAq2svdV+Pf300zF79ux+WwEzvLrllltKTas8jbC18PuOJlaA5bUnQIAAAQIERkpAgDVS0p5DgAABAgQIdL3AYHWrXn311bjwwgtLwfY8CfDjjz/uF0oNFGDtyimE1YqvffbZp6ykmj9/fixevLhsL2wNo/7444+YN29eZIjVuhVw7dq1MW3atFL0feXKlXHUUUf1m6tqm2EGY9n29OnTy+cCrK5/pQ2QAAECBAjURkCAVZup0BECBAgQIECg6QKDBVjVaYG//vprZIiUq6TuuuuuyJVTeQ0UYOXPc5VWhkV5AmEGUlOnTo0sDL9169ZYtWpVLFiwoNyfK7SmTJlSfr9+/fpyEuEPP/wQDz30UKm/lfdkIJZ/zvpbebUGWBlQZbH5JUuWlO2OixYtigkTJpTv5WcrVqwohd5zRVdPT8+2zwRYTX9j9Z8AAQIECDRHQIDVnLnSUwIECBAgQKDmAoMFWK0n/Y0bNy5Wr14dZ5555rbRDBZgbdmyJZYtWxYLFy6MTZs2bTslMAOxvGf8+PGxdOnSUri9daXV+++/X7YJ5vcmTpxY6m9lsJXbF0855ZR47733+gVY2ZEff/yxrM7q7e2N7OPkyZNj7Nix5b6qnQyyTj/99G39FmDV/IXUPQIECBAg0EUCAqwumkxDIUCAAAECBHavwGABVvbq7bffLrWvzj333LJNL08MrK7BAqz8vK+vL9atWxdPPvlkvPnmmyW4ylBqxowZMWfOnG2rodpHvmHDhnj88ccjT0HMACoDsyzWnqFUhlCtK7Cqe3O11Zo1a8qzcixVaDZz5szyrPai8AKs3fu+eToBAgTqI9AXEWPq0x096UoBAVZXTqtBESBAgACB3SPgn6+7x91TCRAgQIAAAQLdLiDA6vYZNj4CBAgQIECAAAECBAgQIECAQMMFBFgNn0DdJ0CAAAECBAgQIECAAAECBAh0u4AAq9tn2PgIECBAgAABAgQIECBAgAABAg0XEGA1fAJ1nwABAgQIECBAgAABAgQIECDQ7QICrG6fYeMjQIAAAQIECBAgQIAAAQIECDRcQIDV8AnUfQIECBAgQIAAAQIECBAg0H0Czjbuvjkd2ogEWEPzczcBAgQIECBAgAABAgQIECBAgMAwCwiwhhlY8wQIECBAgAABAgQIECBAgAABAkMTEGANzc/dBAgQIECAAAECBAgQIECAAAECwywgwBpmYM0TIECAAAECBAgQIECAAAECBAjsqkD/OmgCrF31830CBAgQIECAAAECBAgQIECAAIERFRBgjSi3hxEgQIAAAQIECBAgQIAAAQIECOyqgABrV8V8nwABAgQIECBAYAQFHKM+gtgeRYAAAQIEaisgwKrt1OgYAQIECBAgQIAAAQIECBAgQIBACgiwvAcECBAgQIAAAQIECBAgQIAAAQK1FhBg1Xp6dI4AAQIECBAgQIAAAQIECBAgQECA5R0gQIAAAQIECBAgQIAAAQIECBCotYAAq9bTo3MECBAgQIAAAQIECBAgQIAAAQICLO8AAQIECBAgQIAAAQIECBAgQIBArQUEWLWeHp0j0CQBx5w3abb0lQABAgQIECBAgAABAk0SEGA1abb0lQABAgQIECBAgAABAgQIECAwCgUEWKNw0g2ZAAECBAgQIECAAAECBAgQINAkAQFWk2ZLXwkQIECAAAECBAgQIECAAAECo1BAgDUKJ92QCRAgQIAAAQIECBAgQIAAAQJNEhBgNWm29JUAAQIECBAgQIAAAQIEOi7gOKKOk2qQQMcFBFgdJ9UgAQIECBAgQIAAAQIECBAgQIBAJwUEWJ3U1BYBAgQIECBAgAABAgQIECBAgEDHBQRYHSfVIAECBAgQIECAAAECBAgQIECAQCcFBFid1NQWAQIECBAgQIAAAQIECBAgQIBAxwUEWB0n1SABAgQIECBAgAABAgQIECBAgEAnBQRYndTUFgECBAgQIECAAAECBAgQIFAjAWdM1mgyhtQVAdaQ+NxMgAABAgQIECBAgAABAgQIECAw3AICrOEW1j4BAgQIECBAgAABAgQIECBAgMCQBARYQ+JzMwECBAgQIECAAAECBAgQIECAwHALCLCGW1j7BAgQIECAAAECBAgQIECAAAECQxIQYA2Jz80ECBAgQIBAowTUcW3UdOksAQIECBAgQKASEGB5FwgQIECAAAECBAgQIECAAAECBGotIMCq9fToHAECBAgQIECAAAECBAgQIECAgADLO0CAAAECBAgQIECAAAECBAgQIFBrAQFWradH5wgQIECAQH0ElI+qz1zoCQECBAgQIEBgtAkIsEbbjBsvAQIECBAgQIAAAQIECBAgQKBhAv8Dk/9MJwFVETwAAAAASUVORK5CYII="/>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8" name="AutoShape 6" descr="data:image/png;base64,iVBORw0KGgoAAAANSUhEUgAABLAAAALmCAYAAABSJm0fAAAAAXNSR0IArs4c6QAAIABJREFUeF7s3QvYHdOh//H1Jogg2oioRkmKNKgKjVYiKUJIKy6pSxKXukbd24M/RzmnqFa1Pa3jGnEvcUtdUqQqBAlB0xJxUCl1Cy3iHkRI8v6f39L1dt6V2Xtm9p6991y+8zyelncuaz5r7dkzv73Wmrb29vZ2w4IAAggggAACCCCAAAIIIIAAAggggEBGBdoIsDJaMxQLAQQQQAABBBBAAAEEEEAAAQQQQMAKEGDREBBAAAEEEEAAAQQQQAABBBBAAAEEMi1AgJXp6qFwDRPQwNm2hu2dHSOAAAIIIIAAAggggAACCCCAQIoCBFgpYrIrBBBAAAEEEEAAAQQQQAABBBBAAIH0BQiw0jdljwgggAACCCCAAAIIIIAAAggggAACKQoQYKWIya4QQACBZggwArYZyhwDAQQQQAABBBBAAAEEsiRAgJWl2qAsCCCAAAIIIIAAAggggAACCCCAAALLCRBg0SgQQAABBIotQJe1YtcvZ4cAAggggAACCCBQCgECrFJUMyeJAAIIIIAAAggggAACCCCAAAII5FeAACu/dUfJEUAAAQQQQAABBBBAAAEEEEAAgVIIEGCVopo5SQQQQAABBBBAAAEEEEAAAQQQQCC/AgRY+a07So4AAggggAACCCCAAAIIIIAAAgiUQoAAqxTVzEkigAACCCCAAAIIIIAAAggggAAC+RUgwMpv3VFyBBBAAAEEEGiEAG+ubIQq+0QAAQQQQAABBOoSIMCqi4+NEUAAAQQQQAABBBBAAAEEEEAAAQQaLUCA1Whh9o8AAggggAACCCCAAAIIIIAAAgggUJcAAVZdfGyMAAIIIIAAAggggAACCCCAAAIIINBoAQKsRguzfwQQQAABBBBAAAEEEEAAAQQQQACBugQIsOriY2MEEEAAAQQQQAABBBBAAAEEEEAAgUYLEGA1Wpj9I4AAAhECvPCMJoIAAggggAACCCCAAAIIVBcgwKKFIIAAAggggAACCCCAAAIIIIAAAghkWoAAK9PVQ+EQQAABBIIC9FajPSCAAAIIIIAAAgggUE4BAqxy1jtnjQACCCCAAAIIIIAAAggggAACCORGgAArN1VFQREoiwB9bMpS05wnAggggAACCCCAAAIIIBBXgAArrhTrIYAAAggggAACCCCAAAIIIIAAAgi0RIAAqyXsHBQBBCRAXyvaAQIFEuADXaDK5FQQQAABBBBAAIHsCRBgZa9OKBECCCCAAAIIIIAAAggggAACCCCAQECAAIvmgAACCCCAAAIIIIAAAggggAACCCCQaQECrExXD4VDAAEEEEAAAQQQQAABBBBAAAEEECDAog0ggAACCCCAAAIIIIAAAggggAACCGRagAAr09VD4RBAAAEEEEAAAQQQQAABBBBAAAEECLBoA4US4CVYhapOTgYBBBBAAAEEEEAAAQQQQAABK0CARUNAAAEEEGicAKly42zZMwIIIIAAAggggAACJRIgwCpRZXOqCCCAAAIIIIAAAggggAACCCCAQB4FCLDyWGuUGQEEEEAAAQQQQAABBBBAAAEEECiRAAFWiSqbU0UAAQQQQAABBBBAAAEEEEAAAQTyKECAlcdao8wIIIAAAggggAACCCCAAAIIIIBAiQQIsEpU2ZwqAggggAACCCCAAAIIIIAAAgggkEcBAqw81hplRgABBBBAAAEEEEAAAQQQQAABBEokkOsA65lnnjG//e1vzdKlS22VrbTSSubQQw81X/7yl0tUhZxqXgU+/vhjc8UVV5gXX3wxlVPYaaedzIgRI1LZl9vJO++8Y+bMmWOefPJJo///4Ycfdux/1VVXNT179jSbbrqp2WKLLez/Z8mfQK3tcIUVVjBqA2uvvbb52te+Zv/p3r17/gBSKvF7771nLrzwQvPuu+/aPTbi8+gXtRXHTImL3SQQ8D+jAwcONPvtt1+CPSy/6v/93/+Za665pqZ9BD/7m2yyidlss83stYClusA999xjpk2bZlf6/Oc/b44++mjzuc99rtNG1157rZk7d679b/369TOHHHKIWXnllaFFAAEEEEAAgX8J5DbAam9vNzfffLOZPXt2p8r85je/afbcc0/T1tZGJSOQaYFag4NKJ5XmA/Prr79upkyZYp5//nmjz1rUos/bl770JbPXXnuZL37xi1Gr8/cMCaTVDldccUUzfPhws+222xr9/7ItrQiTWnHMstVrFs43awGWb6LPu75/vvWtb5kuXbpkgSyTZSDAymS1UCgEEEAAgZwJ5DbAevPNN83EiRONbuCDi37NOvzww82aa66Zs6qguGUTSCs4cG5pBVjqbTV58mSj8iVd9Mv8t7/9bfsgQ4icVK8166fdDtUjY+zYsaXrjdWKMKkVx2xNKy33UbMeYKl2dL3fcccdzQ477MC1v0JzJcAq9+eYs0cAAQQQSEcgtwHWo48+ah+y1TvkC1/4glm8eHHH0I1ddtnFbLPNNukIsRcEGiTgP5QodN1uu+1q7r2ink8azlXP8tJLL5krr7zSfPTRRx270S/q2reGM6iXlf592bJl5pVXXrHDH//5z3/af3eLQqwxY8aYzTffvJ6isG2TBGpthx988IHtoff3v/99ubBTD7IazlqmELMVYVIrjtmkZslhAgLNCLDUc3LYsGGR7pqyYf78+XZY+VNPPWWWLFnS6dq/zz772OHELMsLEGDRKhBAAAEEEKhfIJcB1qeffmofsp977jkroN4eCxcuNI8//rj9d+YNqL9hsIfGC/gPJa1ut2E9cQYMGGD22GOPqvNbaW6sW265xcybN68DbfXVV7c9IXv37t14SI5Ql0C97VDb/+53vzOaU8ct1H9dVcLGCHQSaEaAVUsPXl37r7vuOqMfPtyy4YYbmoMPPrjmH2KKXPUEWEWuXc4NAQQQQKBZArkMsP7xj3+YSy65xPYS0S/8BxxwgO0BMmnSJNsji8ncm9V8OE49AvUGB/UcO2xb9aTRpPIKiLX079/ffO9734s1gax+lb/xxhs7QmRtr95kO++8c9rFZH8pC6TRDhctWmRfqKEeWW6hJ2zKFcXuSiuQ1QBLFbJgwQI7ncP7779v60cTjo8fP96st956pa2vSidOgEWTQAABBBBAoH6BXAZYf/jDH8z9999vz15vPjvyyCPtsCbdROlmSguTudffONhDYwXSCA7SLGHw5lqT8urtRxtssEHsQ/gPMuuss4457LDDzCqrrBJ7H6zYfIG02uHTTz9t32rm3gqrubAUgHbt2rX5J8URESiQQJYDLDHrhTp/+tOfOsT33ntv841vfKNANZDOqRBgpePIXhBAAAEEyi2QuwBLva4uvfRS8+qrr9qa23TTTe3rpBVgBd9KyGTu5W7YeTj7tIKDtM41+PruSq/4rnYsBRcKMBRkaNFr1TWMsN55udI6P/YTLpBWO9SLNS6++OKOnhjqgaGeGLwCnpaHQH0CWQ+w/vznP9thxG6pZThifUL52JoAKx/1RCkRQACB8gjoTfNtuTvd3AVYwV/5NXxQk0UPGjTIwj/zzDN2GIvrAVDPEJYPP/zQPPHEE0Y3Zq+//nrHsCo9lGtC6yFDhhj1MIjbu6De/QXDhbhzJWlOGgUKWip16w+u4/ar4UB33XWXndNGw8l0zhpOprcLacJ8f9EE+qqXuXPnmpdfftnoXDWUU4t68ihM3GijjaxZkjmRtI833njD/rKr/b/77rt2qKjCSs2xo7k2NP+ZApLgZNHa7vrrr+8YzqYeQN///vdNnz59Yn1Agz38VF6FMDpe2ktawUFa5brjjjvMzJkzq7aXqGPpBv3ee++1bUZtbty4cUY9saotrv3os6ZgWu1PS/fu3U2vXr3M4MGDzcCBA023bt2iDm//rv2pLT7yyCPmrbfe6tif2qLa72abbWZ7B6iM1ZbgBNnu86PP/kMPPWQefPBB+wZU7VP/TcMldT0Ie4V8pfLUen6xEBKslFY79CcUDwtBgw9wqlP9+KCXAKjtvfDCC/barc/aV7/6VTN8+HB77fAXraPrwcMPP2y31fXGXWvUXvTygK222iqyfv396tqi69fs2bPNs88+a4M4XUv0UgKVQ2UaOnRoxfngkk6orvXV5tVW1U7dZNhqFzqe2qm+29TLuNKS9Jjaj85TL19QG9b/uuu12q7q7Ctf+Yq9VvvXVb8MfrtRbztN3q39q370OQl+nvV5+/KXv2xfsNK3b9+GTPDvvjPk+re//c26uiHR+o5QGXRe+vzrxy99fistYd+Nug7I/IEHHrCTmLvvJLURtb0tttjCbL311olCW/nrO27OnDkd7UD7Uzn1/aZ2oHPQ8G7Vlxb32UnwMV9u1eD56Y/1hE61BliaQ2vWrFl2Mni56jPg6kn3I5pUXv8bdl2tdu713m8F951mmyLAqqfFsi0CCCCAAAKfCeQqwPKDCT9c0IOvemfp7Wha9MY0DWHSA0HcRTeKM2bMMPfdd1/HjW+lbddYYw2jN+7oZrzSktb+mhVg6SZWb3fUjbm/+MMy9SCpoZwKLNxDQjVn3ZjqIV/DC6KGlenGdsqUKTaUdGFY2L4r7dMfzhQ3zPR7+OlBeM8994zbfBKtl1ZwkOigVVYOvtlTq+nhea+99ood0iYthx50H3vsMRteBN96GLYftReVRSFCpTfbJWmPenBVQKI3b1V6iPUDLIUtCk1cD7NgOcOCTp2fHnSnTZsW+fnQ+amNfv3rX0/8sJbU3V8/rXbohylhPbD8AEsP4rreqAz+4n9mdR3Qg+5NN90U2V7i1G/weArCVA7Xs7eSqR6kFe5obje/3cQNk9ROp06dagOe4Ns7w46p48nou9/9bmgoEveYbt8K5tRT+e23367abPQZ048Oo0ePrhighQVY+pFAk3rrLXWVliTfA0natn5ouuGGGyLr0O0z6priB1iamFzhZtTnOWq/7vhxrw+6tuiHOrWZrAZYSYcQ6nqvHlu6llb7fpeVfgDR+euHgqglrfstd5y02xQBVlQN8ncEEEAAAQSiBXIVYGmIiua50k27lrB5roK9Z9Q7Sr8KKzSJsygAU48l93bDONvoZlUPtuqh5C9p7q8ZAdaaa65pbyb1q7W/+BPj6yFMD5IKPZIu+oX/wAMPrBgcqBfEVVddZT744IPYu9avtJrMf7XVVrPbaFsNZ1IPLi1xe60Fe/E1+mUAaQUHsZEiVlSPk+A8cu4hdtdddzVqG2kuaj966FH76fQAU6Unq3ol6IFan/uwz5omkQ8Ll6qVW734dI0IC7n9AEs9ItwDpL9Pf8J6PUjdeuuty59flcLIW+GIvOP27EyjTtJqh2EvATjooIM6fc6DD3B6IFVPCTf5c/Bc/CHgethXUK7to0Kf4H507R87dmzVHzH09lo9TMcJ4d2+FSrpoToYYsUJk2q9bq6//vr2mum30zjHVJn1GVOY+sc//rGjp1ectqPrqeowbEJuv90o1FNPorDvj7BjRX0PxCmfW0dvwdObiaOCcH+fuqboe0Nhnb8EAyz9SKV/ZBgVuGg/1farv1e8/lU46R49etjg3n1WstQDy5/7MKrHs9ZXT3n33RynntXzTZ839ZqrtKR5v6VjNKJNEWDFqW3WQQABBBBAoLpArgIsDXm47bbb7BlVmmQ6+IZCrRd3MvewBwvdiKkLu4YbaFiLblx186WQLNgzSL+QqqeXhl+4Je39NSPAcmXXzaJ6P6gHjm6a1Tth3rx5djiDe2DTw6SGGbqbefVG23HHHe2DgBuapQdC/YKp9TScw61bLVhUzwD1ogs+BCk4GDFihB3aorJpv+pJoLYQ7Emw5ZZb2t5S7uE/GGbGeTOSyhecRy1u6FXrRSat4KDW44dtp4d59URxw5ncOqpfPTyoTay11lp1BSxynj59urn77rs7DTVV/enzpqE47mFNN/wanuJCC30mDz30ULPuuutW/aypnWq4l3rQqexa9PCnfek6EnzQrdTTzA8HtA+VS+XUw7raufapXmQbb7xxx/Ba93D6l7/8paOMKvf2229ve9PoWqL9uGEu+ny48ui/63Ok4bqVepqlWd/aVxrtUOesEEgWbgkbkhR8gHPr6bq5xx572M+32oZCQl3H1RacgX+9cfWra7Pai3oq6Tx0XVZIE7wuVOtJ6D+k6ngKi+SvwELH0X41nFzXk2A9jRw50tapW+KESSrf1Vdf3fH5Uu+SUaNG2d7Cbq6wSu0iOFw+yTG1rv+51nnKW+epz5KumTpPXadVR6+99lrHeclX32/uc+T+4Lcb7UPtQHWhnoTq4Vjts5z0B6ZK7V69hfWd4V7gouNrGKl6V7prldqVftTQsL/g5037VIit3lV+j7pggKV9ah/6Rw7f/va37Xddte+jSvvVMXUNuv322ztd/9Tedc3S9UGO+gyozenNnn5olpUAS58HhVEa/usW9ZLdf//9Q78j/LrSNvoM6Jqnz508da3X9796wet6Erz2q57Cerynfb/VqDZFgJX2txf7QwABBBAoo0BuAiyFFvqF1fWOqjQ80F8v7mTu/pAz3fjqF++wOZvCHsD9Hhhp769ZAZZ+OdbNZ7Vea35PnUoPOO4DFeYVNjTPD5D0kKWHTw2fCRvmpV9cdfOsG3wtfo8p9eS67LLLOoYn+XXkf+B10zphwgSj4Yta4g47rPXC4T8A1rofN/dMrdsHt4vTU0P1otBhwIABtp3oTYXV5pLxy+WHzOrloXPQ/Dhhi//w7V7c4IJK/V29r9zcd3rAVK+RSpPH+z0AdD4KPv2eXWEBltqt2mO1OVn8kELhlnoBVRo26z8Exglb06jrSkFE0uA2rM1U6oXhB1iqe73tUtfzSosCdAUUrkemHnh1jdJ1J2zRd4CCaBemqZ3IX6FGcPG/K1SnCsoVSoXVrx+u+98tUQGWPwReD+I690pD3PUQr/N2YZx6+f67R9tnXRWjjqnz1fXskksu6fhRQNf43XbbzYa7YSFpWO/BsFAi7Pqlete8d2E9mnT+6qGlnokukFGdaBh+PWGt5u3TMGQtcQJgvx4rvWzCnyNK+9d8VBoCHzYfn9rn5Zdf3jGEsdLn2K8PmakXmAIcf1F4o7Bfn5tgiNXKAEv1rnsAXXc1DDb4Y0DYDwzB+wDVveYm1KJ2qJBbc6JVup7qu12BrztGpWtT2vdbjWpTBFhpfnOxLwQQQACBsgrkJsDSL3y6Ofzkk09sXVWbcNSfUDQqiNCDrwIi/TqrpdpNWKWHPj1U6VdqbZv2/nTMZgVY1X41ducenCvJn0i/0gfJD73CbsD9IaIKRhQiVnuLmR9S6WZY9a0lbugZdl7NeINeFgMsZxF3TiD30KgwQfaaxDhqsvVgzzg9xOgBVpM/V1r83j3qoXDEEUfYYY1+HautKBTQg061xQ9FwgJxPxyIGhoT1uYUhOslABoCVG3xw4q4PUfT+OKqpQeWHqwXLlxow2M97CmUDD5ga+J9BX1+MOEHWFHn6YfaCrx0nY2aD0fhtia9Vg8rLWHXNf87xe/BGWbrh6UKM9QLTEtUmOQ7q4fSd77znapVqGBG11u1H10P9b0XDLyijqmdBx/G9e/q7aKgrlpopM+VfhxQjywtYcOpw65fUd+1/hyD9b6pstZ5L4MmcV5wIoM4L/Tw7z323Xff5YLTYE/ySuF5sFHo+qeAXm3PLY0IsOq9lkQN8/N/uKh0jfDLoSBavTvlENZrL+37rUa2KQKselsZ2yOAAAIIIJCjSdyDD71RD5J+EBI1mbv/+veohyrXcHQjql9H9ZYo/ZquX+71oJH2/nS8ZgVYGhoRHBYT9iHR25J0U6lhJnqYGj9+fORb+vyHnc69CT47SvDmP+7wEj1o6RdaBRJ6qNWwGA3DcL/oxhl2qmP7N8F+L59GXCyyHGDpfBUeqI4174t+4Y4zv0zU5Nn+A2ycwFRlUa8mPcTp86XPs4YH6Y2CfoAZ97Orffrz5SksDfYc8cMB9ZDQEJZqAZ28NI+YezNe1AN9sF0FJ0JW8KWQzs3p1oj25/aZVjt0+6s0X5P+HnyA08O7ep6od0+lxZ/LLkn9Bj/7YYF08K2bUd8prnwqj3pFyUwTlqtHjkJbLVFhku8c1QMrTp0nPWacEMYd1w/4/F6z/vkEg+VqZQ9+l4W9qTLOebt19MOIvoNVVgWqCgUVpEctwd5V+q7xP/va3u+BFfxxpNL+/euR/0Obvq80v6OGwGsJ/vBVrcx+XWQpwIoz4b/OLfh5jPt503b+NcBvh2nfbzWyTRFgRX0y+TsCCCCAAALRArnogeX33gkLP4Kn6v9qHxWG6M1WCkG0nW7GNDylWo+QKNa096fjNSPAivNAGXXulf4ep5eH3iDlhv0oFDzyyCM7zStWy7H9MLPSWwWDN8FptIE4ZfVN1KNIwxyTDMfTcTT0Ljj/WpxjJ11Hnw19DjUXmsIsPVDpl+pKi3qLaFigP2xObwhVAOC2refV7Tq2H3qGPYhWKqN656hXp3sDnl8WPxzQvD4aHlVtCZZHPRI0X1e1t5QG96UeFnqDm5ak2yatz+D6aQZYCq/U60RhRtgSfIBT+K3eVNWGD/oTw4f1aIlbv8FtFy9ebIeku+HHSYdNhh0zKkzSNv7b2hRUqt25+f2S1mPUMf2H+yRvVVW70BBshTJafKM41/SoNlBvgJXUy63vh1Nhw7DjrOMfP6o+/L/HrQ8/+G91gKXPrn4wUjkUQFf6vDsf/UCkF+S4l2wk6Xmn755JkybZQFGLv20j7rdqaVdx2gsBVi2ybIMAAggggEBngVwEWMH5DeIOWfPnRKjWoybpQ1VUI0p7fzpeMwKstOfe0a/Nmm9IdaGbTPWSchOyRj0MxentElUP+rs/70ylHgjBISVJeinEKUOldWp9AKznmGluq15GGmKkV8srDPInfg97y1jwJj+NwDTYiyZuDxBn4D9M+g+FUQ+jYZbB8tRrnebcZtXKUm+ApWGgCunU+0U96qrNDxbnAS5YVn9IVj2mwYCylnAy6thx2sv8+fNtaOr3ZnTzyikM0LxQ6pkT502UUcf0A8DgkMeo8/G/d/ywyW83cUOVpG0gTjmj1nGTuOsFAboG6boVrIOoACvud2NUffg9tDQXmSZvj7ME7wHiWlfbrx+4qFdrWFl0nde6Dz/8cIeZPvMacqsXEEQNGVcZ/AAuzvlWWsdvh42434pTvlraVJy2X8u9Xpzysk4zBaq8TrmZxeBYCCCAQEEFMh9g+UO7aq2HanMaTZs2zQ5t0ZLGL8Jp789/kIjbWyB4gxpnno+4N+l+HehBRg9mCjH01sFXX33VDqGq1kMnLMAK/tqfxg26K2cwzAzrjefPoxT3V/Fa26LbLu8BVvD8dS5Tp07t9MbAsLDZ72Wk4af6Rb3WpZ7hSL6/JqTXg6wLDqIeRsPKHCxPrefktksaNtR6vFp7AmqyfP2ja2u10CpYrjgPcJXWr/X83HbBIWB6YcOFF15oh/1pqbcnoPYRt73oM6A5fXTdqbTIUz1chgwZYnu5VAoJoo4Zp1dINddgffkBcRYDLPcGOwVFCqv0A4p6oWkYmvvxJOx8mxVgaSi05hZzL5xIElIH7yvS+H7020bUZ0AhlHpRKRR1i4JW9XqN6gEc9kKMWj/PfjtsxP1WsGxptqk41z8CrFpbBtshgAAC2RJoRJTdiH1mSy1eaTIfYPlDIOKdVvhaleajqechOOohNo1ATMeo5aam0QGWelTddNNNRsPC/Nd8R9WTH2BF9YaJ2l+1v/tzaPhvvgr+Kh42WXE9x662bZECLJ2n2oAmnNYwKfeA5g/3Dd7A1xqYBk3r+exG+UeFA1Gf/XrbTZLeGfUcK8qhnn3728Z5gAtu40/6Xk9ZgsF01FxFtRwnSXtR0K852DQkt1qwonKot4smvNaE7/7w4qhjphlg+Z/XLAVYCgPVi3bGjBkdQ4KT1GGzAqx66iP4WWhFgCVP/82/+m8awq4Qq9JbVrVOmgGW/2NkPd8B1dpII9pUnOtfLfd6Sdo66yKAAAIIIJB3gcwHWP4blOoBrzSZe3DYTxqBU9r7y1qApaDivvvuM/rls9rDl5snQ8OKFGTcfvvtFedTacQcH8G2Epyw259fK/i3uL3b6mmHbttmBgdR5VXvqblz59peIXpAqHUCcb83m/958ueIanUPrGq9/qLCgagAK41rSVS9pfH3ZrbDOA9wlQKszwKUQ8166/Wt+7T9H0aiep/EOWAt7UVzcamHqD57mti7Wq+sQYMGmb322qvT0MKoY9YTmOicq/VuyUqA9fbbb9s3Tr7xxhsVq0k92vR5VNiinpYKYvTji1uaFWDV0wMrCwGWvPw3puq/6UehsWPHVhz22sgfqBpxv9WoNhXn+keAFedqyzoIIIAAAmUWyHSA5d8g6wZUv/TFfTOXeoFMnjy5Y6LeSpO5pz2HQtr78wMsDds56qijIidObVQPLA2Bkaub80hDxfRGOL2RS3Ph6P8rBAnO4RL1kOz/Pa05sNyHO9jjIji0zX9ldpK3xtV74YgyqXf/SbYPTi5db8+o4AOFP1F32nNgBR+wszAHVtCx2rDlJHXT6HWb2Q7jPMAFzzf45rJKb4urxadVc2BVK2vwRQl606s/r1zYkNyoAMt/UUHSYanVerdkIcAK6xGk65feJjpgwACz7rrr2jeX6joUXOIEe3G+P/36jKoPv+dfnLf+umMEX3LSqh5Yrixh9wAjR46s+AZjvxd01It4knym077famSbinP9I8BKUvusiwACCCBQRoFMB1j+q6OTvELdVWbwAUj/LWwy9+C8PEkmltav+Hqjmnohrb322vYNcnr7Wtr78wOsuD074gzXSnqT7gc+GnI3ZswY+9ZG2VVaot5o5b9pKG5Ip+OpV49CEwUG8t9xxx2XC/f8nkGuHWieFP16r78nDUDqvWA0MziIKqv/OVFb3nnnnaM2C/178EHLb6v+A3XcBzj10FNvKb0rS6koAAAgAElEQVQJUW9r1HCwLbbYoq63EPoTXEe9hTBOL52gY7PeZllTJQU2amY7jPMAFzwfv8dKnDqI4+Ffj5IE5rrWaKisghEFJTvssIOdoyoqvIhTruA6uibdfffddlicG6Ltvwkz6pj1vIXQ7xUb9eKNuKFK0jZQzU31oB9TnI9eHKG3TVYbzqb9Bb+j9e/N6oGl69dFF11k1MNHiz+cvdK5qi1cddVVtpeelrjW1eySzoEV3Jd+HFQPNvm7ReZ666pCQ3/xy5/WW4b9ukzj/q2RbSpO2yfASnqlZH0EEEAAgbIJZDrACvZmqNR7KqrCdAM/ceLEjsl6dZP1/e9/3/Tp06dj09dee82uo4nHtcQNynQDqNc76+ZZc5MccsghNkBJe38qU/DG53Of+5w5+uijq06c6r+2Oq1J3DXflUI7N0F73Btw3yRsqJ7f20IPFRruUW3x3zKoSWUPO+yw0AeY4P5lePjhh5tHHnnEzp2ipdqbKqPaWS1/b2ZwEFW+f/zjH+aSSy7peMuUAkQ59urVK2rTTn/XA5o+S5o8WYtfz/4v8RpeevDBBy83t49/UL/ngutJ4v/3uJ9d7T84dDSsd09UOBAG44fueqvc/vvvH+uNcomgU1y5me0wzgNc8NT867c+3xp2qrC63iX4/RL2vRC2/2oT/0e1F10DFUbpJRcKhw466CCjYe3VlqgQKeqYfnmTvGHVb8v+yy2y0AMrGJYn6TkarHv5NyvA8r+X49aHf31udYAlM4VwuhfQkEK3hL151v0teL1V0LTnnnvae616l7TvtxrZpuJc/wiw6m0RbI8AAgggUHSBzAZY/oPwWmutVdO8PH7AoQr1e5f4vXM0RFEP73oLVKVF2+htQnodt5Zg+dLen/Z/7733mj/+8Y/2WHHCPP+GN60Ayw8Mgm/2qmSlOtDNqx7e3BIWYPllrnYz7PajieR1E61gREu1NwgGH4Z1A635ZNR7S72wWtFbppnBQdSFTA9WejPaY4891rGqwgKFL3FDrLBf5f3PmtqCHh5nz55tj6MJqg844ADbk6Va+7n11ltt2KglODTP/6ypnStIVvuqtvjtJuxBMiocCNu/30NR56ceigp6qy1y0Tnq13+dn8qjSdw1HLfRSzPbYZwHuOD5+m+h1edUPSzV66laj0/tQ4G1rjvyVG+pUaNG2R8Y3BJ8O6n+myZK/+53v1t1v+oRdvXVV3cMnw5OtB/VXqJ6/IXVsx9g1fKmTH8eSfmNGDGi6nn6329h3zlZCLCCD/txe9AqXFfIrnsMtzQrwNLx/B4+UfUR9v2ZhQBL56LvC31vuJd2VAum/EBU3yu6z9KPJdWWhQsXdvzAqJ6OG2+8sVHPXfdmzrTvtxrZpuJc/wiwGv2Nx/4RQAABBPIukNkAy7/JixOUVKoM/0ElrJeOhhTceOONHTdimstJN7W6KfYX3VBOnz7dDu9wQxf8oS1p788fSqMhL5oPzJ/bQ2XVjbled63hWm5JK8Dyf+1UcKcebWFOOrZubHXTpknfgxO+hwVYfoiim+Ftt93WaG6N4Hxa7pz8uSqifoH3w8z11lvP/nqsnndxfwlP8wPfzOAgTrn9UEfbqGeKQqghQ4Z0PDCE7UvhoCbpVzt1nwmZ6gHFf8W6H4LqAUa9UTQMN2zx51vRMCr1wHJtwv+sRe1PD7AKn92kz2pnu+66qxk2bFinw0cFEpVM/WuXDBXS6TMbtsjrgQcesAG1m1fOfT66rbyyqTwwN06tRq/TzHYY5wHOL7H/4KtQUOGzhpBWCrGefPJJO7RM56ZFD8u6Tmnoklv889Z+FUgpBA/br9/jxN9nVHvxw8047cJ/q6c/R1/UMXWu77zzju1d6XrKRJ2nAgEXpgaH5un7JvgWxCwEWMGeVKozhZTf+ta3KrYLfX/pu9H1EHVtoZkBlr5vNBxaPfG0VGvP8v/Tn/5kbrvtto5rg7bJSoCl72z1Qn/qqac6PleVeu/6YbQ2iHqDoT4zui/TPZxbwoYRp3m/1cg2Fef6R4AV/Z3FGghkU6DdmIbfsWXzzCkVAs0WyGSA5d/oaJ4lza2gm51aFv9X7LBfkyvN6aDwRJOT61d8raMbYD1oqueVu7kPG9aS9v78hx856Lh6oNHDrs5JwZV6tqjngc5Zb15SGfVPWgGW/2unyqEQS+VQ7wY94LjJiDXEUmVx830E607hkYYCqVzBJWxYgs5TDyYKFbV/PTgpKFE9BPetsEvzNlXrmeGHme7Y1QJS/yEx7hxkUW21mcFBVFnc3/2wyP13PWQpYFIdaNiT2pbClueff97+8+6773Z8HtxDWaWeR2EBsOpVAdLWW29tw1CtowduBZ/6ld+Fn/qbhn4qHHNL2GdN+xs6dKgNI9wv/Pp8qMed+3y47SuFwXHCgTDXsPLIS8Hb8OHDbZiif1f9a0iuwnAZuutJtV5pwQcgHTuNOaGa2Q7jPMD5pmHtRZ9x9dBUTwy1S13/dG16/fXXbU9PXXtcm6kUUOo4CvmvvPLKjqGzYftV4PDEE0+Yu+66q9N6/hCoOO1F12c9ILu6du30G9/4Rke7UPtR27///vs7tf2wQDjOMXWeYZNuy0892TRnkfzUDvS9pjrS95xbFLRpmK8++8ElCwGWfz3XZ0fD0vQ507VC9al2MX/+fPPwww/boMWFxMFz0bxZfi/JpPNDan9x6+O5556zc1p98sknthi6Hug+Q/Xhrm36QcG/13BlzkqApfKE/fCx5ZZb2iGC/g9PYd/val/B+yx9NtSjWnWlnuf6bnGL7jV0/VePyuCS5v1WI9tUnOsfAVbcuxXWQwABBBAoq0AmAyx/KJkemNWTI6y3UdyKC86/oG3C5jtSSKRfZ3VzGXep1tsj7f1VChfCyqoHIz3czpo1y94AphVg6Vj+zXccKzlpSKb7pbZaCKQeOrq5d8MC4+xfN//qleOGFVTaxp+DSetFBaRlCrD08KDeKxoW4nqvxPEPrqO2pvBKn7FKix449CCvHibuYT7qOHrQGTduXOhww7Bf6qP2p78rvNLDa1gPwrgPo2HHqeWzr/1E9Y4pY4All1rai7aL6sWpdXRdVXtX0BFnqbTPOO0l7EE7zjErfabiHFP7D+vlF+e4Gk6vz5zCLn/JQoAV1gMo6rwUFmluOoWXbhhhWBDcyABL9aE3TWoi9LBAzT8HXRcUfCug1ZKlAEvlUdCkgDcYwu+zzz725S7+Usv3u/YR1bO2lmtu2D4b2aYIsKI+nfwdAQQQQACBaIFMBliNeEjzQ7FKk/bqIUZhl36tDQ55C6PUw+/YsWM7DUvx10tzf7o5VG+U3//+91XDBffQoflzLrzwwtQDLJ2jgig99KmnV7VFQZp+EdcvrJprSkO3dIMYnPQ+bHv1QLjuuuvsL+fVFj2MqOeV5nQJDm+pto0fZkZNJF6mAMu5adjRnXfeaXueRH0O3DaqC81PomFYwaFalepC+9XQuWnTpkWGB+qVoKBJvfEqLWpX6rWih6moMEJtRb001HYqtZu44UCl8qgM6g2kXmRR5XEPaOq1oFfMV1oacW3Meg8sZ6H2ouuf3gIYdd3RNrrGqy1WG2ro9q0w4/rrrw/tLRqsC7UV9TZVzz619+ASt724YdVqG3HCC13HFSKFtf24x3Tl1FvsFByH9YoNnotCOs1LN3r06Iqf5SwEWCqzggt9F+k7KSoMV289tQn1Jgu+1c+fW0z7bWSAlaQ+1OZUZoVtmrZAS9YCLNWB3uYbnLagUm8plV/fL1OmTOk05LzSNc+1RV0bK01V4LZN636rUW2KAKvq7Rx/RAABBBBAIJZA5gKssHlC/LcGxjozb6WwoW/+BNPBTTRsRHNP6Nd5hSnuAVRDCTWUUUPOdBMcNZGw22ea+9ODw0MPPWR/wVXZ9BDkfqHVsCk9sPmvdU+zB5Y7p7By6G/qKadfizUsRmVxwwTVE2zChAn25lVL1Bvj9DCioSwKOdTrSzfweojVg6N6cKmHj+Y70RsFkyz+HEz+vDL+vsoYYDmDxYsX2/lH1CtLc7ZoQt1gGKPPgx6w9UDlhtomqQutq2PMnTvXTtKu9uzecKl2pId2DSvUA6YfGFQ6jhvypeGC/v7ULjVZt8ob1VsvaTiQtDw6Hz2QaQiwyqT/jTrHMgdYfptU/Wr4knt7rK7Fao8anjxo0CDbZsLmzqtUT7q2KGTXEFP9r/ara5C7tupaprboD3t2+0vaXrR/nYNC4mA7TdIukh5TZVWApqGC7gUWwfPUtVS9k/Q9EhVCZyXA0jmpnhSeaMJ6zZnm2oSz1I8U+oxpuKT7zg5+lsJ+0GpGgKWy63qq+wz9aKYeVvr3sO+4YHmzFmDpPPSZUYgV7LlbbVi/6kzzEOo+669//asdfukCXYV2ulYrRNX8i1Ft0f9Mp3G/1Yg2RYCV9O6A9RFAAAEEEFheIHMBFpWEQKMFgpNC64FNc2qsueaakYd1D4ta8eijj04cnEUegBUQiCngHoTSmAMr5iFZDQEEEEAAAQQQQAABBBBoqQABVkv5OXgrBIJDCMPmQqtUJk24femll9qeOwRYrag5jukEbrjhBjucjgCLNoEAAggggAACCCCAAAJlESDAKktNl/w83cttg6+UD3sbZTUm1+tFcxQddNBBsefcKjk9p5+ygGvDGpJ74IEHhk5qn/IhS7U7XoRdqurmZBFAAAEEEEAAAQRyJECAlaPKoqj1CfhvAIv7dkvNjaO35d1+++12vqZdd93VDBs2rL7CsDUCNQgovLrlllvMvHnzTLVJkmvYNZsggAACCCCAAAIIIIAAApkWIMDKdPVQuHoENOTvmWeesZPBfvDBB3ayWE0aq0UT+Y4ZM8ZO9hy1aOLyiRMn2m315kn1etEE4ywINFtAE4wrSFXvQbXfzTffvNlF4HgIIIAAAggggAACCCCAQEsECLBaws5BmyGg8Oq3v/2tfeuWv3zlK1+xQZTedhRnUXCgN0TpjYVRb6+Lsz/WQaAWAb2Jc/LkyUZv99JQVhYEEEAAAQQQQAABBBBAoCwCBFg11TSzpNTE1uSNXn75ZXPZZZd1eq23iqChV4cccohZY401mlwiDocAAggggAACCCCAAAIIIIAAArUIEGDVosY2uRBYtGiRmTRpknnhhRfMkiVLTI8ePczAgQPtm9tWXnnlXJwDhUQAAQQQQAABBBBAAAEEEEAAAWMIsIrUCugYVqTa5FwQQAABBBBAAAEEEEAAAQQQQOBfAgRYNAUEEEAAAQQQQAABBBBAAAEEEEAAgUwLEGBlunooHAIIIIAAAggggAACCCCAAAIIIIAAARZtAAEEEEAAAQQQQAABBBBAAAEEEEAg0wIEWJmuHgqHAAIIIIAAAggggAACCCCAAAIIIECARRtAAAEEEEAAAQQQQAABBBBAAAEEEMi0AAFWpquHwiGAAAIIIIAAAggggAACCCCAAAIIEGDRBhBAAAEEEEAAAQQQQAABBBBAAAEEMi1AgJXp6qFwCCCAAAIIIIAAAggggAACCCCAAAIEWLQBBBBAAAEEEEAAAQQQQAABBBBAAIFMCxBgZbp6KBwCCCCAAAIIIIAAAggggAACCCCAAAEWbQABBBBAAAEEEEAAAQQQQAABBBBAINMCBFiZrh4KhwACCCCAAAIIIIAAAggggMDyAu3GmDZgECiRAAFWiSqbU0UAAQQQQAABBBBAAAEEEEAAAQTyKECAlcdao8wIZFSAX4EyWjEUCwEEEEAAAQQQQAABBBDIuQABVs4rkOIjgAACCCCAAAIIIIAAAggggAACRRcgwCp6DXN+CCCAAAL/FqCbIK0BAQQQQAABBBBAAIFcChBg5bLaKDQCCCCAAAIIIIAAAggggAACCCBQXaBIv98SYNHaEUAAAQQQyKRAkW43MglMoRBAAAEEEEAAAQRyJECAlaPKoqgIIIAAAggggAACCCCAAAIIIIBAGQUIsMpY65wzAggggAACCCCAAAIIIIAAAgggkCMBAqwcVRZFRQABBBBAAAEEEEAAAQQQQAABBMooQIBVxlrnnBFAAAEEEEAAAQQQQAABBBBAAIEcCRBg5aiyKCoCCCCAAAIIIIAAAggggAACCCBQRgECrDLWOueMQA4FPvrEmDfeW5Zqyfuu2cW0taW6S3aGgFn6ysumfcmSVCVW6Ld+qvtjZ8URaF/0d2OWLU71hNpW3STV/bEzBCTw/HvzU4VYoUtXs16PPqnuk50hgAACCGRbgAAr2/VD6RBAwBhz/1+XmjNv/Th1iy5txvxq3+5m875dUt83OyynwAcTzjGLbr4+9ZNfadBWZvWf/sa0rbhi6vtmh/kVWPrsyab95V+nfgJtPbczXQZOMW1dV0193+ywfAJLli01xz1wlnnktbmpn/y+A3Yxx21+UOr7ZYcIIIAAAtkUIMDKZr1QKgQQCAjs+usPzUfpdjDo2Hu/3l3M5Yd1xxuBugU+fWy2efekY+reT6UdrLLvwWbVQ45s2P7Zcb4E2t+ZaZY+tkPDCt223vGma/9fNGz/7Lg8AhP+73pzxdM3N+yEL9jux2arL2zWsP2zYwQQQACB7AgQYGWnLigJAgiECHy4uN3s9uuPGmazarc2c9sJq6S+//b2dnPppZeaM844w/Tv399MnDjRDBgwIPXjsMPsCHx89x/Mwl+c3rACrbzjzqbHf9a//7///e/miCOOME8//XSssk6ZMsV84xvfiLXusmXLzJw5c8zvf/97c//99xsdS8vXv/51861vfct897vfNRtuuKFpY+xuLM9qKy17fbJZ9uR+de+n0g66fGGM6bLptXXv/89//rMZPXp01f2ofWy55ZZm3333zWT7cOdw4oknmv/4j/+oyeSdd94xxxzzWcB9wQUXmJ49e9a0nzxudPqfzjdTX5zRsKKfvtUxZlS/7era/8cff2xOO+00M2nSpKr7+dKXvmS22GILM2rUKLPjjjualVdeua7jNmtj1/7eeOMNc/HFF5sNNtjAHvp///d/za9+9Stz/vnnmz322KNZxeE4CCCAQM0CBFg107EhAgg0QyCvAdbrr79ufvjDH5q//vWvRjfGJ5xwgjnssMN4cG9Go2nRMcoeYL377rvml7/8pfntb39bsQZWW201+7kYP368WWmllVpUU8U4bJECLFcjah9nn322DbyyFHISYNX3mclbgLXpppuaXr16LXfSCuhfeOEF88orr9i/HXjggea//uu/zCqrpP8jWH3iy29NgJW2KPtDAIFWCRBgtUqe4yKAQCyBvAZYM2fONPvss485+OCDzTPPPGNWWGEFc+6555ovfOELsc477krtxhjmoY+r1dj18hZgSSP4S3w9OkuWLDG//vWvzXnnnWe23XZb84Mf/MBsvvnmtneCeiMq3LrrrrvMOeecYx/+tJ5+7c9SSFHP+bdi27wFWNttt11ozyO1DwX+6rGq9qgeqxMmTDAbb7xxK1g5ZgME8hZgVeuNpBDrwQcfNGeeeabtxfo///M/9rs+6wsBVtZriPIhgEBcAQKsuFKshwACLRHIY4D1ySefmJ/+9KfmxhtvNFdddZW92VU3fT2g7bzzzi1x5KCNFyhzgKVQ6uijjzYfffSRueiii2wIEbYoxFK4pSGJCrHWWGONxldMQY9QlADLVc/ChQttb5abbrrJnH766bbHKksxBIoUYLkaueaaa8zJJ59sh73+5Cc/Md27Z3suTQKsYnyWOAsEEDCGAItWgAACmRbIY4A1b948c/jhhxvNlaGHdP1Ke+ihh9rw6mc/+1nV4QavvvqqfYD7wx/+YJ588km7D80ddMghh9geCX6Plbjr33LLLebYY481leZwCfu7mytJ89McdNBBtofNnXfeaYYNG2bDim222ca2HZVBcx7de++95uGHH7b/TfNr7LDDDhXntFGvi+eee85cd911Zvr06XauJLeNznXddde1+1Hop4fZk046yQYf/vlrPzLW0LVWB4RlDrA079X+++9ve11Vm9/nrbfesm1Hyy9+8QvTt2/fTtefuO3ZbZRk/bjtWQH03Xffba6//nqjoWNaFLipl4XmvMnK0MeiBVhydqGAhmZpPqJu3bp1zNGj66KuGWpfWnbffXfblj73uc/Zf58/f7654oorql5P/C+7uO2n0hBCv6188MEHZsiQIXZ+JA2DDM5zVW0OrLjXQ1d+d71WTyH1eFRbnTx5sr2Oan6mMWPGmL322iszQ9uKGGA98sgjZs899zSVehY2sj2qHVSabzCq/TEHVqZveSkcAk0WyOc4DgKsJjcTDocAAskE8hhg6WHi//2//2cfwNSL4P3337dzYD366KP2AUsPGGGLbogV1OghRMHVl7/8ZaOHHgVZYXPDJFm/ngDr85//vB0GphvfPn36mAULFpjf/OY3ZuDAgTaw0qTG6oGjAErl/vTTT21op2Fj+nf1PtNNtVu0r9tuu82ccsopdh23nfbhzt1toznEZNivX7/QHjtvv/22DbbUe+PCCy+0x2vVUuYAy/XAeu+99+xkwF/72tcSV0OS9qw2pDBVL0kItj0FZO7zonaptqPhu1pcgFWtPWt77fPmm2+2n7mvfvWrpmvXrh3tWQ+s+lyHzY+T+ITr3KDIAZbq7dRTTzUrrrhiR4Al+xkzZtjrha4xChXVA0brVGsLuiaozr7zne90CsCTtLewAEu9DdXTVnO+qU1tsskmtq24OZK23357G9LqmqmlUoCl4bcK7jT3lwIwN/+Sux5q32eddZbZbbfdOsrvrud6GYO+V3SdVFvV8tRTT9n9aIiuyucCvjqbW12bFy3ACg6ZDrZVIUVdm9Jojzq+XgyjdqFFPzL16NHDfg8+9thj9r+NHDnStr/evXt3an8EWHU1ZTZGAIEMCBBgZaASKAICCFQWyFuApQd4F1bpwWazzT57tbfrSaSH6uOPP94+6AQX/VqrHlJ6EFGPIz2sqaeHboYfeughu42GKLi3GSZdv54AS2GUhknoIVAP9bp57tKliw2yNCG3epzpRnnEiBH2v2vRA5RCLpU32JtCf5s7d675/ve/b9fTDfjw4cPtdvpF+dZbb7XBlkI+zRmmm3I9yKpHmt4O5b8NT8Mz1btNk4KHuTbzs1XmACv4QKUHNPVW+va3v23DBgUMUUvS9qzPyZFHHmnb4I9//GP7dkP3efnLX/5i29DLL79se+app46W4NsXw9qzzkEhgtrsfvvtZ/7zP/+zI6hSsKWhkZqjSYGpPuMuGIs6t0b9vWgBVnAIoerhe9/7nqVzb0lba621bIitHqBaVF9qW9WuJ26uIgVewXm1kra3sADLXXsUFOkapWuju/app+3VV1/d8SOGeo5WCrAUyul6qPkRdY0NXg913dNcS1rU88xd/9z1XP/db6uac1E/oKhX5JVXXml22mmnRjXB2PstSoCl7yhdc9QbUG1R4WKwXqK+39Jqj67t6c2damv6gcctzz77rL3+6b5BbV7BpxaGEMZurqyIAAIZFyDAyngFUTwEyi6QtwDL3Vj6wwXdsEI95OhBeL311utUtW7oTNjDsUKsyy67zPYy0N81ZCHp+vUEWAoCwsIjPdT9/Oc/tyGdbpj9oVWu95SGiblhZUuXLu14ZbfCBQUJwWGBGpKjUEs34ZoPR8MmXdn98E/7Ukgmm8svv7zjwbZVn5m8BVgKJqst6lGSZJJ39UhRPasuFGBqUXvXQ7eGOW211Va2PsMCrSTtWUNqVe8KNtQD56ijjlouEHahgNbV0Ff1QnEBVqX2/MQTT9iwVb3HNDGzApPg8uabb9ohuOph44LkVrU1HbcoAZaCKNWJAmsFAwqv1YtPPVC1uABLQ1TVO04vBnCLgik9wOsHgkovBgi7fiRpb7rehgVYbr8qt4brBRdd+9SbdvDgwea4446zQ/nCAix9ZhR+afhf2MThuvZrmLX2paBe10RdZ92xZVXt+0SfD/0w0uolbwFWHC8Nl9b33tZbb93xHdaM9qih+2rvagP6ASlsXk3XvoNTBhBgxalV1kEAgTwIEGDloZYoIwIlFshTgOUCFT1w+Q8jbmJ3Pdz7by1atGiR7UWiYXVhQZFf/UnX1/b1BFjqaaJfcoO/8sZpki4wUBDgAiw3B5L+N244oodbhRQKQ4JvctSby3QDr/JlYULwsgdYahN64NbQp9tvv73TnGiuvahHlnpOuR6G+u9J27NrQzqOHuTC3lanYbvqhaLgwfWEdO2xUnt2D33VJhDX51q9g4I9G+J8FhqxTt4CrDgG6r2n3pwKjdziAqywMEbXAM2DpeCg0hDiF1980bY5DaVS/SkASnK9VTnCAqxp06bZt8y6t24OGjSoam/DsABLc3ppvkTNlaXyh72l1g3PVTncObrrud+71Znpu0TnXGnOwzh1keY6eQuw3DBOZ+CGJuvf1VtOPT7Dwvhmtceougn7vifAilLj7wggkBcBAqy81BTlRKCkAnkKsFzQoqoK+1Vcw0E0X4bmYnG9QrRupRvLSlWedP16A6xgAFWtGX744Yd2vi8FBRrGpd5omiMrOMltWKgV1bSDb3UM9rSaOXOmHarm5hrzJ3iP2m/af89bgKXzjxsi1mr18ccfm7/97W+2Laj9a1iTFj14qzdJsGeKPzdLpWPGaUPBnhBuGFW17YI9A/2H12A53INsFoKBogRYCqbVm0VBkIZ7rrPOOp2q3gVYYT2UXC9PXRPVYzCsd5+bk09zUam9682XxxxzjJ3TL277Dwuw1BbUhhUWadFwMg1v1NDZoUOH2sAseE0KC7DcfsN6lzmEsDA26geJSpPO1/o5rne7vAVYflvT0MH77rvP9rjSEjanmv57s9pjsD5UNg2/VXtWIPrAAw/Y662ud/TAqrflsj0CCGRRgAAri7VCmRBAoEMgTwGWm7w9qvr0wBYMYpIGUknXb2SApYe44BuwgueuYZKaZF3zdLgeWHHChzA/18lxHfYAACAASURBVNvBDSPUTbuGDunth8G5xqLsG/l3AqzquqozNweMwl71mtNEw0nbc9w25Acf1bZT0KaHUvWAjLMQYMVR+mwdF6ZUeltb1J6qBVhu31H70N/dkNi0AiztU0MANexRQwBdOOvKoh8q1Gtsww03tP+p1gAr2DanTJlih+QSYHWu8dO3OsaM6vfvXntx2oO/TtC50nBO+atOFVb6LycJtvU4x6+nPaqnq8IyDZ+/66677MtQ3KL7C7VxXWMJsOLUBOsggEDeBAiw8lZjlBeBkgnkJcByc5mol4neBhWcpyVYZa4HR3A+k6QP8EnX1/GjHnjC/h4VFGgyW010rRto9VrRfEM6d81do380Z5DekhXswRW1z0rN2w0X1N81jFC9KjR0SPNrac4sN4FyKz8eZQ2w1PY1LFYT8CuY1Ruxqi3+/CxJ23OcNhTsgaWAVfPGVNsuuH4WhgfGacd564HViAArOG+ZQoc4b9xL2t6CwUSl4FKBgq6Hjz/+uLnjjjvM9OnTbaiga6Ib9lxrgOV6YGnOOjdkNup6Tg+sOJ+gzutEBVhaW+vozY7q1am5r9Tm1l577Y4dNas9urf/qo0p0PzmN79pv3v1o9G6665re7tq7jMCrOTtINUt2o0xbanukZ0hgIA+Vu361mVBAAEEMiqQlwBLv74fcsgh9iay2nxMbj09aLmJoDXhtYYmKAiqNAeWhsupx5HeeKVhcxq6End9DVvUL8f+DW2wyt1bEoM3vFFBgdsmOBwsuE83v4tu8F0PLDdHiN7WWGn4jgIO9WjQmwXdG+SC84spkNCDhOaf8ecTa2UzLmuAFRx+F2c4p//wnbT9a/4s9cTT3EaV5sAKexto3PasCbP1soRWD0mNassEWMbOt6YgWyFq3OGASdubrp+PPvqoGT16dOw5pf75z3/acF9Blus1FRZguTap74NKc2C5oel6c60/B1alQI0AK+rTs/zf4wRY2kovGNGcjAoUda1Q+3NvJG1Gexw7dqw9rl5Uofn41C79a5V6BWp+SAKs5O2ALRBAIPsCBFjZryNKiECpBfIQYAXDlagH+OBbp4LrujAo7C2EekuX5sxSMKb19NahpOs/8sgjduLssLlWgq+vjxtgRd3sB9+eFex5EezpEvYWQlcWBXZXXHGFfSOZW/RQpvJrEl3Ni3XvvffGfmhtxoeorAGWbN3bN/v37297xOnNlGGL2r8mSb/22ms7veggSXvWsMO4byFU7wQXKEcFWC5c1pAvv2eFzsW1eT24qmfhqFGjmtGsKh6DAMvY64B6xKjnX9j1RHi69ukHAl1L9MY/Da9K0t50vfUDocWLF9ueVbNmzbLtOXidCrYV/SBRLcBK8hbC4LWbHlidPxbNGELojhj8btNLBy655BIzcOBA++dmtMcBAwbY64+WsNC20vc5k7i39HLNwRFAIEUBAqwUMdkVAgikL5CHAMsNb5s3b95yoUuYiJsrKzi8ZP78+baHlOa10AORe0ub5g3ScIAzzzzTzuHyq1/9yqy55pom6fru4V3DUX7+85+b4cOH219t9QClIVMKBLTEDbB0E69gQA+NY8aMsfMHaV4Q9/A2depU+zf9Iu0PHZo7d64NobQo7FBZunTpYm/+9cCnt5DpV+Uzzjij01BM16vm+eeft+tuv/32Ha+VT7/lJd9jmQMstSMFCZqPTO1Ak2Srt6AmslbdKvzR8Br9XQ/0mh9I9dyrVy8LnbQ963Oit6xp2JbeKKe3guntcmqXeoGAAgv1XFEbdL34ogKs4PAgtT/NdaPhOK5Nq23q86e3jyngcn9L3lLS2YIA6zNHhUtqb1rUM2XXXXftaAvqLaPrqXqr6Hqiodu67iVtb2E9mtx1XIGqrs9u8nm1wYceesgcf/zx5otf/GJHWwnrgaUyq2y6HuoNhLqOuuth8Nqv9dSLVYGsFgKszp+hZgZYOrKmAlAPuzvvvNPstdde9trXo0ePprRHXU/1Q5cmldf1TT2yXA8w3YsoUFOw5X+fE2Clc91lLwgg0HoBAqzW1wElQACBKgJ5CLDc2wXVI0ND2lZfffWqdeqGhKjHh+tRpQ3UU0APYHrQ3mCDDYx+3XVzZim80nABvardLUnWVy8x3djqRluL5inSPF3qTaK3c+2yyy72ZjhugKV96OHwuOOOs5MXK7RQGbVon+o1Nm7cOPtWJE3krpCsX79+9u96wNObuxQyaA4P99Y3hV06d72NTMMlNY+Wv7ieE/rvQbssfIjKHGDJX3WpNqSQqtoyYsQIGyr49ZukPasN6eFRoYTajf950ZxoGmao4V/u4S4qwFKZFYhpeK7mMdI+NCRYwdgLL7zQcRyd4+DBg1ve5AiwPqsC/3ri2oJ6ojz22GN2HQ1HVuCgt17Wcv0MC7AUCKj9/e53v+u4pirEcNdsXb+Db6urFGDpWqlh07q+a3ijfz3UtVVB/2677dYxVIwAq/PHr9kBlo7ugkf9/2BQ3uj2qP27yeTVXvz2rn9XiHvdddfZHwrUBrt161bxZRnVXpLQ8oscBUAAAQRCBAiwaBYIIJBpgawHWMGhdHHnYwrOGaTeSwpr3IPVq6++at9qdfPNN3cEWQrGNHzEf728Ki7J+npQckPz9ECmByPd4KpXwmuvvbbcHC9xHvjVk0HDdxQmuCBhhx12MPvuu68NKGSi3ip+2KSbcIVbGkrmttWDm3qe7b333qZnz56h7dK9plw9d9x8MFlpwGUPsFQP6jXyt7/9zQaUep27CxD0MD9kyBDbK0vhj0KhsCVJe9b2an/qCaO5hp588kkb+u600052njj1lArODROnPWuf+kzfc8895oYbbrC9e1yooIdC7df1Gmt1uyPA+ncN6HqiHwauuuoq2xZU17q+DRs2zGiOPrU59Vzxl7jtrdKcUup5qLkIFSio559CXAUIugZqTsRgL71KAZYL4XRtU5u7//77O679+mFBbc7v7UeA1foAS72AFTpqLkt/QvdGt0ddZxX467tXw7d1jdL1VfcK6j2qsmluLl3LLrroIju5Oz2wWn3F5vgIIJCWQHkCLN4EkVabYT8INFUg6wFWUzE4mB1iqV41GhamITqa2DgrS14CrKx4UY76BPISYNV3lmxdBIHT/3S+mfrijIadSho9sBpWOHaMAAIIIJCqQHkCrFTZ2BkCCDRLgACrWdLZP45+1VZPLk1oX+ltja08CwKsVuqX79gEWOWr87yeMQFWXmuOciOAAALZEyDAyl6dUCIEEAgINDrA0qGmn7Iq5hkVUGiloY+ax0iTv2t+Ig3RCU6am5WiE2BlpSbKUQ4CrHLUcxHOkgCrCLXIOSCAAALZECDAykY9UAoEEKgicPy1H5u5Ly1tiNEOX13BnLJ7t4bsm53WLxCcY0x70xxHmnRW831kbVn66nzz9oF7NqxYPU78b7PyyF0btn92nDOBj182S2Zt0LBCd9noItNlncMatn92XB6BO168z5zxpwsbdsK3jLrArLva2g3bPztGAAEEEMiOAAFWduqCkiCAQAWBtz5oNxfdvdi8+KYms0tv+eo6Xc2xI1c0K3ZtS2+n7ClVAfXA0ivBFVrpjXCamHb77bfvNDl3qgesc2eLH3nQLLr2CtO+6KM69/Tvzds//dR032UP033v/VLbJzsqhkD7W3eZZS/+zJhP30vvhJZ9bNr6jDdd+p2Y3j7ZU+kFJs27zdzy97vNil1WSM1i1RW6m0M22dMM6/Pvt/OmtnN2hAACCCCQSQECrExWC4VCAAEEEEAAAQQQQAABBBBAAAEEEHACBFi0BQQQQAABBBBAAAEEEEAAAQQQQACBTAsQYGW6eigcAggggAACCJRGQKOkGdGci+qmqnJRTRQSAQQQQKBgAgRYBatQTgcBBBBAAAEEEECg5AIkbCVvAJw+AgggUEwBAqxi1itnhQACCCCAAAIIIIAAAggggAACCBRGgACrMFXJiSCAAAIIIIAAAggggAACCCCAAALFFCDAKma9lvus6DZf7vrn7BFAAAEEEEAAAQQQQAABBAonQIBVuCrlhBBAAAEEEEAAAQQQQAABBBBAAIFiCRBgFas+ORsEEEAAAQQQQAABBBBAAAEEEECgcAIEWIWrUk4IAQQQQAABBBBAAAEEEEAAAQQQKJYAAVax6pOzQQABBBBAAAEEEEAAAQQQQAABBAonQIBVuCrlhBBAAAEEEEAAAQQQQAABBBBAAIFiCRBgFas+ORsEEEAAAQQQQAABBBBAAAEEEECgcAIEWIWrUk4IAQQQQAABBBBAAAEEEEAAAQQQKJYAAVax6pOzQQABBBBAAAEEEEAAAQQQQAABBAonQIBVuCrlhBBAAAEEEEAAAQQQQAABBBBAAIFiCRBgFas+ORsEEEAAAQQQQAABBBBAAAEEEECgcAIEWIWrUk4IAQQQQAABBBBAAAEEEEAAAQQQKJYAAVax6pOzQQABBBBAAAEEEEAAAQQQQAABBAonQIBVuCrlhBBAAAEEEEAAAQQQQAABBBBAAIFiCRBgFas+ORsEEEAAAQQQQAABBBBAAAEEEECgcAIEWIWrUk4IAQQQQAABBBBAAAEEEMiaQLsxpi1rhaI8CCCQIwECrBxVFkVFAAEEEEAAAQQQQAABBBBAAAEEyihAgFXGWuecEUAAAQQQQAABBBBAAAEEEEAAgRwJEGDlqLIoKgIIIIBAGgIMYUhDkX0ggAACCCCAAAIIINBMAQKsZmpzLAQQQAABBBBAAAEEEEAAAQQQQACBxAIEWInJ2AABBBBAAAEEEEAAgawL0Ns06zVE+RBAAAEEkgnkKsBasmSJOe2008yjjz5qrr32WtOrV69kZ2uMWbBggbn88svN5MmTzZw5c8yAAQPMqFGjzLHHHmv69esXur9ly5aZGTNmmAkTJpjp06ebTz/91AwdOtSMHz/e7LLLLqZbt26Jy8EGCCCAAAIIIIAAAsUSIDIqVn1yNggggAAC2RLITYCl8Oriiy82p5xyitl6661rCrBeeeUVc8QRR5ipU6eavn37mv79+5v58+ebefPmmYEDB9qAasiQIZ1qaOnSpWbSpEk24Fq4cKEZPHiwWXHFFc3jjz9u/13l0T+rrrpqtmqW0iCAAAIIIIAAAggggAACCCCAAAIFEchFgKWg6KyzzjJnn322ZR85cmTiAGvRokXmpJNOMhdccIE5/fTT7f/v3r27Wbx4sQ2ojjvuODNixAgzceJE07t3747qnTVrltlvv/3M2muvbS688EIzaNAg+7fnn3/e/OAHPzAzZ840l1xyiRk3blxBmgSngQACCCCAAAIIIIAAAggggAACCGRLINMBlnpd3XfffebUU081f/7zn81aa61lFETV0gNr9uzZZvTo0bYHlYYQ9uzZs6Mm3NBEhWQ333yz2WOPPezfFG4p6DrvvPM6/Xe34RNPPGGDq4022mi5fWarmikNAggggAACCCCAAAIIIIAAAgggkF+BTAdY6v00bNgw06NHD3PUUUeZ3Xbbzf6vekMlnQPrnHPOMccff7wdhnj44YcvV2PqSbXtttvanljq6bXSSiuZl156yey77772/+t4ffr06bTdRx99ZH74wx/aIYm33357R++s/DYHSo4AAggggAACCCCAAAIIIIAAAghkTyDTAZZ6Xf3xj380Bx54oFlvvfXsXFVjx45NHGB9/PHH5oQTTjAXXXSRnYx9m222Wa4mwvb9yCOPmJ122ske89xzzzWrrLLKctudeeaZ5sc//rEdhqihhiwIIIAAAggggAACCCCAAAIIIIAAAukKZDrA8k+11gDrvffes28MVI+uSj2l3nrrLRtAvfbaa+bGG2+0bye87bbbzO67796pV5ZfJvXM2n///c1PfvIT89///d/p1g57QwABBBBAAAEEEEAAAQQQQAABBBAwpQiwwsIpv+7D1okTTsVZh3aGAAIIIIAAAggggAACCCCAAAIIIFC7AAHWv+wIsGpvRGyJAAIIIIAAAggggAACCCCAAAIINFKAAKuFAdajjz7ayLpl3wgggAACCCCAAAIIIIAAAggggEBigUGDBiXeptEblCLAWrhwoTn66KONJmW/6aabzGabbbacq+uB9eabb5obbrjBbLjhhubuu++2k7j/6Ec/MpqsvWvXrstt54YQnnXWWXa9JAsBVhIt1kUgjwJtxpj25AWvcbPkB2ILBBBAAAEEEEAAAQQQQGB5AQKsOltFrZO48xbCOuHZHAEEEEAAAQQQQAABBAonsOS5eeajG642n86eZZZ99FGmz69ttR5mpS0Hm1XGHWBW2HBApstK4RBAoDECpeiBJbpzzjnHHH/88ebiiy82hx9++HKarrfVcccdZ84++2yz0kormZdeesnsu+++9v+rp1WfPn06bed6dt1zzz0V327YmGpjrwgggAACCCCAAAIIIIBA7QIKr9794XjTvnhx7TtpwZZt3bqZz597GSFWC+w5JAKtFihNgDV79mwzevRoM3jwYHP55Zebnj17dtgvWbLEnHbaaUbDAG+++Wazxx572L8tXrzYnHTSSea8887r9N/dhk888YQZN26c2WijjZbbZ6srluMjgAACCDRJQKNENeyTBQEEEEAAgRwJvP/TU83i++/OUYn/XdRu2+1oVv+vn+Wy7BQaAQRqFyhNgLVo0SIbRl1wwQU2rDrxxBPNqquuakOqSZMmGfW8Gj58uLn00kvNWmut1SE6a9Yss99++5m1117bnH/++WbLLbc0bW1t5vnnnzc/+MEPzNSpU+32WocFAQQQQAABBBBAAAEEEMiDwFu7bZf5YYOVHDWccM0p0/PATBkRQCBFgcIFWAqchg0bZkaOHGmH/fXq1auD69lnnzXHHHOMmTZtmunbt6/p37+/mT9/vtHcWgMHDjQTJkwwQ4YM6cSr3lkadnjKKacYDRlUD64VV1zRPP744/bf9d/1j8IwFgQQQAABBBBAAAEEEEAgDwILRnwzD8WsWMbe98zOdfkpPAIIJBcoVYAlngULFtjhfpMnTzZz5swxAwYMMKNGjTLHHnus6devX6jgsmXLzIwZM2zANX36dPPpp5+aoUOHmvHjx5tddtnFdOvWLbk8WyCAAAIIIIAAAggggAACLRIgwGoRPIdFAIGaBXIVYNV8lmyIAAIIIIAAAggggAACCCDQIUCARWNAAIG8CRBg5a3GKC8CCCCAAAIIIIAAAgggUKcAAVadgGyOAAJNFyDAajo5B0QAAQQQQKAcArygsRz1zFkigEA+BQiw8llvlBqBMgsQYJW59jl3BBBAAAEEEEAAAQQQKKUAAVYpq52TRiDXAgRYua4+Co8AAggggAACCCCAAAIIJBcgwEpuxhYIINBaAQKs1vpzdAQQQAABBBBAAAEEEECg6QIEWE0n54AIIFCnAAFWnYBsjgACCCCAAAIIIIAAAgjkTYAAK281RnkRQIAAizaAAAIIIIAAAggggAACCJRMgACrZBXO6SJQAAECrAJUIqeAAAIIIIAAAggggAACCCQRIMBKosW6CCCQBQECrCzUAmVAAAEEEEAAAQQQQACBugTajTFtde2hXBsTYJWrvjlbBIogQIBVhFrkHBBAAAEEEEAAAQQQQACBBAIEWAmwCrIqIW9BKrLEp0GAVeLK59QRQAABBBBAAAEEEECgnAIEWOWsd84agfoFWheFEmDVX3vsAQEEEEAAAQRSFmjdrVHKJ8LuEEAAgYwKEGBltGIoFgIIVBQgwKJxIIAAAggggAACCCCAAAIlEyDAKlmFc7oIFECAAKsAlcgpIIAAAggggAACCCCAAAJJBAiwkmixLgIIZEGAACsLtUAZEEAAAQQQQAABBBBAAIEmChBgNRGbQyGAQCoCBFipMLITBBBAAAEEEEAAgVABJjSjYSCQSQECrExWC4VCAIEqAgRYNA8EEEAAAQQQQAABBBBAoGQCBFglq3BOF4ECCBBgFaASOQUEEEAAAQQQQAABBBBAIIkAAVYSLdZFAIEsCBBgZaEWKAMCCCCAAAIIIIAAAggg0EQBAqwmYnMoBBBIRYAAKxVGdoIAAggggAACCCCAAAII5EeAACs/dUVJEUDgMwECLFoCAggggAACCCCAAAIIINBigWa/74AAq8UVzuERQCCxAAFWYjI2QAABBBBAAAEEEEAAAQTyLUCAle/6o/QIlFGAAKuMtc45I4AAAggggAACCORToNnddPKpRKljCBBgxUBiFQQQyJQAAVamqoPCIIAAAggggAACCCCAAAKNFyDAarwxR0AAgXQFCLDS9WRvCCCAAAIIIIAAAggggEDmBQiwMl9FFBABBDwBAiyaBAIIIIAAAggggAACCBRbgKGXy9UvAVaxmzxnh0ARBQiwilirnBMCCCCAAAIIIIAAAgggUEWAAIvmgQACeRMgwMpbjVFeBBBAAAEEEEAAAQQQQKBOAQKsOgHZHAEEmi5AgNV0cg6IAAIIIIAAAggggAACCLRWgACrtf4cHQEEkgsQYCU3YwsEEEAAAQQQQAABBBBAINcCBFi5rj4Kj0ApBQiwSlntnDQCCCCAQHwBZv6Nb8WaCCCAAAJ5ESDAyktNUU4EEHACBFi0BQQQQAABBBBAAAEEEECgZAIEWCWrcE4XgQIIEGAVoBI5BQQQQAABBBBAAAEEEEAgiQABVhIt1kUAgSwIEGBloRYoAwIIIIAAAggggAACCCDQRAECrCZicygEEEhFgAArFUZ2ggACaQow41CamuwLAQQQQAABBBBYXoAAi1aBAAJ5EyDAyluNUV4EEEAAAQQQQAABBBBAoE4BAqw6AdkcAQSaLkCA1XRyDogAAggggAACCCCAAAIItFaAAKu1/hwdAQSSCxBgJTcrzhaM0ypOXXImCCCAAAIIIIAAAggkECDASoDFqgggkAkBAqxMVAOFQAABBBBAAAEEEEAAAQSaJ0CA1TxrjoQAAukIEGCl48heEEAAAQQQQAABBBBAAIHcCBBg5aaqKCgCCPxLgACLpoAAAggggAACCCCAAAIIlEyAAKtkFc7pIlAAAQKsAlQip4AAAggggAACCCCAAAIIJBEgwEqixboIIJAFAQKsLNQCZUAAAQQQQAABBBBAAAEEmihAgNVEbA6FAAKpCBBgpcLIThBAAAEEEEAAAQQQQACB/AgQYOWnrigpAgh8JkCARUtAAAEEEEAAAQQQQAABBEomQIBVsgrndBEogAABVgEqkVNAAAEEEEAAAQQQQAABBJIIEGAl0WJdBBDIggABVhZqgTIggAACCCCAAAIIIIAAAk0UKEWA1a4xR01E5VAIINBQAQKshvKycwQQQAABBBBAAAEEEEAgewKlCLCyx06JEECgDgECrDrw2BQBBBBAAAEEEEAAAQQQyKMAAVYea40yI1BuAQKsctc/Z48AAggggAACCCCAAAIlFCDAKmGlc8oI5FyAACvnFUjxEUAAAQQQQAABBBBAAIGkAgRYScVYHwEEWi1AgNXqGuD4CCCAAAIIIIAAAggggECTBQiwmgzO4RBAoG4BAqy6CdkBAggggAACCCCAAAIIIJAvAQKsfNUXpUUAAWMIsGgFCCCAAAIIIIAAAggggEDJBAiwSlbhnC4CBRAgwCpAJXIKCCCAAAIIIIAAAggggEASAQKsJFqsiwACWRAgwMpCLVAGBBBAAAEEEEAAAQQQQKCJAgRYTcTmUAggkIoAAVYqjOwEAQQQQAABBBBAAAEEEMiPAAFWfuqKkiKAwGcCBFi0BAQQQAABBBBAoFUC7boba9XBOS4CCJRZgACrzLXPuSOQTwECrHzWG6VGAAEEEEAAAQQQQAABBGoWIMCqmY4NEUCgRQIEWC2C57AIIIAAAggggAACCCCAQKsECLBaJc9xEUCgVgECLCtH//1aGxDbIYAAAggggAACCCCAQP4EkgRYGumsJ6YsLb3vmZ2l4lAWBBBoggABVhOQOQQCCCCAAAIIIIAAAgggkCWBJAFWlsrtykKAlcVaoUwINFaAAKuxvuwdAQQQQAABBBBAAAEEEMicAAFW5qqEAiGAQIQAARZNBAEEEEAAAQQQQAABBBAomQABVskqnNNFoAACBFgFqEROAQEEEEAAAQQQQAABBBBIIkCAlUSLdRFAIAsCBFhZqAXKgAACCCCAAAIIIIAAAgg0UYAAq4nYHAoBBFIRIMBKhZGdIIAAAggggAACCCCAAAL5ESDAyk9dUVIEEPhMgACLloAAAggggAACCCCAAAIIlEyAAKtkFc7pIlAAAQKsAlQip1BEgXbly0U8Mc4JAQQQQAABBBBAIAMCBFgZqASKgAACiQQIsBJxsTICCCCAAAIIIIAAAgggkH8BAqz81yFngEDZBAiwylbjnC8CCCCAAAIIIIAAAgiUXoAAq/RNAAAEcidAgJW7KqPACCCAAAIIIIAAAggggEB9AgRY9fmxNQIINF+AAKv55hwRAQQQQAABBBBAAAEEEGipAAFWS/k5OAII1CBAgFUDGpsggAACCCCAAAIIIIAAAnkWIMDKc+1RdgTKKUCAVc5656wRQAABBBBAAAEEEECgxAIEWCWufE4dgZwKEGDltOIoNgIIIIAAAggggAACCCBQqwABVq1ybIcAAq0SIMBqlTzHRQABBBBAAAEEEEAAAQRaJECA1SJ4DosAAjULEGDVTMeGCCCAAAIIIIAAAggggEA+BQiw8llvlBqBMgsQYJW59jl3BBBAAAEEEEAAAQQQKKUAAVYpq52TRiDXAgRYua4+Co8AAgggkJ5AuzGmLb3dsScEEEAAAQQyLECAleHKoWgIIBAqQIBFw0AAAQQQQAABBBBAAAEESiZAgFWyCud0ESiAAAFWASqRU0AAAQQQQAABBBBAAAEEkggQYCXRYl0EEMiCAAFWFmqBMiCAAAIIIIAAAggggAACTRQgwGoiNodCAIFUBAiwUmFkJwgggAACCCCAAAIIIIBAfgQIsPJTERDJGgAAIABJREFUV5QUAQQ+EyDAStoSmOM3qRjrI4AAAggggAACCCCAQMYECLAyViEUBwEEIgUIsCKJWAEBBBBAAAEEEEAAAQQQKJZA/QFWa3/Z733P7GJVCGeDAAKRAgRYkUSsgAACCCCAAAIIIIAAAggUS6D+AKu1HgRYrfXn6Ai0QoAAqxXqHBMBBBBAAAEEEEAAAQQQaKEAAVYL8Tk0AgjUJECAVRMbGyGAAAIIIIAAAggggAAC+RUgwMpv3VFyBMoqQIBV1prnvBFAAAEEEEAAAQQQQKC0AgRYpa16ThyB3AoQYOW26ig4AggggAACCCCAAAIIIFCbAAFWbW5shQACrRMgwGqdPUdGYDmB1r7LhQpBAAEEEEAAAQQQKIsAAVZZaprzRKA4AgRYxalLzqTkAoRfJW8AnD4CCCCAAAIIIJBAgAArARarIoBAJgQyH2AtWLDAXH755Wby5Mlmzpw5ZsCAAWbUqFHm2GOPNf369YuFuGjRInPccceZiRMnxlr/wQcfNEOHDu1YV9sdccQRFbcdOXKkufbaa02vXr1i7Z+VyilAwFTOeuesEUAAAQQQQACBLAoQYGWxVigTAghUE8h0gPXKK6/Y4Gjq1Kmmb9++pn///mb+/Plm3rx5ZuDAgWbChAlmyJAhkTWcJMDScaZMmWI233xzu99PPvnEnHzyyeacc84hwIqUZgUEEEAAAQQQQAABBBDIgwABVh5qiTIigEBQILMBlkKnk046yVxwwQXm9NNPt/+/e/fuZvHixWbSpEm2R9WIESNsr6revXvXVasffvih3f8111xjLr74YrPPPvuYtrY2u8/33nvPjB8/3vzjH/8w1113nQ3SWBBAAAEEEEAAAQQQQACBPAsQYOW59ig7AuUUyGyANXv2bDN69GgzePBgO4SwZ8+eHTW0ZMkSc9ppp5mzzjrL3HzzzWaPPfaoufaWLl1qfvOb39gA64QTTjA/+9nPTLdu3Tr299xzz5lx48aZTTbZxFx44YWmR48eNR+LDRFAAAEEEEAAAQQQQACBLAgQYGWhFigDAggkEchsgKUhe8cff7ztEXX44Ycvd04zZ8402267re2JdfbZZ5uVVlopyXl3rDtr1iyz3377mfXXX9/2wFpnnXU67eeRRx4xO+20kznmmGPMmWeeabp27VrTcdgIAQQQQAABBBBAAAEEEMiKAAFWVmqCciCAQFyBTAZYH3/8se0NddFFF5kZM2aYbbbZZrnz0TxYY8eONWuvvXbNE6i///77djL4W2+91YZXu++++3LHufrqq82BBx5orrzySvOlL33JhmXTp0+3k8kfdNBB5tBDD617CGPcymI9BBBAAAEEEEAAAQQQQCANAQKsNBTZBwIINFMgkwGWm3dKvaNuv/12M2jQoOVM3nrrLdtz6rXXXjM33nijDZSSLrfccovZc889zQEHHGDOP/98s/rqq3faRXt7uznjjDPsP9ttt515+umn7XFWWGEFM3fuXPP222+brbbayg4tDCtj0vKwPgIIIIAAAggggAACCCDQDAECrGYocwwEEEhTIJMBVpxwKs461aDeeecd23vqnnvusT2wdthhh+VWX7hwoTn66KNt76xRo0aZ8847zw411KLtf/nLX9oeWfrbZZddZnuDsSCAAAIINFGg3Rjz2Ts3WBBAAAEEEEAggQABVgIsVkUAgUwIlDbAcr2vNAxQbzpcddVVl6uQBQsWmBNPPNG89NJLdjjjxhtv3GkdNwRRwwwVYCkQY0EAAQQQQAABBBBAAAEE0hJo1G81BFhp1RD7QQCBZgmUMsBatGiRnfx94sSJdb/F8NprrzX777+/Oeqoo8yvf/1rs/LKKzer7jgOAggggAACCCCAAAIIIFCTAAFWTWxsVINAo0LYGorCJjkXyGSA5Ybu6Q2AN910k9lss82WY3ZDCN98801zww03mA033DB2VTz11FNm7733Nj179jTXXXed6du3b+xt/RU1T9ewYcPsmxL15sTu3bvH3tejjz4ae11WRAABBBBAAAEEEEAAAQTSEljvP49Ma1ct2c/Lv5jQkuNyUATKIpDFeb4zGWA1+i2ErtfUj370I3PmmWearl27VmyDn3zyidE/q622Wug6M2fONNtuuy0BVlk+xZwnAggggAACCCCAAALNFtB8j+rGkuJCgJUiJrtCoIACBFgJKlW9mY4//nhz8cUX23DIX+6++26z00472aGAmkh9pZVWirV3hVEnn3yy7S31+9//3uy2224Vt7vtttvM7rvvbsaPH2/OPfdcs8oqqyy3roYhHnHEETYIO/XUU01bG7MJx6oIVkIAAQQQQAABBBBAAIGWCTCEsGX0HBgBBGoUyGQPLJ3L7NmzzejRo83gwYPN5Zdfbof7uWXJkiXmtNNOM2eddVbiOaw05PB73/ueefXVV83kyZPNRhttVJHODTXUChqm6A9lfO2112y4pV5Yld5kWGO9sBkCCCCAAAIIIIAAAggg0DCBsgZYzMfUsCbFjhFouEBmAyxNtH7SSSfZNwQqrNLbAPWmwMWLF5tJkybZnlfDhw83l156qVlrrbViQz3zzDNmzJgxpk+fPkZDCXv16lVx22BQNmrUKHPeeeeZ9ddf366v8Erlu+aaa8wxxxxjfvnLXyaa/yp2gVkRAQQQQAABBBBAAAEEEEhZoKwBVsqM7A4BBJookNkASwbPPvusDYemTZtmJ1rv37+/mT9/vpk3b54ZOHCgmTBhghkyZEgnLjep+siRI0MDqqSTri9YsMCccMIJNqjq0aOH2Xzzze3xHn/8caPJ5tWbS28f7N27dxOrjUMhgAACCCCAAAIIIIAAArULEGDVbseWCCDQGoFMB1giUYCkIYQa7jdnzhwzYMAAo95Qxx57rOnXr99yalEB1o033mjGjRtn4kzg7nauXl933HGHueyyy4z2r2Xo0KF2+OAuu+xiunXr1pra46gIIIAAAggggAACCCCAQA0CBFg1oLEJAgi0VCDzAVZLdTg4AggggAACCCCAAAIIIFBAAQKsAlYqp4RAwQUIsApewZweAggggAACCCCAAAIIIOALEGDRJhBAIG8CBFh5qzHKiwACCCCAAAIIIIAAAgjUKUCAVScgmyOAQNMFCLCaTs4BEUAAAQQQQAABBBBAAIHWChBgtdafoyOAQHIBAqzkZmyBAAIIIIAAAggggAACCORagAAr19VH4RHIpEC7MaatgSUjwGogLrtGAAEEEEAAAQQQQAABBLIoQIDVqlpp9CN+q86L4yLQeAECrMYbcwQEEEAAAQQQQAABBBBAIFMCBFiZqg4KgwACMQQIsGIgsQoCCCCAAAIIIIBAlgXo0ZDl2qFs2RQgwMpmvVAqBBCoLECARetAAAEEEEAAAQQQQAABBEomQIBVsgrndBEogAABVgEqkVNAAAEEEEAAAQQQQAABBJIIEGAl0WJdBBDIggABVhZqgTIggAACCCCAAAIIIIAAAk0UIMBqIjaHQgCBVAQIsFJhZCcIIIAAAggggAACCCCAQH4ECLDyU1eUFAEEPhMgwKIlIIAAAggggAACCCCAAAJFFajwjgMCrKJWOOeFQHEFCLCKW7ecGQIIIIAAAggggAACngBvbKRJfCZAgEVLQACBvAkQYOWtxigvAggggAACCCCAAAIIIFCnAAFWnYBsjgACTRcgwGo6OQdEAAEEEEAAAQQQyKoA/ZOyWjOUK20BAqy0RdkfAgg0WoAAq9HC7B8BBBBAAAEEEEAAAQQQyJgAAVbGKoTiIIBApAABViQRKyCAAAIIIIAAAggggAACxRIgwCpWfXI2CJRBgACrDLXMOSKAAAIIIIAAAggggAACAQECLJoDAgjkTYAAK281RnkRQAABBBBAAAEEEEAAgToFCLDqBGRzBBBougABVtPJOSACCCCAAAIIIIAAAggg0FoBAqzW+nN0BBBILkCAldyMLRBAAAEEEEAAAQQQQACBXAsQYOW6+ig8AqUUIMAqZbVz0ggggAACCCCAAAIIIFBmAQKsMtc+545APgUIsPJZb5QaAQQQQAABBBBAAAEEMiXQboxpy1SJqhWGACs3VUVBEUDgXwIEWDQFBBBAAAEEEEAAgUIJ5CtGKBQ9J5MjAQKsHFUWRUUAAStAgEVDQAABBBBAAAEEEEAAAQRKJkCAVbIK53QRKIAAAVaGKpFfCzNUGRQFAQQQQAABBBBAAIECCxBgFbhyOTUECipAgFXQiuW0EEAAAQQQQAABBBBAAIFKAgRYtA0EEMibAAFW3mqM8iKAAAIIIIAAAggggAACdQoQYNUJyOYIINB0AQKsppNzQAQQQAABBBBAAAEEEECgtQIEWK315+gIIJBcgAAruRlbIIAAAggggAACCCCAAAK5FiDAynX1UXgESilAgFXKauekEUAAAQQQQAABBBBAoMwCBFhlrn3OHYF8ChBg5bPeKDUCCCCAAAIIIIAAAgggULMAAVbNdGyIAAItEiDAahE8h0UAAQQQQAABBBAooEC7MaatgOfFKRVOoIgBVvvCx82yl35lzFt3mvYlC7NdZyt83rT12sl06XuiaeuxebbLSukQyIgAAVZGKoJiIIAAAggggAACCCCAAALNEihagKXwaulftjFm2aJmEaZznC7dTdctZxJipaPJXgouQIBV8Arm9BBAAAEEEEAAAQQQQAABX6BoAdbSJ/cz7a9PzmVFt31hjOm66bW5LDuFRqCZAgRYzdTmWAgggAACCCCAAAIIIIBABgQKF2DNWCP7wwYr1fsKnzcrbLsgA62CIiCQbQECrGzXD6VDAAEEEEAAAQQQaLkAE1u1vAooQOoCRQuwlkxfMXWjZu5whR0+bebhOBYCuRQgwMpltVFoBBBAAAEEEEAAAQQQQKB2AQKs2u0asSUBViNU2WfRBPIbYPFDWNHaIueDAAIZEeDympGKoBgIIIAAAgg0UIAAq4G4NeyaAKsGNDYpnUB+A6zSVRUnjAACCCCAAAIIIIAAAgikI0CAlY5jWnshwEpLkv0UWYAAq8i1y7khgAACCCCAAAIIIIBA/gUa0D2aACtbzYIAK1v1QWmyKUCAlc16oVQIIIAAAggggAACCCCAQMMECLAaRlvTjgmwamJjo5IJEGCVrMI5XQQQQAABBBBAAAEEEECAACtbbYAAK1v1QWmyKUCAlc16oVQIIFAGgQYMBygDG+eIAAIIIIAAAvULEGDVb5jmHgiw0tRswL64b28AavJdEmAlN2MLBBBAAAEEEEAAAQQQQCDXAgRY2ao+Aqxs1QelyaYAAVY264VSIYAAAggggAACCCCAAAINEyDAahhtTTsmwKqJjY1KJkCAVbIK53QRQAABBBBAAAEEEEAAAQKsbLUBAqxs1QelyaYAAVY264VSIYAAAggggAACCCCAAAINEyDAahhtTTsmwKqJjY1KJkCAVbIK53QRQAABBJiFkzaAAAIIIIAAAVa22gABVrbqg9JkU4AAK5v1QqkQQAABBBBAAAEEEEAAgYYJEGA1jLamHRNg1cTGRiUTIMAqWYVzuggggAACCCCAAAIIIIAAAVa22gABVrbqg9JkU4AAK5v1QqkQQAABBBBAAAEEEEAAgYYJEGA1jLamHRNg1cTGRiUTIMAqWYVzuggggAACCCCAAAIIIIAAAVa22gABVrbqg9JkU4AAK5v1QqkQQAABBBBAAAEEEEAAgYYJNC7Aas7LUnrfM7uTzZLpKzbMqhk7JsBqhjLHyLsAAVbea5DyI4AAAggggAACCCCAAAIJBRoXYCUsSI2rRwVYzYnRaix8yGYEWOlZsqfiChBgFbduOTMEEEAAAQQQQAABBBBAIFSg6AFW3qqdACtvNUZ5WyFAgNUKdY6JAAIIIFBCgbz9FlzCKuKUEUAAgRIJEGBlq7IJsLJVH5QmmwIEWNmsF0qFAAIIIIAAAggggAACCDRMgACrYbQ17ZgAqyY2NiqZAAFWySqc00UAAQQQQAABBBBAAAEECLCy1QYIsLJVH5QmmwIEWNmsF0qFAAIIIIAAAgggkAUBRv9moRYoQwMECLAagFrHLpsbYHFhq6Oq2LSFAgRYLcTn0AgggAACCCCAAAIIIIBAKwQIsFqhXvmYzQ2wsnXulAaBuAIpBVgkuHHBWQ8BBBBAAIEiCPDNX4Ra5BwQQKDMAgRY2ap9Aqxs1QelyaZASgFWNk+OUiGAAAIIIIAAAggggAACCCwvQICVrVbx/9k7E7C7qup+70BIhICCKQhoDfUPBbUltgwmDSVgGLSBEmOUyKCoqYBMAoIai6BopLaKhECYopVBSQShIFaBWEFTMYoMdSAPlIpQoA2oGE0Imf7P7+j5er773eEMe5+97rnvfR4eINl77XXete+6a//OPvsgYNmKB97YJICAZTMueAUBCEAAAhAYTAJs7RrMuHPVEIBA7QQQsGpH3nVABCxb8TDjDXXRsFAgYJmZmTgCAQhAAAIQgAAEIAABCECgHgIIWPVwzjsKAlZeUrQbZAIIWIMcfa4dAhCAAAQgAAEIQAACEBhIAghYtsKOgGUrHnhjkwACls244BUEIAABCEAAAhCAAAQgAIFgBBCwgqEtZRgBqxQ2Og0YAQSsAQs4lwsBCEAAAhCAAAQgAAEIQAABy9YcQMCyFQ+8sUkAActmXPAKAhCAAAQgAAEIQAACEIBAMAIIWMHQljKMgFUKG50GjAAC1oAFnMuFAAQgAAEIQAACEIAABCCAgDV8DsR+2RsCFt9JCPQmgIDVmxEtIAABCEAAAhCAAAQgAAEINIoAApatcCJg2YoH3tgkgIBlMy54BQEIQAACEIAABCAAAQhAIBgBBKxgaEsZtihgxd6VVgoknRpNAAGr0eHl4uwQIP3biQWeQAACEIAABCAAAQggYNmaAxYFLFuE8AYCziFgMQsgAAEIQAACEIAABCAAAQgMGAEELFsBR8CyFQ+8sUkAActmXPAKAhCAAAQgAAEIQAACEIBAMAIIWMHQljKMgFUKG50GjAAC1oAFnMuFAAQgAAEIQAACEIAABCCAgGVrDiBg2YoH3tgkgIBlMy54BQEIQAACEIAABCAAAQhAIBgBBKxgaEsZRsAqhY1OA0YAAWvAAs7lQgACEIAABCAAAQhAAAIQQMCyNQcQsGzFA29sEkDAshkXvIIABCAAAQhAAAIQgAAEIBCMAAJWMLSlDCNglcJGpwEjgIA1YAHnciEAAQhAAAIQgAAEIAABCCBg2ZoDCFi24oE3NgkgYNmMC15BAAIQgAAEIAABCEAAAhAIRgABKxjaUoYRsEph69ppk3NulH+zWIxIAAErInyGhgAEIFCcAD/FxZnRAwIQgAAEIACBVgIIWLbmBAKWrXjgjU0CCFg244JXEIAABCAAAQhAAAIQgAAEghFAwAqGtpRhBKxS2OJ04n5yHO7aUbdp06ZNjgBECwADQwACEIAABCAAAQhAAAIQqJsAAlbdxLuPh4BlKx54Y5MAO7BsxgWvIAABCEAAAhCAAAQgAAEIBCOAgBUMbSnDCFilsNFpwAggYA1YwLlcCEAAAhCAAAQgAAEIQAACCFi25gAClq144I1NAghYNuOCVxCAAAQgAAEIQAACEIAABIIRQMAKhraUYQSsUtjoNGAEELAGLOBcLgQgAAEIQAACEIAABCAAAQQsW3MAActWPPDGJgEELJtxwSsIQAACEIAABCAAAQhAAALBCCBgBUNbyjACVilsdBowAghYAxZwLhcCEIAABCAAAQhAAAIQgAAClq05gIBlKx54Y5MAApbNuOAVBCAAAQhAAAIQgEApApucc6NK9aQTBAaJAAKWrWgjYNmKB97YJICAZTMuBryi+DMQBFyAAAQgAAEIQAACEBgIAvXX3ghYtiYWApateOCNTQIIWDbjglcQgAAEIAABCEAAAhCAAASCEUDACoa2lGEErFLY6DRgBBCwBizgXC4EIAABCEAAAhCAAAQgAAEELFtzAAHLVjzwxiYB8wLWypUr3aJFi9ySJUvcfffd53bffXc3ffp0d8opp7hddtmlENUnn3zSHX300e7b3/52x37XXntt0ib72bhxo7vrrrvcwoUL3dKlS926devclClT3Jw5c9xhhx3mxo4dW8gPGkMAAhCAAAQgAAEIQAACEIhJAAErJv2RYyNg2YoH3tgkYFrAeuKJJ9wJJ5zgbrvtNjdhwgS32267uccff9ytWLHCTZw4MRGUJk+enJvsvffe6w4//HD31FNP5RawNmzY4CRqSTBbtWqVmzRpkttiiy3c/fffn/z/3Llzk3/GjRuX2w8aQgACEIAABCAAAQhAAAIQiEkAASsmfQQsW/Txpl8ImBWw1qxZ484++2y3YMECd9555yX/veWWW7q1a9cmgtLpp5/uDjroIHf55Ze77bffPhfvW265xR1xxBHus5/9bNI/z2fZsmXJjqwdd9zRXXLJJW6vvfZKuj366KPu1FNPdXfffbe74oor3OzZs/OYow0EINCBQP1HlxIKCEAAAhCAAAQgMLgEELBsxZ4dWLbigTc2CZgVsJYvX+5mzJiR7HjSI4TbbbfdEMH169e7c889182bN8/deOONbubMmbnofupTn0p2S91+++3u4IMP7tlHYpmEs/nz57cd58EHH0yEqz322GOEjz2N0wACEIAABCAAAQhAAAIQgEAkAghYkcB3GBYBy1Y88MYmAbMC1oUXXujOOOMMd9lll7njjz9+BD3tfJo6dWqyk+qCCy5wY8aM6Ur4+eefd2eeeaa744473A033OD23HPPnhF57LHH3FFHHZXYvu6669zOO+88rM/q1avdaaedljzieOuttw7tzuppmAYQgAAEIAABCEAAAhCAAAQiEkDAigi/zdAIWLbigTc2CZgUsFKx6dJLL00OT99///1H0NM5WEceeWTyaJ/EpfHjx3clrMPgJUbp87nPfc59+ctfTh5F/OUvf+mmTZuWPA4oQWyzzTYbsnPPPfe4Qw45JBnnoosucltttdWIMc4//3z30Y9+NLHVevi7zZDjFQQgAAEIQAACEIAABCAw6AQQsGzNAAQsW/HAG5sETApYzz33XPKGP50/1Wln07PPPpsIRk8//bRbvHhx8nbCbp+HHnrIve1tb0sEKj2CqH90MLyELb3dUJ/sWVv6//TMrG67vCSeHXPMMe7jH/+4O+ecc2xGGa8gAAEIQAACEIAABCAAgcoEHnl6o/vyPevc8kc2uNUv6ARPu5+txzq39/8b7d4+aQu3647/d5M+9RgBy1bsELBsxQNvbBIwKWDlEafytMki16OD2k21zTbbOD2eKNFp7NixbuPGjYlQprcMPvDAA+6aa65JhLFRo0YlO7t6iVN52tgMPV5BAAIQgAAEIAABCEAAAnkJSLw69ern3dr1toWr1usZO3qUm/+OF40QsRCw8ka+nnYIWPVwZpT+JjAwAtb111+fPAaog+F1Ftbo0aOHRU4Hu8+aNcu9/vWvd1dffbXbaaedggtY9957b3/PHufcKOdcf/2E9z1yLgACEIAABCAAAQhAIAKB6x58uXvgqW0ijFx9yIk7rXJH7/nfwwy98oMnVjcc0cIv/mHhsNEn/npSRG+qD/3AtvdUN4IFCHgksNdee3m05sfUwAhYvXA988wz7thjj012Y0nM0tsP8+yuytOm09hNELB6ceXvIQABCEAAAhCAAAQg0AQC59z5p27thpGP4vXDtW05eoP72LSHEbAMBwsBy3BwBtQ1BKycgV+1apU76aSTnA5R7/TGwPQRQglP2l2166675rTevtmaNWuSNxpefvnl7rvf/a6bMmVK8sZCPXb44Q9/2Omw9s0333xE51TAmjdvXtKODwQgAAEIQAACEIAABCDQPALT5v2ury9q6dxxw/znEUJb4eQRQlvxwBubBEzuwArxFsJNmza53/72t27LLbcc8figQrN69Wp32mmnuauuumpIwOIthDYnLV5BAAIQgAAEIAABCECgbgIIWHUT7z7e9ncuH9Zg/dItbDlY0BsErILAaD6QBEwKWIqEDlo/44wz3GWXXeaOP/74EcFJd0d1e0Ng2il9q6F2c911111u//33H2HvySefTA5v/9WvfjX0VsPHHnvMHXXUUW7MmDHJ44Q777zzsH7pTrE777yz49sSB3JWcdEQgAAEIDAQBJr0Nq6BCBgXCQEIVCKAgFUJn/fOCFjekWIQAuYJmBWwli9fnhy4rrOoFi1a5LbbbrshmOvXr3fnnnuu02N7N954o5s5c2ZX0Bs2bHAf+9jHkscA586dm/x39hB37c6SQKUzsI477ji3YMECN27cOLd27Vp39tlnu/nz57cd58EHH3SzZ892e+yxxwgfzUceByEAAQhAAAIVCDTtbVy5UOitJXp7CR8IQGAgCSBg2Qo7ApateOANBOogYFbA0plUEo8kJkmsOuuss4ZEpWuvvTY5r+rAAw90V155pdthhx16skrFpieeeCLZ3XXMMce4sWPHuo0bNybilOzrIyFL51+lHx3qrp1ZO+64o7v44ovd3nvv7UaNGuUeffRRd+qpp7rbbrvNyR+14QMBCEAAAhAYFALn37zWffun6/vycg94zWh3zoyxfek7TkMAAvEIIGDFY99u5EEQsFb86r/cFx+62S176kdu9bo1tgLQ4s02W4xzk3Z6nXvnHjPc7tv9iWlfca5/CZgVsIT04YcfdieffHLyVsAJEya43XbbzT3++ONuxYoVbuLEiW7hwoVu8uTJw+hLcNpvv/3coYcemohR48ePT/5eu6xuuumm5LFEPRq4++67Jzb137Kn//7sZz/r3vzmNycCVfrRbi89xqidW3pkUDvCtthiC3f//fcn/68/1z/ascUHAhCAAAQgMCgEDv+n1W71C9qS1H+frcc69y9n8rvdf5HDYwjEJYCAFZd/6+hNF7AkXr1n6Ufc2g0v2ALfw5uxm49xi6Z9EhHnL3xMAAAgAElEQVSrr6LWP86aFrCEceXKlcnjeUuWLHH33XdfIjxNnz7dnXLKKW6XXXYZQbqTgJU2/PnPf57spNLOKQlXveypn3Zp6ewsCWZLly5169atS3ZpzZkzxx122GHJTi4+EGgKgfWPrHCrr7/arVu+zG1cvdr0ZY3aehs3Zu9JbqvZ73Cjd93dtK84B4GmEWjaQq5p8eF6IAAB/wSalvd4C6H/OVLFYush7nO/d6G74xfLqpiM1vfgV05x8yafHm18Bm4uAfMCVnPRc2UQsEdA4tWvT5vjNq1da8+5Lh6NGjvWbXvRVYhYfRU1nO13Ak1byPV7PPAfAhAIT6BpeQ8BK/ycKTJCq4A19avHmn9ssNP16XHCb838YpHLp601AkbP/UTAsjZR8AcCEQn85hMfcWu/fUdED8oPPfaAg92L//6T5Q3QEwIQKESgaQu5QhdPYwhAYCAJNC3vIWDZmsatAtY+i2fZcrCgNz848oaCPWgOgd4EELB6M6IFBAaGwLN/e4D5xwY7BUOPE/7RzUsHJlZcKARiE2jaQi42z67jG70LapoZzkEgAIGm5T0ErACTpIJJBKwK8Og6MAQQsAYm1FwoBHoTaFoh0/uKaQEBCJQl0LSFXFkO9IMABAaHQNPyXtPqvvVLt+jryYiA1dfhw/maCCBg1QSaYSDQDwSaVsj0A3N8hEC/EmjaQq5f44DfEIBAfQSalveaVvchYNX3XcgzEo8Q5qFEm6IEELCKEqM9BFoIPPL0Rvfle9a55Y9sMP9Keb06fu//N9q9fdIWbtcdNxsRy6YVMkxWCEAgHIGmLeTCkcKyLwJ6pfwXH7rZLXvqR+YPNtYBxpN2ep175x4zeJW8rwlgwE7T8l7T6j4ELANfkowLCFi24tEUbxCwmhJJriMKAYlXp179vFu7XgeU9M9n7OhRbv47XjRCxGpaIdM/EcFTCPQfgaYt5PovAoPlscSr9yz9iFu74YW+uvCxm49xi6Z9EhGrr6LW2dmm5b2m1X0IWLa+aAhYtuLR0Zs+O2cTAatP5hVu2iRw/s1r3bd/ut6mcz28OuA1o905M8YOa9W0QkYXt2nV/W7jY//o3LP/6jatX2U7VqO3daPGH+I2m3CWG7XN62z7incDT6BpC7mBD6hxAHO/d6G74xfLjHvZ3r2DXznFzZt8el/6jtPDCTQt7zWt7kPAsvWNRcCyFY+meIOA1ZRIch1RCBz+T6vNPzbYCYweJ/yXM8c1WsCSeLXhh/s7t3FNlPlRetDNtnSb7303IlZpgHSsg0DTFnJ1MGOM8gSmfvVY848Ndro6PU74rZlfLH/x9DRDoGl5DwHLzNRKHOEQd1vx6OpNn+1a6iOyPV1FwOqJiAYQ6EyAQsbW7Nj+zuXDHNrw46Pdpv9ZYsvJnN6Metnb3OZ/dl3O1jSDQP0Empb/6ifIiEUI7LN4VpHm5tqyE8FcSEo51LS8h4BVahoE64SAFQwthhtEAAGrQcHkUuonQCFTP/NuI44QsO56qf3HBjtd0Oht3eipK20BxhsIZAg0Lf8RXNsEELBsx2dQvGta3kPAsjVzEbBsxQNvbBJAwLIZF7zqEwIUMrYC1SpgNe0sBFu08WbQCTQt/w16PK1fPwKW9QgNhn9Ny3sIWLbmLQKWrXjgjU0CCFg244JXfUKAQsZWoBCwbMUDb5pNoGn5r9nR6v+rQ8Dq/xg24QqalvcQsGzNSgQsW/HAG5sEELBsxgWv+oQAhYytQA2CgKVXyX/xoZvdsqd+ZP5AYx1cPGmn17l37jGDV8jb+qp48aZp+c8LFIwEI4CAFQwthgsQaFreQ8AqEPwamiJg1QCZIfqeAAJW34eQCwhBIO+LJShkQtAvb7PpApbEq/cs/Yhbu+GF8pAi9By7+Ri3aNonEbEisA85ZNPyX0hW2K5OAAGrOkMsVCfQtLyHgFV9TnS0MMo5pwVFgQ8CVgFYNB1YAghYAxt6LtwHAQoZHxT92Wi6gDX3exe6O36xzB+wGi0d/Mopbt7k02sckaFCE2ha/gvNC/vVCCBgVeNHbz8Empb3ELD8zAtfVhCwfJHETpMJIGA1ObpcW3ACFDLBERcaoOkC1tSvHmv+scFOAdPjhN+a+cVC8aSxbQJNy3+2aeMdAhZzwAKBpuU9BCwLs+r/fEDAshUPvLFJAAHLZlzwqk8IUMjYClTTBSwWcLbm26B707T818R4blp1v9v42D869+y/uk3rV9m+xNHbulHjD3GbTTjLjdrmdSN8Jf/ZDt+geNe0vIeAZWvmImDZigfe2CSAgGUzLnjVJwQoZGwFCgHLVjxavfnBkTfYdhDvChFoWv4rdPF90Fji1YYf7u/cxjV94G3Gxc22dJvvffcIEQsBq7/C2FRvm5b3ELBszVQELFvxwBubBBCwbMYFr/qEAIWMrUAhYNmKBwKW7XhU9a5p+a8qD2v9N/z4aLfpf5ZYcyuXP6Ne9ja3+Z9dN6wtAlYudDQKTKBpeQ8BK/CEKWgeAasgMJoPJAEErIEMOxftiwCFjC+SfuwgYPnhGMoKO7BCkY1jt2n5Lw7FcKNuuOul9h8b7HT5o7d1o6euRMAKNz2wXJJA0/IeAlbJiRCoGwJWILCYbRQBBKxGhZOLqZsAhUzdxLuPh4BlKx6t3iBg2Y5PUe+alv+KXr/19uuXbmHdxa7+sZDr6/A11vmm5T0ELFtTlbxnKx54Y5MAApbNuOBVnxCgkLEVKAQsW/FAwLIdj6reNS3/VeVhrT8Clq2IIODbikdZb5qW9xCwys6EMP0QsMJwxWqzCCBgNSueXE3NBChkagbeYzgELFvxQMCyHY+q3jUt/1XlYa0/ApatiCBg2YpHWW+alvcQsMrOhDD9ELDCcMVqswggYDUrnlxNzQQoZGoGjoBlC3hBb1jAFQRmvHnT8p9x3IXdQ8AqjCxoB/JfULy1GW9a3kPAqm3q5BoIASsXJhoNOAEErAGfAFx+NQIUMtX4+e7NDizfRP3aYwHnl2dsa03Lf7F5+h4fAcs30Wr2yH/V+Fnp3bS8h4BlZWb93g8ELFvxwBubBBCwbMYFr/qEAIWMrUAhYNmKR6s3LOBsx6eod03Lf0Wv33p7BCxbESL/2YpHWW+alvcQsMrOhDD9ELDCcMVqswggYDUrnlxNzQQoZGoG3mM4BCxb8UDAsh2Pqt41Lf+Jx/pHVrjV11/t1i1f5jauXl0VUdD+o7bexo3Ze5LbavY73Ohddx8xFgJWUPyFjSNgFUZmskPT8h4Clq1p1ipg7bt4lttky8VC3pD3CuGicU4CCFg5QdEMAu0IUMjYmhcIWLbigYBlOx5VvWta/pN49evT5rhNa9dWRVNr/1Fjx7ptL7pqhIiFgFVrGHoOxkKuJ6K+aNC0vIeAZWvasQPLVjzwxiYBBCybccGrPiFAIWMrUAhYtuKBgGU7HlW9a1r++80nPuLWfvuOqlii9B97wMHuxX//yWFjI2BFCUXHQRGwbMWjrDdNy3sIWGVnQph+CFhhuGK1WQQQsJoVT66mZgIUMjUD7zEcApateCBg2Y5HVe+alv+e/dsDzD822Clmepzwj25eioBVdVIH7I+AFRBujaablvcQsGqcPDmGQsDKAYkmA08AAWvgpwAAqhCgkKlCz39fBCz/TH1aZAHnk2Z8W+S/+DHIekD+sxUPBHzb8SjrHXmvLLkw/ch7Ybj6skrd54skdrIEELCYDxCoQIBCpgK8nF1HOZf7AEsKmZxQIzWjkIkEPtCw5L9AYEuaJf+VBFdTN/JfTaADD0PeCwy4oHnyXkFgNTcn79UMfECGQ8AakEBzmWEIUMiE4VrWKoVMWXL19KOQqYdzXaOQ/+oinW8c8l8+TrFakf9ikfc7LnnPL8+q1sh7VQmG7U/eC8t3UK0jYA1q5LluLwQoZLxg9GaEQsYbyiCGKGSCYI1mlPwXDX3bgcl/tuLR6g35z3Z88npH3stLqp525L16OJcdhbxXlhz9uhFAwGJ+QKACAQqZCvACdKWQCQDVo0kKGY8wDZgi/xkIQsYF8p+teCBg2Y5HWe/Ie2XJhelH3gvD1ZfVfqn7NjnndGQJn/4ggIDVH3HCS6MEKGRsBYZCxlY8WMDZjkdV78h/VQn67U/+88vTt7V+Wcj5vu6m2SPv2Yooec9WPKj7bMejKd4hYDUlklxHFAIUMlGwdxyUQsZWPChkbMejqnfkv6oE/fYn//nl6dsaApZvonHskfficO80KnnPVjyo+2zHoyneIWA1JZJcRxQCFDJRsCNg2cKe2xsWcLlR9UVD8p+tMLGQsxUPFnK241HWO/JeWXJh+pH3wnD1ZZW6zxdJ7GQJIGAxHzoQ4GngPFODQiYPpfraUMjUx7rMSBQyZajZ7UP+sxUb8p+teCBg2Y5HWe/Ie2XJhelH3gvD1ZdV6j5fJLGDgMUcgIAnAhQynkB6MkMh4wlkIDMUMoHARjJL/osEvsOw5D9b8UDAsh2Pst6R98qSC9OPvBeGqy+r1H2+SGIHAYs5AAFPBChkPIH0ZIZCxhPIQGYoZAKBjWSW/BcJPAKWLfA5vSH/5QRlvBl5z1aAqPtsxQPh3nY8muIdjxA2JZJcRxQCFDJRsHcclELGVjwoZGzHo6p35L+qBP32J//55enbGgKWb6Jx7JH34nDvNCp5z1Y8qPtsx6Mp3iFgNSWSXEcUAhQyUbAjYNnCntsbFnC5UfVFQ/KfrTCxkLMVDxZytuNR1jvyXllyYfqR98Jw9WWVus8XSexkCSBgMR8gUIEAhUwFeAG6UsgEgOrRJIWMR5gGTJH/DAQh4wL5z1Y8ELBsx6Osd+S9suTC9CPvheHqyyp1ny+S2EHAYg5AwBMBChlPID2ZoZDxBDKQGQqZQGAjmSX/RQLfYVjyn614IGDZjkdZ78h7ZcmF6UfeC8PVl1XqPl8ksYOAxRyAgCcCFDKeQHoyQyHjCWQgMxQygcBGMkv+iwQeAcsW+JzekP9ygjLejLxnK0DUfbbigXBvOx5N8Y5HCJsSSa4jCgEKmSjYOw5KIWMrHhQytuNR1TvyX1WCfvuT//zy9G0NAcs30Tj2yHtxuHcalbxnKx7Ufbbj0RTvELCaEkmuIwoBCpko2BGwbGHP7Q0LuNyo+qIh+c9WmFjI2YoHCznb8SjrHXmvLLkw/ch7Ybj6skrd54skdrIEELCYDxCoQIBCpgK8AF0pZAJA9WiSQsYjTAOmyH8GgpBxgfxnKx4IWLbjUdY78l5ZcmH6kffCcPVllbrPF0nsIGAxByDgiQCFjCeQnsxQyHgCGcgMhUwgsJHMkv8ige8wLPnPVjwQsGzHo6x35L2y5ML0I++F4erLKnWfL5LYQcBiDkDAEwEKGU8gPZmhkPEEMpAZCplAYCOZJf9FAo+AZQt8Tm/IfzlBGW9G3rMVIOo+W/FAuLcdj6Z4xyOETYkk1xGFAIVMeOyjnHObcg5DIZMTVKRmLOAigQ80LPkvENiSZsl/JcHV1I38VxPowMOQ9wIDLmievFcQWM3NyXs1Ax+Q4RCwBiTQXGYYApUKGakyUmcifpbOHTds9JUH7RvRm+pDU8hUZxjSAoVMSLr1266U/+p3d8SI5D8DQejiwuhp64b97T6LZ9l2uId35L++Dt+Q8+Q9W3Gk7rMVj1ZvyHu249Ov3iFg9Wvk8NsEAQoZE2EYcoJCxlY8KGRsx6Oqd3nyX5EdlFX9KdofAasosXrbI2DVy5vR8hHIk/fyWYrTirwXh3veUcl7eUnRbpAJIGANcvS59soEKGQqI/RqAAHLK07vxrgT5x1pVIPkv6j4RwxO/rMVDwR82/Eo6x15ryy5MP3Ie2G4+rJK3eeLJHayBBCwmA8QqECAQqYCvABdKWQCQPVokkLGI0wDpsh/BoKQcYH8ZyseCFi241HWO/JeWXJh+pH3wnD1ZZW6zxdJ7CBgMQcg4IkAhYwnkJ7MUMh4AhnIDIVMILCRzJL/IoHvMCz5z1Y8ELBsx6Osd+S9suTC9CPvheHqyyp1ny+S2EHAYg5AwBMBChlPID2ZoZDxBDKQGQqZQGAjmSX/RQKPgGULfE5vyH85QRlvRt6zFSDqPlvxQLi3HY+meMcjhE2JJNcRhQCFTBTsHQelkLEVDwoZ2/Go6h35rypBv/3Jf355+rbW3wKWgdcm+w5ISXvkvZLgAnUj7wUC68lsX+U90pynqIc3g4AVnjEjRCFQTxaikIkSXAQsW9hze9NXhUzuqxrchuQ/W7FnIWcrHgj4tuNR1jvyXllyYfqR98Jw9WWVus8XSexkCSBgMR8gUIFAuULGzovleZ1yheDX0JXXKdcAmSFKEyiX/0oP570j+c87Uq8GyX9ecWLMEwHynieQnswgYHkCGcgMAlYgsANuFgFrwCcAl1+NAIVMNX6+e1PI+Cbq1x6FjF+esa2R/2JHYPj45D9b8Wj1hvxnOz55vSPv5SVVTzvyXj2cy45C3itLjn7dCCBgMT8gUIEAhUwFeAG6UsgEgOrRJIWMR5gGTJH/DAQh4wL5z1Y8ELBsx6Osd+S9suTC9CPvheHqyyp1ny+S2MkSQMBiPkCgAgEKmQrwAnSlkAkA1aNJChmPMA2YIv8ZCAIClq0gdPGG/Nc3oerqKHnPVhyp+2zFA+Hedjya4h0CVlMiyXVEIUAhEwV7x0EpZGzFg0LGdjyqekf+q0rQb3/yn1+evq0hYPkmGsceeS8O906jkvdsxYO6z3Y8muIdAlZTIsl1RCFAIRMFOwKWLey5vWEBlxtVXzQk/9kKEws5W/FgIWc7HmW9I++VJRemH3kvDFdfVqn7fJHETpYAAhbzAQIVCFDIVIAXoCuFTACoHk1SyHiEacAU+c9AEDIukP9sxQMBy3Y8ynpH3itLLkw/8l4Yrr6sUvf5IokdBCzmAAQ8EaCQ8QTSkxkKGU8gA5mhkAkENpJZ8l8k8B2GJf/ZigcClu14lPWOvFeWXJh+5L0wXH1Zpe7zRbJpdjY550aVvih2YJVGR0cIOEchY2sWUMjYigcLONvxqOod+a8qQb/9yX9+efq2xkLON9E49sh7rdyrLUSrRpG8V5Vg2P7kvbB8B9U6AtagRp7r9kKAQsYLRm9GKGS8oQxiiEImCNZoRsl/0dC3HZj8ZyseCPi241HWO/JeWXJh+pH3wnD1ZZW6zxdJ7GQJIGAxHyBQgQCFTAV4AbpSyASA6tEkhYxHmAZMkf8MBCHjAvnPVjwQsGzHo6x35L2y5ML0I++F4erLKnWfL5LYQcBiDkDAEwEKGU8gPZmhkPEEMpAZCplAYCOZJf9FAt9hWPKfrXggYNmOR1nvyHtlyYXpR94Lw9WXVeo+XySxg4DFHICAJwIUMp5AejJDIeMJZCAzFDKBwEYyS/6LBB4Byxb4nN6Q/3KCMt6MvGcrQNR9tuKBcG87Hk3xjkcImxJJriMKAQqZKNg7DkohYyseFDK241HVO/JfVYJ++5P//PL0bQ0ByzfROPbIe3G4dxo1Rt4LeWz96Gnrhl3qPotn2QJe0BvyXkFgNM9FAAErFyYaQaA9AQoZWzMjRiETkgCFTEi62K5KgPxXlaDf/uQ/vzx9W2Mh55toHHvkvTjcLQlYIQlQ94Wki+2mEEDAakokuY4oBChkomDvOCgLOFvxaPWGBZzt+BT1jvxXlFjY9uS/sHyrWif/VSVooz95z0YcUi/Ie7biQd1nOx5N8Q4BqymR5DqiEKCQiYIdAcsW9tzesIDLjapzw5DPLhR0j/xXEFjg5izkAgOuaJ78VxGgke7kPSOB+IMb5D1b8UDAsh2PpniHgNWUSHIdUQhQyETBjoBlC3tub1jA5UbVFw3Jf7bCxELOVjxYyNmOR1nvyHtlyYXpR94Lw9WXVeo+XySxkyWAgMV8gEAFAhQyFeAF6EohEwCqR5MUMh5hGjBF/jMQhIwL5D9b8UDAsh2Pst6R98qSC9OPvBeGqy+r2brP0AZyX5eHnUgEELAigWfYZhCgkLEVRwoZW/FgAWc7HlW9I/9VJei3P/nPL0/f1hDwfRONY4+8F4d7p1HJe7biQd1nOx5N8Q4BqymR5DqiEKCQiYK946AUMrbiQSFjOx5VvSP/VSXotz/5zy9P39YQsHwTjWOPvBeHOwKWLe55vSHv5SVFuyIEELCK0KItBFoIUMjYmhIs4GzFAwHLdjyqekf+q0rQb3/yn1+evq2xkPNNNI498l4c7ghYtrjn9Ya8l5cU7YoQQMAqQou2EEDAMj0HWMCZDo+jkLEdn6LesZArSixse/JfWL5VrZP/qhK00Z+8ZyMOqRfkPVvxaPWGvGc7Pv3qHQJWv0YOv00QoJAxEYYhJyhkbMWDQsZ2PKp6R/6rStBvf/KfX56+rbGQ8000jj3yXhzunUYl79mKB3Wf7Xg0xTsErKZEkuuIQoBCJgr2joNSyNiKB4WM7XhU9Y78V5Wg3/7kP788fVtDwPJNNI498l4c7ghYtrjn9Ya8l5cU7YoQQMAqQou2EGgh0G+FzCjnnF5jm36Wzh037IpWHrRvX8eYBZzt8FHI2I5PUe/6Lf+1Xh/5r2jE620/etq6YQPus3hWvQ54Ho385xloJHPkvUjgOwxL3WcrHq3ekPdsx6dfvUPA6tfI4bcJAhQyJsIw5ASFTIl4tKqaJUzk7UIhk5dUf7Qj/9mKE/nPVjxYyNmOR1nvyHtlyYXpR94Lw9WXVeo+XySxkyWAgMV8gEAFAhQyFeAF6EohEwCqR5MUMh5hGjBF/jMQhIwL5D9b8UDAsh2Pst6R98qSC9OPvBeGqy+r1H2+SGIHAYs5AAFPBChkPIH0ZIZCxhPIQGYoZAKBjWSW/BcJfIdhyX+24oGAZTseZb0j75UlF6YfeS8MV19Wqft8kcQOAhZzAAKeCFDIeALpyQyFjCeQgcxQyAQCG8ks+S8SeAQsW+BzekP+ywnKeDPynq0AUffZigfCve14NMU7HiFsSiS5jigEKGSiYO84KIWMrXhQyNiOR1XvyH9VCfrtT/7zy9O3NQQs30Tj2CPvxeHeaVTynq14UPfZjkdTvEPAakokuY4oBChkomBHwLKFPbc3LOByo+qLhuQ/W2FiIWcrHizkbMejrHfkvbLkwvQj74Xh6ssqdZ8vktjJEkDAYj5AoAIBCpkK8AJ0pZAJALWDyTIvL6SQqS8+dYxE/quDcv4xRua/Mc65TfkNGGs5etq6YR7ts3iWMQ+LuUP+K8bLamvynq3IUPfZigfCve14NMU7BKymRJLriEKAQiYK9o6DUsjYigeFjO14VPWO/FeVoN/+5D+/PH1bQ8DyTTSOPfJeHO6dRiXv2YoHdZ/teDTFO/MC1sqVK92iRYvckiVL3H333ed23313N336dHfKKae4XXbZpVAcNm3a5B566CF31VVXudtuu82tWLHCvfSlL3XTpk1zJ554ops6darbbLPNRti8/PLL3QknnNBxrEMPPdRdd911bvz48YX8idJYN2O1dYKPFwIUMl4wejNCIeMNZRBDLOCCYI1mlPwXDX3bgcl/tuLBQs52PMp6R94rSy5MP/JeGK6+rFL3+SKJnSwB0wLWE088kQhHEpsmTJjgdtttN/f4448nwtPEiRPdwoUL3eTJk3NFVOLV4sWL3UknneR++ctfJkKYbP7mN79x99xzT2Jj7ty5yT/jxo0bsvnCCy+4D33oQ+7CCy9shoCVixaN8hKgkMlLqp52FDL1cC47CoVMWXI2+5H/bMWF/GcrHghYtuNR1jvyXllyYfqR98Jw9WWVus8XSez0hYC1Zs0ad/bZZ7sFCxa48847L/nvLbfc0q1du9Zde+217vTTT3cHHXSQ0+6o7bffvmdUH3zwQTd79my3evVqd8kll7g3velNyW4rCVs//OEPkx1d3//+9xPbRx999JC95557zs2ZM8c9+eST7ktf+lIievGBQEqAQsbWXKCQsRUPFnC241HVO/JfVYJ++5P//PL0bY2FnG+iceyR9+Jw7zQqec9WPKj7bMejKd6Z3YG1fPlyN2PGDDdp0qTkEcLttttuiPn69evdueee6+bNm+duvPFGN3PmzJ7x0A6qM844w33mM59JxK9Ro4Y/R3f77be7WbNmJWNK4Npmm20Sm4888kgifL3mNa8Z9uc9B6TBQBCgkLEVZgoZW/GgkLEdj6rekf+qEvTbn/znl6dvawhYvonGsUfei8MdAcsW97zekPfykqJdEQJmBaxUcLrsssvc8ccfP+Ka7r777uTMKolRF1xwgRszRm/baf95/vnn3Sc/+Un3la98JRHDpkyZMqKhHks88sgj3Y477jjsPCs9XnjIIYe4k08+2Z1//vlu8803L8KXtg0nQCFjK8As4GzFAwHLdjyqekf+q0rQb3/yn1+evq2xkPNNNI498l4c7ghYtrjn9Ya8l5cU7YoQMClgSXA688wz3aWXXuruuusut//+++cWnIpcfLatHjHUDqxXvepVwwSsq6++2r3zne90X/jCF9wrXvGKRCxbunRpcobWcccd597znvfkeoSxrF/0s02AQsZWfFjA2YoHApbteFT1jvxXlaDf/uQ/vzx9W2Mh55toHHvkvTjcEbBscc/rDXkvLynaFSFgUsBKz51atmyZu/XWW91ee+014pqeffbZ5Kyqp59+OjmcXYJS2Y/OwdKOL4lm55xzTvJ4onZa6c8/9rGPJf8ccMAB7qc//WkyzujRo90DDzyQHAb/+te/Pnm0sJ2PZf2hX/8QoJCxFSsWcLbigYBlOx5VvSP/VSXotz/5zy9P39ZYyPkmGsceeS8OdwQsW9zzekPey0uKdkUImBSw8ohTedrkBaFdXtpltdVWW7nrr7/e7bnnnknXVatWJW8tvOaaa9z06dPd/Pnzkx1a+vzqV79yn/70p5MdWfq7q666Knn8kM9gEaCQsRVvFnC24oGAZTseVb0j/1Ul6Lc/+c8vT9/WWMj5JhrHHnkvDncELDa7gQEAACAASURBVFvc83pD3stLinZFCAy8gPW9733PnXjiie7RRx91Om/r7W9/+9AB7ytXrnRnnXWWe+yxx5LHGV/96lcPY/ub3/wmeXuhHjOUgKXHCYt87r333iLNaWuQwNnf3MOgV/ld+vShDw1r/MoPnpi/s8GWv/iHhcO8mvjrSQa9zO/SA9veM6zxCY98Kn9ngy0v2/XDBr3CpbIEyH9lyYXpR/4Lw9WXVfKfL5Jx7ZD34vJvHZ28Zyserd6Q92zHJ493Fp8yG1gBS48HfvOb33Tvf//73ZNPPpk8QqhdWHo8sMjnuuuuc8ccc4x73/vel7zh8EUvelHu7ghYuVGZbUghYys0FDK24kEhYzseVb0j/1Ul6Lc/+c8vT9/WWMj5JhrHHnkvDvdOo5L3bMWDus92PMp4h4CVk1r66J7eAHjDDTcMPdKX7Z4+QvjMM88kj/3tuuuuOa07t379+uSg9jPOOCPpc/HFF7vZs2e7zTbbLLeNtKHO6dpvv/2SNyVKBNtyyy0L26BD/xJgK7mt2PEIja14tHrDVnLb8SnqHfmvKLGw7cl/YflWtU7+q0rQRn/yno04pF6Q92zFg7rPdjya4p3JHVgh30L4u9/9zs2bNy/5Rwey67HBqVOnDj022BrYF154wemfrbfeum3M77777qQ/AlZTvhLFroNCphiv0K2bUMhscs6N+gOo0dPWDUO2z+JZoREGtc8CLije2o2T/2pH3nXAJuS/7AWS/2zNL7z5PYH+y3uqKFRZ/P6zdO64YaFcedC+fR1a8p7t8FH32Y5Pv3pnUsASTO1m0g4pCUwSh1o/d9xxhzvkkEPc6aefnhykPmbMmJ4x0M6uD37wg27hwoVJ34suusjtsUfnM4xuueUWd8QRR7g5c+YkbXXIe+vn8ssvdyeccII7//zz3Uc+8pGOQlhP52jQlwT6r5AZjplCxva0YwFnOz6D7l3Y/Dd80RWCNfkvBFV/Nsl//lhiyR+BsHnPn5+dLBXLe9lbauF9KzMCAlYZavX1QcCqj/UgjWRWwFq+fLmbMWOGmzRpklu0aJHbbrvthuKiRwDPPffcZBfVjTfe6GbOnNkzZtp5dfbZZyeHsb/1rW9NBLKXv/zlXfv95Cc/Sdrqk307Ydrp6aefTsQt7cK66aab3LRp03r6QYNmERisQsZ+7ChkbMeIQsZ2fIp6R/4rSixse/JfWL5VrZP/qhK00Z+8ZyMOqRfkPVvxaPWGvGc7Pv3qnVkBa82aNYngtGDBgkSs0tsAx40b59auXeuuvfbaZOfVgQce6K688kq3ww479OQvAeq9732ve8Mb3uC0a+plL3tZzz5ZoWz69Olu/vz57lWvelXST+KV/LvmmmvcySef7D796U9z/lVPos1rQCFjK6YUMrbiQSFjOx5VvSP/VSXotz/5zy9P39ZYyPkmGsceeS8O906jkvdsxYO6z3Y8muKdWQFLgB9++OFEHLr99tvdhAkT3G677eYef/xxt2LFCjdx4sTkUcDJkycPi0V6qPqhhx6aHNQ+fvx4p4Pejz32WPeNb3yjZ9yy/dR45cqV7swzz0yEqm222ca97nWvS2zcf//9To8kyq7ePrj99tv3tN3YBvZ3GAdDTyETDG0pwxQypbDV1okFXG2oaxmI/FcL5tyDkP9yo4rSkPwXBbv3Qcl73pFWMkjeq4QveGfyXnDEAzmAaQErFZD0COGSJUvcfffdlxy8rt1Qp5xyittll11GBK2dgHXvvfe6ww8/3D311FM9g9wqYKmDdn197Wtfc1dddZWTfX2mTJmSPD542GGHubFjx/a0S4NmEqCQsRVXChlb8Wj1hkLGdnyKekf+K0osbHvyX1i+Va2T/6oStNGfvGcjDqkX5D1b8aDusx2PpnhnXsBqCmiuo5kEKGRsxZVCxlY8KGRsx6Oqd+S/qgT99if/+eXp2xoClm+iceyR9+Jw7zQqec9WPKj7bMejKd4hYDUlklxHFAIUMlGwdxyUQsZWPChkbMejqnfkv6oE/fYn//nl6dsaApZvonHskfficEfAssU9rzfkvbykaFeEAAJWEVoD3HaAj7nqGnUKGVtfChZwtuKBgGU7HlW9I/9VJei3P/nPL0/f1ljI+SYaxx55Lw53BCxb3PN6Q97LS4p2RQggYBWhRVsItBCgkLE1JVjAxYhHfnmbQiZGfMKNSf4Lx7aMZfJfGWr19SH/1cc65EjkvZB0i9sm7xVnVmcP8l6dtAdnLASswYk1VxqAAIVMAKgVTFLIVIBXQ1cKmRog1zgE+a9G2DmGIv/lgBSxCfkvInyPQ5P3PML0YIq85wFiQBOx8l7+W6sBLx7TwQggYAVDi+FBIEAhYyvKFDK24tHqTaxCxjaV/vWO/GcrduQ/W/Eg/9mOR1nvyHtlyYXpR94Lw9WXVeo+XySxkyWAgMV8gEAFAhQyFeAF6EohEwCqR5MUMh5hGjBF/jMQhIwL5D9b8UDAsh2Pst6R98qSC9OPvBeGqy+r1H2+SGIHAYs5AAFPBChkPIH0ZIZCxhPIQGYoZAKBjWSW/BcJfIdhyX+24oGAZTseZb0j75UlF6YfeS8MV19Wqft8kcQOAhZzAAKeCFDIeALpyQyFjCeQgcxQyAQCG8ks+S8SeAQsW+BzekP+ywnKeDPynq0AUffZigfCve14NMU7HiFsSiS5jigEKGSiYO84KIWMrXhQyOSIRx+fNEr+yxHfGpuQ/2qEXWIoBKwS0Ax2Ie/ZCgp5z1Y8qPtsx6Mp3iFgNSWSXEcUAhQyUbAjYNnCntsbFnC5UfVFQ/KfrTCxkLMVDxZytuNR1jvyXllyYfqR98Jw9WWVus8XSexkCSBgMR8gUIEAhUwFeAG6UsgEgOrRJIWMR5gGTJH/DAQh4wL5z1Y8ELBsx6Osd+S9suTC9CPvheHqyyp1ny+S2EHAYg5AwBMBChlPID2ZoZDxBDKQGQqZQGAjmSX/RQLfYVjyn614IGDZjkdZ78h7ZcmF6UfeC8PVl1XqPl8ksYOAxRyAgCcCFDKeQHoyQyFTBGT9hy9RyBSJj/225D9bMSL/2YoHApbteJT1jrxXllyYfuS9MFx9WaXu80USOwhYzAEIeCJAIeMJpCczFDKeQAYyQyETCGwks+S/SOA7DEv+sxUPBCzb8SjrHXmvLLkw/ch7Ybj6skrd54skdhCwmAMQ8ESAQsYTSE9mKGQ8gQxkhkImENhIZsl/kcAjYNkCn9Mb8l9OUMabkfdsBSh43TfKOacN6zV9Rk9bN2ykfRbPqmnkMMOQ98JwHXSrHOI+6DOA669EgEKmEj7vnYMXMt497m6QQqZm4AxXiAD5rxCu4I3Jf8ERVxqAhVwlfGY6k/fMhCJxhLxnKx6t3pD3bMenX71DwOrXyOG3CQIUMibCMOQEhYyteFDI2I5HVe/If1UJ+u1P/vPL07c1FnK+icaxR96Lw73TqOQ9W/Gg7rMdj6Z4h4DVlEhyHVEIUMhEwd5xUAoZW/GgkLEdj6rekf+qEvTbn/znl6dvawhYvonGsUfei8MdAcsW97zekPfykqJdEQIIWEVo0RYCLQQoZGxNCRZwtuLR7wJW/e9ptB2/Vu/If7biRf6zFY9+z3+2acbzjrwXj327kcl7tuJB3rMdj6Z4h4DVlEhyHVEIUMhEwd5xUAoZW/GgkLEdj6rekf+qEvTbn/znl6dva+xE8E00jj3yXhzunUYl79mKB3Wf7Xg0xTsErKZEkuuIQoBCJgp2BCxb2HN7wwIuN6q+aEj+sxUmFnK24sFCznY8ynpH3itLLkw/8l4Yrr6sUvf5IomdLAEELOYDBCoQoJCpAC9AVwqZAFA9mqSQ8QjTgCnyn4EgZFwg/9mKBwKW7XiU9Y68V5ZcmH7kvTBcfVml7vNFEjsIWMwBCHgiQCHjCaQnM00uZHQe076LZ3kiFcdMXYUMZ1fVE1/yXz2c847S5PwnBvuQ//JOBdoFJEDeCwi3hGnyXgloNXapq+6r8ZIYygABdmAZCAIu9C8BChlbsaOQsRWPVm8oZGzHp6h35L+ixMK2J/+F5VvVOvmvKkEb/cl7NuKQekHesxUP6j7b8WiKdwhYTYkk1xGFAIVMFOwdB6WQsRUPChnb8ajqHfmvKkG//cl/fnn6toaA5ZtoHHvkvTjcO41K3rMVD+o+2/FoincIWE2JJNdRmUCZx44oZCpj92qAQsYrTu/GWMB5RxrVIPkvKv4Rg5P/bMWDhZzteJT1jrxXllyYfuS9MFx9WaXu80USO1kCCFjMBwhUIEAhUwFegK4UMgGgejRJIeMRpgFT5D8DQci4QP6zFQ8ELNvxKOsdea8suTD9yHthuPqySt3niyR2ELCyBMpsu2EOQeAPBChkbE0FChlb8WABZzseVb0j/1Ul6Lc/+c8vT9/WWMj5JhrHHnkvDvdOo5L3bMWDus92PJriHTuwmhJJriMKAQqZKNg7DkohYyseFDK241HVO/JfVYJ++5P//PL0bQ0ByzfROPbIe3G4I2DZ4p7XG/JeXlK0K0IAAasILdpCoIUAhYytKcECzlY8ELBsx6Oqd+S/qgT99if/+eXp2xoLOd9E49gj78XhjoBli3teb8h7eUnRrggBBKwitGgLAQQs03OABZzp8LjuhQzPc9uO3kjvWMjZihj5z1Y8EPBtx6Osd+S9suTC9CPvheHqyyoCli+S2MkSQMBiPkCgAgEKmQrwAnSlkAkA1aNJChmPMA2YIv8ZCELGBfKfrXggYNmOR1nvyHtlyYXpR94Lw9WXVeo+XySxg4DFHICAJwIUMp5AejJDIeMJZCAzFDKBwEYyS/6LBL7DsOQ/W/FAwLIdj7LekffKkgvTj7wXhqsvq9R9vkhiBwGLOQABTwQoZDyB9GSGQsYTyEBmKGQCgY1klvwXCTwCli3wOb0h/+UEZbwZec9WgELWfTEONhg9bd0wwPssnmULeEFvyHsFgdE8FwEeIcyFiUYQaE+AQsbWzAhZyMS4UgqZGNQZMy8B8l9eUvW0I//Vw7nsKCzkypKz1Y+8Zyse5D1b8Wj1hrxnOz796h0CVr9GDr9NEKCQMRGGIScoZGzFg0LGdjyqekf+q0rQb3/yn1+evq2xkPNNNI498l4c7p1GJe/Zigd1X0ogxv4923PBp3cIWD5pYmvgCFDI2Ao5hYyteFDI2I5HVe/If1UJ+i1wyX9V4xG2PwJWWL51WSfv1UU63zjkvXycYrUi78Ui3+xxEbCaHV+uLjABCpnAgAuap5ApCKzm5hQyNQMPPBz5LzDggubJfwWB1dyc/Fcz8EDDxcl7o5xzEryrf5bOHTfMyMqD9q1uNKIF8l5E+DmGJu/lgESTwgQQsAojowME/o9AnELGXwQoZPyxDGGJM7BCUMWmLwLkP18k/dhhIeeHYygrLORCka3XLnmvXt69RiPv9SIU9+/Je3H5N3V0BKymRpbrqoUAhUwtmHMPQiGTG1WUhhQyUbAHG5T8FwxtKcPkv1LYautE/qsNddCByHtB8RY2Tt4rjKzWDuS9GnH7PZWgRseLD4WAVZwZPSAwRIBCxtZkoJCxFY9WbyhkbMenqHfkv6LEwrYn/4XlW9U6+a8qQRv9yXs24pB6Qd6zFQ/qPtvxaIp3CFhNiSTXEYUAhUwU7B0HpZCxFQ8KGdvxqOod+a8qQb/9yX9+efq2hoDlm2gce+S9ONw7jUresxUP6j7b8WiKdwhYTYkk1xGFAIVMFOwDLmD17x5hFnC2vi9VvSH/VSXotz8LOb88fVsj//kmGsceeS8OdwQsW9zzekPey0uKdkUIIGAVoUVbCLQQoJCxNSVYwNmKB3fibMejqnfkv6oE/fYn//nl6dsaCznfROPYI+/F4Y6AZYt7Xm/Ie3lJ0a4IAQSsIrRoCwEELNNzgAWc6fA4Chnb8SnqHQu5osTCtif/heVb1Tr5rypBG/3JezbikHpB3rMVj1ZvyHu249Ov3iFg9Wvk8NsEAQoZE2EYcoJCxlY8KGRsx6Oqd+S/qgT99if/+eXp2xoLOd9E49gj78Xh3mlU8p6teFD32Y5HU7xDwGpKJLmOKAQoZKJg7zgohYyteFDI2I5HVe/If1UJ+u1P/vPL07c1BCzfROPYI+/F4Y6AZYt7Xm/Ie3lJ0a4IAQSsIrRomxDo3yOk/QeQQsY/0yoWWcBVoRe+L4VMeMZ1jkD+q5N277HIf70ZxWxB/otJ39/Y5D1/LH1YIu/5oBjOBnkvHNtBtoyANcjR59orE6CQqYzQqwEKGa84vRujkPGONKpB8l9U/CMGJ//ZikerN+Q/2/HJ6x15Ly+petqR9+rhXHYU8l5ZcvTrRgABi/kBgQoEKGQqwAvQlUImAFSPJilkPMI0YIr8ZyAIGRfIfxHiMeoP29JzDE3+ywGpD5qQ92wFibxnKx4I97bj0RTvELCaEkmuIwoBCpko2DsOSiFjKx4UMrbjUdU78l9Vgn77k//88vRtDQHLN9E49sh7cbh3GpW8Zyse1H2249EU7xCwmhJJriMKAQqZKNgRsGxhz+0NC7jcqPqiIfnPVphYyNmKBws52/Eo6x15ryy5MP3Ie2G4+rJK3eeLJHayBBCwmA8QqECAQqYCvABdKWQCQPVokkLGI0wDpsh/BoKQcYH8ZyseCFi241HWO/JeWXJh+pH3wnD1ZZW6zxdJ7CBgMQcg4IkAhYwnkJ7MUMh4AhnIDIVMILCRzJL/IoHvMCz5z1Y8ELBsx6Osd+S9suTC9CPvheHqyyp1ny+S2EHAYg5AwBMBChlPID2ZoZDxBDKQGQqZQGAjmSX/RQKPgGULfE5vyH85QRlv1o95L/uugaVzxw0jvPKgfY0T7+4edZ/t8JH3bMenX73jEcJ+jRx+myDQj4VMFhyFjIlp1NGJ0dPWDfu7fRbPsu1wD+8oZPo6fCOcJ//ZiicLOVvxaPWG/Gc7Pnm9I+/lJVVPO/JePZzLjkLeK0uOft0IIGAxPyBQgQCFTAV4AbpSyASA6tEkhYxHmAZMkf8MBCHjAvnPVjwQsGzHo6x35L2y5ML0I++F4erLKnWfL5LYyRJAwGI+QKACAQqZCvACdKWQCQDVo0kKGY8wDZgi/xkIAgKWrSB08Yb81zeh6uooec9WHKn7bMUD4d52PJriHQJWUyLJdUQhQCETBXvHQfuzkMmeTjH80niE0Nb8wpvhBMh/tmZEf+a/zgzJf7bmF978ngB5z9ZMIO/ZigcClu14NMU7BKymRJLriEKAQiYK9oYJWCzgbM0ivMlLgPyXl1Q97VjI1cO57CjswCpLzlY/8p6teJD3bMUDAct2PJriHQJWUyLJdUQhQCETBTsCli3sub1hAZcbVV80JP/ZChMLOVvxYCFnOx5lvSPvlSUXph95LwxXX1ap+3yRxE6WAAIW8wECFQhQyFSAF6ArhUwAqB5NUsh4hGnAFPnPQBAyLpD/bMUDAct2PMp6R94rSy5MP/JeGK6+rFL3+SKJHQQs5gAEPBGgkPEE0pMZChlPIAOZoZAJBDaSWfJfJPAdhiX/2YoHApbteJT1jrxXllyYfuS9MFx9WaXu80USO4YFrE3OOR1ozAcC/UGAQsZWnChkbMWDBZzteFT1jvxXlaDf/uQ/vzx9W2Mh55toHHvkvTjcO41K3rMVD+o+2/Foinc8QtiUSHIdUQhQyETB3nFQChlb8aCQsR2Pqt6R/6oS9Nuf/OeXp29rCFi+icaxR96Lwx0Byxb3vN6Q9/KSol0RAghYRWjRFgItBChkbE0JFnC24oGAZTseVb0j/1Ul6Lc/+c8vT9/WWMj5JhrHHnkvDncELFvc83pD3stLqt52/f7MGwJWvfOF0RpGgELGVkBZwNmKBwKW7XhU9Y78V5Wg3/7kP788fVtjIeebaBx75L043BGwbHHP6w15Ly8p2hUhgIBVhBZt6yPQJ9IwhUx9UyLPSCzg8lCK14ZCJh77ECOHzn86EVM/BaE+S+eOG2Z65UH7hhqqFrvkv1owlx6E/FcanamOofNe6Isl74UmXM3+6GnrhhnYZ/GsagYj9ybvRQ5AQ4dHwGpoYLmseghQyNTDOe8oLODykorTjkImDvdQo5L/QpEtZ5f815lbaDE0T8TIf3ko2W9D3rMVI/KerXi0etMvea9P9k3YDnaN3iFg1QiboZpHgELGVkwpZGzFo18LGdsU7XhH/rMTC3lC/rMVD/Kf7XiU9Y68V5ZcmH7kvTBcfVntFwHL1/Vipx4CCFj1cGaUhhKgkLEVWAoZW/FgAWc7HlW9I/9VJei3P/nPL0/f1ljI+SYaxx55Lw73TqOS92zFg7rPdjya4h0CVlMiyXVEIUAhEwV7x0EpZGzFg0LGdjyqekf+q0rQb3/yn1+evq0hYPkmGsceeS8OdwQsW9zzekPey0uKdkUIIGAVoUVbCLQQoJCxNSVYwNmKBwKW7XhU9Y78V5Wg3/7kP788fVtjIeebaBx75L043BGwbHHP6w15Ly8p2hUhgIBVhBZtIYCAZXoOsIAzHR5HIWM7PkW9YyFXlFjY9uS/sHyrWif/VSVooz95z0YcUi/Ie7bi0eoNec92fPrVOwSsfo0cfpsgQCFjIgxDTlDI2IoHhYzteFT1jvxXlaDf/uQ/vzx9W2Mh55toHHvkvTjcO41aLu9ZeC9p+ysaPW3dsL/YZ/EsW8ALekPeKwiM5rkIIGDlwkQjCLQnQCFja2aUK2RsXUPWGwoZu7HBM+fIf7ZmAfnPVjwQ8G3Ho6x35L2y5ML0I++F4erLKgKWL5LYyRJAwGI+QKACAQqZCvACdKWQCQDVo0kKGY8wDZgi/4ULQpn9AeS/cPHwYZn854NifBvkvfgxyHpA3rMVD4R72/FoincIWE2JJNcRhQCFTBTsHQelkLEVDwoZ2/Go6h35rypBv/3Jf355+raGgOWbaBx75L043DuNSt6zFQ/qPtvxaIp3CFhNiSTXEYUAhUwU7AhYtrDn9oYFXG5UfdGQ/GcrTCzkbMWDhZzteJT1jrxXllyYfuS9MFx9WaXu80USO1kCCFjMBwhUIEAhUwFegK4UMgGgejRJIeMRpgFT5D8DQci4QP6zFQ8ELNvxKOsdea8suTD9yHthuPqySt3niyR2ELCYAxDwRIBCxhNIT2YoZDyBDGSGQiYQ2EhmyX+RwHcYlvxnKx4IWLbjUdY78l5ZcmH6kffCcPVllbrPF0nsIGAxByDgiQCFjCeQnsxQyHgCGcgMhUwgsJHMkv8igUfAsgU+pzfkv5ygjDcj79kKEHWfrXgg3NuOR1O84xHCpkSS64hCgEImCvaOg1LI2IoHhYzteFT1jvxXlaDf/uQ/vzx9WwsmYG1yzum1lXxqIUDeqwVz7kHIe7lRRWkYLO9FuRoGtUIAActKJPCjLwlQyNgKW72FTJkX3RfjNXraumEd9lk8q5gBY60pZIwFpKI75L+KAD13rzf/eXa+jTnyX3jGjFCcAHmvOLOQPch7IelWt03dV50hFkYSQMBiVkCgAgEKmQrwAnSlkAkA1aNJChmPMA2YIv8ZCELGBfKfrXi0ekP+sx2fvN6R9/KSqqcdea8ezmVHIe+VJUe/bgQQsJgfEKhAgEKmArwAXSlkAkD1aJJCxiNMA6bIfwaCgIBlKwhdvCH/9U2oujpK3rMVR+o+W/FAuLcdj6Z4h4DVlEhyHVEIUMhEwd5xUAoZW/GoXMhwtovpgJL/bIWH/GcrHpXzn+3LGVjvyHu2Qk/esxUP8p7teDTFOwSspkSS64hCoGwhE/70pHw4ls4dN6zhyoP2zdfRaCsKGaOB+YNb7ECwHZ+i3pXNf0XHCdWe/BeKrB+7nIHlhyNW/BIg7/nlWdUadV9VgmH7U/eF5Tuo1hGwBjXyXLcXAhQyXjB6M0Ih4w1lEEMUMkGwRjNK/ouGvu3A5D9b8Wj1hvxnOz55vQuW92racYxwnzfScdoh3Mfhzqj9RQABq7/ihbfGCAQrZGq6ThOFjMeijQVcTROn5DAs4EqCM9qN/GcrMOQ/W/FAwLIdj7LekffKkgvTj7wXhqsvq9R9vkhiJ0sAAYv5AIEKBChkKsAL0JVCJgBUjyYpZDzCNGCK/GcgCBkXyH+24oGAZTseZb0j75UlF6YfeS8MV19Wqft8kcQOAhZzAAKeCFDIeALpyQyFjCeQgcwMTiHjcVthoFj4MEv+80HRnw3ynz+WISwNTv4LQc+OTfKenVjIE/KerXgg3NuOR1O8YwdWUyLJdUQhQCETBXvHQSlkbMWDQsZ2PKp6R/6rStBvf/KfX56+rSFg+SYaxx55Lw73TqOS92zFg7rPdjya4p15AWvlypVu0aJFbsmSJe6+++5zu+++u5s+fbo75ZRT3C677FI4DmXsbdy40d11111u4cKFbunSpW7dunVuypQpbs6cOe6www5zY8eOLexH9w6DcffeM7Qo5ihkomBHwLKFPbc3LOByo+qLhuQ/W2FiIWcrHizkbMejrHfkvbLkwvQj74Xh6ssqdZ8vktjJEjAtYD3xxBPuhBNOcLfddpubMGGC22233dzjjz/uVqxY4SZOnJgISpMnT84d0TL2NmzY4K699tpEMFu1apWbNGmS22KLLdz999+f/P/cuXOTf8aNG5fbDxo2hwCFjK1YUsjYigcLONvxqOod+a8qQb/9yX9+efq2xkLON9E49sh7cbh3GpW8Zyse1H2249EU78wKWGvWrHFnn322W7BggTvvvPOS/95yyy3d2rVrE0Hp9NNPdwcddJC7/PLL3fbbb98zHmXtLVu2zB199NFuxx13dJdcconba6+9krEeffRRd+qpp7q7777bXXHFFW727Nk9faBB8whQyNiKKYWMrXhQyNiOR1XvyH9VCfrtT/7zy9O3NQQs30Tj2CPvxeGOgGWLe15vyHt5SdFuGIEeD6OZFbCWL1/uZsyYkex40iOE22233dB1rV+/3p177rlu3rx57sYbJ5VrTgAAIABJREFUb3QzZ87sGfUy9iSWSTibP39+23EefPDBRLjaY489RvjY0yEaNIIAhYytMLKAsxUPBCzb8ajqHfmvKkG//cl/fnn6tsZCzjfROPbIe3G4I2DZ4p7XG/JeXlK0K0LArIB14YUXujPOOMNddtll7vjjjx9xTdr5NHXq1GQn1gUXXODGjBnT9brL2HvsscfcUUcdldi+7rrr3M477zxsjNWrV7vTTjstecTx1ltvHdqdVSQAtO1vAhQytuLHAs5WPBCwbMejqnfkv6oE/fYn//nl6dsaCznfROPYI+/F4Y6AZYt7Xm/Ie3lJ0a4IAZMC1vPPP+/OPPNMd+mllyaHp++///4jrknnYB155JHJo30Sl8aPH9/xusvau+eee9whhxySjHPRRRe5rbbaasQY559/vvvoRz+aPNaoRw35DBYBChlb8WYBZyseCFi241HVO/JfVYJ++5P//PL0bY2FnG+iceyR9+JwR8CyxT2vN+S9vKRoV4SASQHrueeeS97wp/OnOu1sevbZZxPB6Omnn3aLFy9O3k7Y6VPW3i233OKOOOKIrru8JJ4dc8wx7uMf/7g755xzirCnbQMIUMjYCiILOFvxQMCyHY+q3pH/qhL025/855enb2ss5HwTjWOPvBeHOwKWLe55vSHv5SVFuyIETApYecSpPG1SEHnatmuTR5zK06ZIQGjbXwQoZGzFiwWcrXggYNmOR1XvyH9VCfrtT/7zy9O3NRZyvonGsUfei8MdAcsW97zekPfykqJdEQIIWH+ghYBVZNrQNiVAIWNrLrCAsxUPBCzb8ajqHfmvKkG//cl/fnn6tsZCzjfROPbIe3G4I2DZ4p7XG/JeXlK0K0IAASuigLX33nsXiRVtIQABCEAAAhCAAAQgAAEIQAACEIBAcAI//OEPg49RdACTAtaqVavcSSed5HSI+g033OD23HPPEdeV7ph65pln3PXXX+923XXXjtde1t4dd9yRHOL+4Q9/2Omw9s0333zEGOkjhPPmzUvaFfk0S8Da5JwbVeTyaQsBCEAAAhCAAAQgAAEIQAACEICAQQIIWDmDUvatgZ3Ml7XHWwhzBoxmEIAABCAAAQhAAAIQgAAEIAABCEAgIAGTO7B0vRdeeKE744wz3GWXXeaOP/74EQjS3VGnn366u+CCC9yYMWO6Yipj77HHHnNHHXVUYls7rXbeeedhY6Q7u+68886Ob0sMGDtMeyDAvjEPEDEBAQhAAAIQgAAEIAABCEAAAhAITMCsgLV8+XI3Y8YMN2nSJLdo0SK33XbbDaFYv369O/fcc50e27vxxhvdzJkze2IqY2/t2rXu7LPPdvPnz287zoMPPuhmz57t9thjjxE+9nSIBhCAAAQgAAEIQAACEIAABCAAAQhAAAK5CJgVsNasWZOIRwsWLEjEqrPOOsuNGzfOSVS69tprnXZeHXjgge7KK690O+ywQ8+LLWtv2bJl7uijj3Y77riju/jii53OrRo1apR79NFH3amnnupuu+22xB+14QMBCEAAAhCAAAQgYIkAe60tRQNfIAABCEAAAlUImBWwdFEPP/ywO/nkk93tt9/uJkyY4HbbbTf3+OOPuxUrVriJEye6hQsXusmTJw+7fglO++23nzv00EOTx/7Gjx8/9Pdl7Gm3lx5jnDt3rtMjg9oRtsUWW7j7778/+X/9uf6RuMYHAhCAAAQgAIGIBNAqIsJnaAhAAAIQgAAEIBCWgGkBS5e+cuXK5PG8JUuWuPvuu8/tvvvubvr06e6UU05xu+yyywg63QSsMvbUZ+PGje6uu+5KBLOlS5e6devWuSlTprg5c+a4ww47zI0dOzZslLAOAQhAAAIQgAAEIAABCEAAAhCAAAQGmIB5AWuAY8OlQwACEIAABCDQDwTY+dUPUcJHCEAAAhCAAAT6nAACVp8HEPchAAEIQAACEIAABCAAAQhAAAIQgEA/EKhy3w8Bqx8ijI8QgAAEIAABCEAAAhCAAAQgAAEIQGCACSBgDXDwuXQIQAACEIAABCAAAQhAAAIQgAAEINAPBBCw+iFK+AgBCEAAAhCAAAQgAAEIQAACEIAABAaYAALWAAefS4cABOokUOVp7zr9ZCwIQAACEIAABCAAAQhAAAL2CCBg2YsJHkEAAhCAAAQgAAEIQAACEIAABCAAAQhkCCBgMR36nsD555/vPvrRj3a9jpe+9KXur/7qr9zhhx/ujjzySPeSl7zE5HU/++yz7uijj3ZPP/20W7x4sdt9991N+tnq1IoVKxKuDzzwQC5/v/vd77opU6bkamu50dq1a92NN96YxGmvvfYq7Or69evd97//fbdkyRL3zW9+04njNtts4/bdd193yCGHuNmzZ7tXvvKVI+ymc/7aa69N5ovVz5o1a9zpp5/u7rnnnhHzWXP8M5/5jPvKV77iHnvsMfcXf/EX7sorr0z+adfe4jVed9117phjjnEf//jH3TnnnNPVxWXLlrn99tvPHX/88e7CCy90W265ZdI+/fM8NroNUHUubty40f30pz91N910k7vrrrvc8uXL3apVq9yECRPc61//enfccce5Aw44YMhvC/Fo9z3wxbPK9a1cudJ96Utfcu94xzvcdttt19NU+j25/PLL27ZNc8KMGTPc29/+djd+/PieNkM26HR96ffBel4i7/Z33g05t3vZVp49++yz3fz5891BBx3krr76arfTTjv16tbx7+v4Le+3/FIUZtF822pffL7zne8kOfvb3/52Uo9k1wxvectbRuTcfqrVU1913crR6e/Hpk2bkvrzH/7hH9zSpUuT3/s5c+a4v//7v0/qlNb2ReNCewiEJGBTwOJJm5Axb5zttACQiKDFVruPfpAkDuhzxBFHOC0UXvayl5lj0U8/ill4gypgfepTn3Jz5851ZQS5+++/PxE9vva1ryUoJeBsv/32bt26dYkQ+Mtf/jIpoj7xiU+4v/u7v3OjR48eQl5H0evjy9FJwPrd737nTj75ZPfP//zPyXd2t912S4oqiTif/exnEbBKwK8yFyUmfuQjH3Gf//znk5E17yZOnOi22GILp8XBfffdl/y5RGct3P7yL/+yhIf+u1gUsH71q1+5Y4891kkkyS4Wul19rwVmtq9isGjRomg3N7pdXz8IWOTd/s+7/jNJfos/+clP3Fvf+lb361//2j311FPJDayZM2fmN9DSso7f8n7KL0VBlsm36RgScP7t3/7NfehDH3I/+MEPkj+eNGmSe/GLX+zETLlCoo7WFvp91Q2EUaNGJe36qVbvJGClc/lnP/vZUP05efLkRLx617velVxn3t+wonGjPQSqErApYFW9KvoPFIG0AOi2g0E/VFqEffjDH3a33357Ihyce+65bvPNNzfFqp9+FLPgUgFLf9ZPO8eqBj+de0UFrLvvvtu9973vdU8++aR73/ve50477bRhd3FVPKkw1p0wCVmXXXZZsvMiLZ7qKHqrsunWP53nWgR8+ctfdn/yJ38Scrhgtn3swPLlXNm5+PDDDydiovLiYYcdluwuUBGbFUy1UJOw+E//9E/JbqwvfOEL7tWvfrUv10vbsfg96LRYyCtgtcslEsMeffRRd9555yXflzPPPNN98pOfdGPHji3NrmzHMtdXdizf/ci7v9/h3e951/e8KGJPNz9POOGE5MaVdg9LUF6wYIEbN25cETNDbevIYVkBy3p+KQqxbD7SmkC16kknnZQMqVrrPe95TyJepZ/f/OY37oorrkhurOmmzhe/+EU3derU5K/7tVbP8k13K5966qnu05/+dJTfk6Lxpn1nAoO29wcBi29D3xPII2ClF3nHHXckj2Zp67e2C2vHi6VPv/4oImDlfyTyv//7v5MdGj/84Q/dpZde6o466ii32WabjZiGKrD0OJce3XrFK16RFMuvfe1rk3Z1FL0hvxdli86QPpWx3e8ClhY2Eqy0ADvxxBOTRwn0uFq7j0SUCy64IBH/tXj72Mc+NkzkKsOvah+L34Myc7vXAjPllN4x32qrrdz111/vdt1116oIC/cvc32FBwnQgbz7f4tu4WVnRfFJpt0+EjkkJmsXpPKmHv2/+eabk8f+y3zqyGH9lF+KMiybjx588MHkiIbVq1cnO48PPPDAoRuEWR/0aP1FF13kzjjjjGGPjPZrrd5OwKp6fEHRmNEeAj4IIGD5oIiNqASKCFgPPfSQe9vb3pYIBq07hXS2ge7QqrBLn4PXYk532CQ46NHD7F22VLTRlmMt7PQM+cKFC5N/67EobSvXnY1ddtllBB89QqWzE3RHR8+ga1fD+9///uRH9J3vfGfbM7AkaMj/q666yt12223JI5Ha2jx9+nR3yimnjBin1b9//dd/TX6INZ76acGq5911Tf/xH/+RnMvzL//yL4mvulbtVtOjXXk+VQUssddWbhUS4qddR7rTpXO1dI5M693NNOaKk5hoe7c+Kkg++MEPDp078/Of/9xdfPHFuXipv/zQI31irLtT2j4uP2bNmjXs7JlOj0zmOftFha+467rkW/aOXytrzRMVTvJLd3011/TpVvT+4he/SBa3X//615OzjPRJ54nG3WOPPYYVairQ1C6du2Kvxxk1f+Vj6xlcRdq3PkL4R3/0R8kOABX9rR+x05idzsxS+yLxzM5/7XLT7hUJgtOmTUvmyMEHH5xnandt40PA6nRmUx1zUd+1N7/5zW7PPfd04t8uV2UB/Nd//VfyPdAnu3MuL+uic1PjpPNNjy7KX90J17lj+l5ccsklyfmH2e9dtzOwWpnKvvK7vhfafda6oym7q+3lL3958vjkV7/61eSMFM0j5dBsv3Q+ZJnpUcxeu1LzLjB7LZqUL5TDr7nmmiR/9bo+/X2R35Ve19fuEcLsn+nmkfKfHh3WnNHvnn7v2uV4+db6O6k8JkFfu1fT2Ofd/Roy72qO6ndVeTc9y1D+t/vtSOdGkTya/R7kydMx824ab83BrbfeOvl+SjzU41fKwX/8x39cOe/GMpDmS910Ur2km6DKHb129BfNYen1lcmX7djEzC9Fazv5r8fW9X3V2aB6ckI5X/n23e9+d1Ijp3m6Vz7qNE82bNiQ3IBRfs9zM0Y7kFVD7Lzzzkmdrrq4Wy4ukw/y/t6n11SkfavIp5pZ53G2ftLfqrRO09+3Ct3t8la3Wr3J+SBWHmLc3xNAwGIm9D2BvAKWCnUJEyp+JUjov9PD3FUoayeCdsRItHrd616XHFacPf9FP2DaZpuKKemi7U//9E+TQk2P1Wjhr7N89FiOFjkquJXAswd8/8///E/yjLkWGulZMyowdHC1BC/9YGvrcnbRo90PeoxMP7YSVdLzktKzvWRHBb0En/Qxs6x/+sHXIk8CiM61SZ/t16MoWsjLnxe96EVJcZn6rsWFitA8IlYVAUuM5YfGStnr8aX0HKh2Z76kMddCVo8+ibPOjlJbPVozZsyYRKzQIjeNg0TFNJ76bz0SpcV7yis7B9K46BHTlMff/M3fJDEQI92BlcAnH3Xt6bkJmiMS/zp9nnvuuaTgveGGG4Ytuot+CTsJWBKitCDMXnP2TC1dd3YbvOaVDlLXGRDZeZ/OKxU0ElolcOhTtH3rQmqHHXZIvmf/+Z//OXTgf3rWkthpgdtOwEp3oxWJZzonFUsVXTrnSbHT909C6d57710U+4j2oQSsOuaiingtvCT+ag6Ie/pd6ATmhRdeSAr/3/72t8l3Kz1zMA/ronOzdb7p//U9U17W9+6v//qvE6FaYkgeAatXntFNCnHI7spNv2fipMWUbGi+pvlaPum7o4W5cqxyum4SpC+zUFvZE+NXvepVHedb3gVmugNLYlrr4dHZR0HT/KXva5rrdW6PBPPs2Y9Ff1d6XV83AesDH/iA+973vue080G/r/qkvknUlm/ZA+/1PdWNGe08bf2dVI5NY59HwAqZd7M5MZ2juimh33D9puvTeu5m0TxatH3MvJvOAd0olKinA85Vc2jxL/Etz0sNKifmAAayokd67lUnQT87fLv50SuHqX+ZfNnpsmPll145t11tp/OYdP5SeqNVvzHZ86j0+6MbUFXyreobiZC6casbu2VeKNRJwCqTD4r83ivGRdu3Cli6Eai1RJqj0vODt9122+S3Suui9OVAWQFL486bNy/5J811WvukNbLqN+1KzK4ZmpoPAqQYTBYkgIBVEBjN7RHoJWBp8atdJSq+tVVW/63n2rVbJ/2kd2d1d1ciVbqIUV/dyZbo9cQTTyRiSboLJrsLR2KPCnAtirUIlMikH1kVbFoYaoeWRBXdNdFhyVoo6WBuiS0aS+P8+7//e/I8vhY/rXftNa5ENxWB6vumN70p2UWmhbmKqbPOOiu5FP1YpD/G3fz70Y9+lOxi0DXpB0gM9f8qCuS7FqcS+CTYpG8j6Rb5sgKWfux1Fpl+ECUm6YyddKEnP/TnYqe/09kTaVzSmKs41kJOd+fSBa+KZT2eJ176SNjL8tJdVPHSYlx3zFNxJr27Kg7ZR6mysWxd6Bc9d+iRRx5J5p0KB4lY6dhFv1XtBCzdJdROBi1yFTftDEkfTdQ1qPCT/xKK9G8JlumCWCKsOGlhrI/mqQQ+FTnZ8xGKtu90iHunbf+d2peJZ3b+SzTU9Uik05wTl3aPbRaNQygBq465qMWFivg777wzWSztv//+RS9/qH0v1hIjis5NGVfOlrD0mte8Zlh+lRgpIVSitz69BKxOeVd9xUE5X7mn9W589g23ylPKG7qBkR7+qx0ByiO33nrr0E2KMo+09Fpgas5qYafFhXaItp6Jp3wisUe5MN1tmObKLCuddaZrTd+AWeZ3pdv1dROwxDr7m6f///GPf5wI+lqsKtZ/+7d/O5TH09+F1t9J5QJdq/rok0fACpl30++q3nKsxVv2sU7FTL/p2l2s3xrdYNKnaB4t2j5m3s3uipG4rO+vcq2+J6qB+vWTilW6qaWdVxJWdE0SsLUbS/WSHi9s/ZTJYWV+y7txjZFfytR2qUj4uc99bsTxCmmu0K607CObZfKthGWJLbqxrPmqurrop5OAVSYfFP29L9q+E6NOu5XbtddvnnYgaweanvrQf6e1uoQtrXW0vlKtnn2yoKn5oOh8ob1/AghY/plisWYC2UVGr6F1p0GFse5Gp4cUK/kq8ep8LC0MWs8yyO5UyC6Usou2dm+i0Z1miSgSB7TQ0p3HtBDdcccdkz9LBYPUbz2eolf2ZgWs7Bvb2j2ilt1ZlhUbuvn3/PPPJ7uetOOs3QGOt9xyS3LXOCu+dWOb9y2ErcJcykOFbbvHbLILsyzjNOYS11Q8pgsy+ZgtKsVYd5Jad5akP6rZrf/pn2mHkhbb2Y9iqbG0yNcjEekuvKIC1r333usOP/zw5NDytAjuNWfb/X2nt69pV5iKMol+rY9DpfNRRUd6Vy0tYPSd0D9ZTjpgXgW5dmz84z/+YyIeFm3vYyFVNp7pnNRuubJ3WXvFpt0jDL36tM7ZdkVkHXOxrOjc7vp6sdY1Fp2bad7T915irxYc2U+6oJSQ0UvASr93enuiFprKv9nP//7v/ybiiu4ktztrTkW5bnJkd49kfxey4kSZBVXet4TpzrYWDmKRFWDTBY0er7nyyiuddjpmP+n5T3p0JF38lf1dKStg6SZPuxc2pIdi62aF5khW4On0O5kKbxLm8whYofKubiDp90ffVx0C3e5tdOn1Zc+ZKZpHi7aPmXfT3PXGN74xqXH0OFITPulNztbHBdPvns5Vbc0RVXJY0XyZV8Dq1s5nfilT26XzVjdzteNVxx1kP/ouSRTVS2/SG9Bl8m1a37Y+iVFknrYTsMrmg6K/90Xb+xCw0l1rmtPK460vcUljp7o2PapBPJuaD4rMFdqGIYCAFYYrVmskkC7m022w6dDZLfy6C6hdVHr0rszbYtoJBumiTUJYuwN107u+KuBSwUAijX542wkG8luigQQXHRaaCjrpuV16NLHT3aL0x0U2UmGk1wK12zlKacHcTiDqtoBNH53pFP5WAUs7BvTIm4o1+dPurZDtxLTU9+yiJx0zZSjho5NIlMYmXSBpYZqOo8Whdslpp12vO8ZFBayU66GHHlrpEN0yB7+m80HXnM7HdGGnBa9svuENb+j6/Sja3sdCqmw8e30/faSoUAJWHXOxV34Qn243B7IL8qqs283N9Duq72a7F250urHQThBMRQTtwpMo3+6j3U3agZUVo7rlGdlI+2QFtDILqrwClsbcZ599EoE6PXRYNzC0u1L/dNsxK6FFO2tTBmV/V8oKWNmdn1n+6W9idj6lfyb+ysWtNyDSw7S1UMojYMXMu+12aRbNo0Xb1513X7bjju7aP9ykS6+3U7x95N26bWSFqNabIelc1E7W7MJdPpbNYb2ur12+9CFg+cwvZWo7jZ/uaFOe1o5RncvYbbd0mXybztG89W07tr3OI+wUj3b5oOjvfdH2PgSs9AVY3W5qp3k7W5c3MR/0+n7y9/UQQMCqhzOjBCTQ6RFCFfbp4wY//elPk8fRdBB29vXw7dzS1mfd2ZUopH6625se6t5uB1ZWEMjaa/ej0W7Bk+2jN6Lo7tIPfvCDIQErj5iUnvGhtunjLL2KnBAClq6l14HF2evNI8SkxbsejUzPLevWL91pJP7p+UqtcU7PhdKZSKm/epRIj6bo//VJDw7V4bMSdrQTqXUhVVTASn3TbibfO7Bar1HnFOl16ZoHuqOpO8V6VCwrnmmho0W7tuzrk760QI/y6Mwv8ckWj2XatzvTqsgjhGXj2Wv++0hJoR4hrGMuhhCwOuXCMnMzfcwjPTA5u8sytZcukrrtwMoKXenZge1in56PlxVSeuWndo/MlVlQ9XrEJz3DTTta9Ni5clP6uHivvum1tt4I0G+MDvLttohr97tSVsDq9KardoJjL+7ZHcR5BKy68q7iJGZ6bFMCoUQN5V1917LXXyaPFs3TsfJukZzoIwfXYWP58uXJIfS6qdW6y0p1psRh7Whv3c1eNoeVyZd5Bax235cQ+UXHMLS+YKPVx3a1nfKBdn7rO6OPbkyrZtEuWIn3rTegy+TbVIzxvQOr9fry5oOiv/dF2/sQsNKbQK0bBbLXnG4ayP6mNDEf1JFzGKM3AQSs3oxoYZxArzOw0sMwdfZV69kh6aW1viVGAlb60WJBP5qPP/74sEdVei2Q2/1o9CrM2905zSNgtVvE9PKvXwSsdteRx/c807Z1R1jrW6+yNlRASQTNbmsvKmClO+VUgPg+A0u+pm/vSd/ylfVfjw7q73VWS/ZgzvRtNunbrbJ9dFC2dntMnjx5SLwr0t7HToB0/heNZ6/5n8derzZFirNO3+NO51CEnovpGVh6BC97tl+Za87DuujczJP32glIrTyL7G7StVsUsNKY6OaKvo96jCldJOjvJFZogdFNzGnlqXMQewlY7X5XLAhYuuYiuTdk3pWAIYFMh/frvCPVGelHNwR0s0KPMbcKeEXyqOwVaR8z7xbJib1yjYW/zx7e3ssfPVaVfQS5bA4r+1veyb+8IrfP/KIzBXsJWJ1+N3TIePaNr9laXGfK6SxCfbf0KSNgpcJZ+pIln2dglc0HRX/vi7T3IWAVOaoFAatXpuDvfRBAwPJBERtRCfQSsFSA6LEJHfqrAiN7cLcc1w+OnunW7iwdAK4DwXVehw7Y1oGsOqeq3d2kXou2bjuw2p2zJF/KCljpnXI9wpcKI738yyMC5d1inWc3R7tJ0kvQU5+02NAZEzpoXIVLt37Z827Ss8eKTlDNCR08rTuv4nnbbbclCxP5kH37V5FFVDa+Wmy2O8+snZ+arzobTY/BaleUHrNsd/3Zt1tqp4l81du+dK6F5rHO+dEhwt12yehxCO3M0EHR2rGhhV9rUZ71sVd7HwupsvHsNf+Lzol27Yss1ooKWOl4oeZi9myxvG8hlE/trrkX6zJzM929oDkrcWCrrbYaEYI8Alb2OrOPB+aJf6/8VNcOrKyvrY/DiUseASvdgZU+ri2+vQSsdr8rFgSsbEzz7MDKLuB9593sDTLtEpborxsjumGgx5+Uu/VikE470BTbXnm0da72ah8z7xbJiXm+g7HbpAeqS/DttKNbPqZv7s3m0rI5rEy+7MYpr4AlG77yi2729RKw2tV22euQoKY3Fn/rW99KXlak3Yz6ZM8hKyNgPfPMM0k9pWvNcz6mfoN1DqieyNBZifqed3qEsGo+yPt7X6Q+8CFgpY+gtzu2o9vca1o+iJ2PGP//CCBgMRv6nkAvAUsXqC39etuRhAj9ACkZp1uR07uzOuhWwtLUqVOHMcmeMVL1EcLWRUTrmU/prgj9O320LV0c6iyYTmdgtXtDTq9FpQUBK/1x63YGVnqwffbZ+26+Zw+bLPI4Y7cvgt7WKIFT8ye7YCoqYGmM9DBYHRSffVtLu/Gzh9hnz+9pd/1pgaGzR/Smsdat9umZN7rbmN2B1em6s2+jzLPoa9fex0KqbDx7zX8fia9IcVZWwGr10+dcTA8g1ttT271UIq9o14t1mbmZxl3n0LXLe53ycrsdben4nc5U6jQX+kHA0g5hPVaoRV2nM7CyjzmleaTs70odAlb6veoUr1RY082FPAJWqLyb+vHNb36z4+7u9DHXbgJWdv71e94tkhN95ODQNtL6o9fNvLRd9iZX2RxWJl+GErDK5peytV2n61AO0++V6ibdXE5rmDICVnZXXeubZ9uNn74EQ28TTd+W2k7ACpEPOv3ed+LUrr0PAStdu/T6HrT61bR8EDrfYD8/AQSs/KxoaZRAHgFLrqdvLtJ/a7Gmt+zp0+uA1+yPV1UBKxWaNG67NzKlPurubSq+FHlbVPbHpdei0oKAVeRNNVn23XzXoxbabact6FdccUUiXLaeXXX33Xcnr5vXTjvtrtt6662TRaDu9Kl4bH0TZac7mGUErPSNZyqG9BZInfHT7pAw4wfqAAAbrUlEQVTS7M5AFWy6ft3R16f1+nvtMMi+qTJ7BpYENJ3FpS357d6g1TpO0fY+BKwy8dSLE3rNfx/prEhxllfA0vk+dc1F5RZ9VzQPTzzxxOS7kD6a0Y6PRFCd0ac81e4Q93a7+8rOzWzc273ltVNebidgpWfY6PHfdkJd6qN2sOosG52N0u571qk493mIezdBRgsvidNadGVzfd63EOpMyHTHQdnflToErF5v61X+1stQtDsmr4AVIu/22nmcvQGR/b4UzaNF28fMu0Vyoo8cHNJG9jvSLgdlx053auncs7RtmRxWNl/6ELB85pcytZ0etdUh7jqnVrvts2991fW1+00vI2Blbemc0M9//vNDL8Vo5ahdYNpVJ7/09nLtnpdf7QSsMvmg6O+93jJdtD7wIWClaxfltNanWMQsnTt6hFYvZtJ5sqprm5QPQuYabBcngIBVnBk9jBHIK2CpMNBibcGCBcmPVbqQSX90VODqFeR6TEuChxb9Stp6PbbEJn2qCljZxxm1hVmLES36sgfO60ya1rOZUmFLu2f0Y/qmN70p+XHQ2V0qliRA6JMe7Nvpxz4bOgsClooDvZFR25J1xpTOTZB4p4/uROvPdeaL/k6Fg84TybOw1CJWb3PU5xOf+ERSeIwdOzbh/LOf/Sx55EZMdXi5Dl5VvNOdURI2JX698pWvTPqrj8Smd7/73e4Vr3hFWyGp0yOhnb4q2W3mEtIkCuy0005DzVUkSHzTokef1rPbWmMnH9NdGMcdd1wyR3TnVB/Ne80RzWPdEc4KWOnC9zWveU0y3p//+Z8PiX0//vGPE/FPuxe100G7dIq297GQ0jWUiWe/Cli63jrnYvZxFc2ND3zgA27//fcf9gZO5UbNcX0X9SjtYYcdljyWrcdTe+WasnMzG/dtt902WdDo/DZ9V7VDVW+nU75uzcvtBKxs7n/729+e5JVUDNbfae5rB1Mvobj1+9ztEUK9PbPdq+Db5YQ8j/josTGdbad8ppdQZG/CZIUS5ZPzzjtvKFfq+6vfPbXXW730m5MeiF/mdyVdDLW7vnY8ei1g2sUr+7ugHdPKbcr9mkt67Oj9739/khP0yStgqa3vvJs+ivSNb3wjmUPvete7hl4SI0FD3xH9pumTFbCK5tGi7WPm3V7x7vSbaPHPUxHmxS9+cdsbjlmfs7t69BusOlO7oNPfrrw5rEq+7MQwRn4pU9tlBUN951WnpblKYqC+TxLvdZNBf6+arls+6janWo8OUX2kw+MV6/ST/Q5PmDBh2BMa7QSssvmg6O990fY+BKzs2kVv6tYLqXRUhX6PFWvtQNTvjD5pvaj/blI+sJijBtknBKxBjn5Drj2vgKXL1WGrunMrEUOFvF4rrh+y9A6L2qRvqkrfSpWea6HFW/b5714L5E4/GtldD9rtoHOKtCDReQmvfe1rhwrg7ONv+oGQiKEfbwk7qY/puQsSK7TA03kx6W6jXv5ZELDEW5xVkGiBlfLQHTjthtBiWfz1g60DN9NPr0d7FFPx04GfspG+OSV9S4rsSDRSEZQ+aqd4yQ8t1PXRG4dUzKTzQAWMCiiJaSnj9MdZ/CU6qgBKhbNexZPeDCj/dJ3ZeZf1UX6rUNAbkLK7yNpdv+a0FlASQFN/ZFf2Nb8kwGkHjYos3UHTuVgqbLUg1rxu54PikX17Z5n2Vd+GJb/KxLPX/PeR/ooUZ3l3YMmvOueixtN3RPlQO7GUX9LvoRYP6fxXO80rFfrvfe97hz2i2ot1mbmZxj09nzDNe1oIpt8Z5cvvfOc7w24sdDoUX0Kd7grrDnF6fVoAPfzww4mwq++aRAiJd3nzTDvBJrtYlE2dIafvkP7d6VPkoHn5LrFN36vsG3V1HRKoJEql33/9btx///1JTCXiayeP3qaafsr8rnS7Pl8ClvzLxiu9Ho2dniuknKZ5W+QxceURn3k3uwgW49bfGf3/2972tuTtufrdUJ3xohe9qNF5t0hO9JGDQ9nIPnabPb6g23jpTk+1ufnmm5Od3K1zRLVbrxxWNl9ayy9lajudwSnRWjk+/d7rqI00T0s8kTiY3jwpk29TTtkbwPoNaFf36c/09kPd1FRNmH7aCVhl80HR3/sy7dO6NHt8RKffym5rF9040pmUWVbd1iFNyQeh8gx2yxNAwCrPjp5GCBQRsPQDox8i3cHNHuje+oYfLRIknGiXlHbk6CBJPVbyZ3/2Z0OvUe61aOu2tbl1PIkjOuhVP9wSLFSktxbm6dtNtN1ZZ25ofBXIWphIOEl3FKRh6eWfFQFL/orH17/+9eQup+42a2Giw/S1W0KCY+t5Tr0ErHTxqx10EvZ0dpV4qCCSXT0upbPOWh/dk7ioMw7khxY6qfg1ffr0ZPHbyljtdYf9C1/4QrII7naWV7uvi8QqXfdNN92UCE+ykc49LXje8pa3uPHjx4/o2un6W9/eo/kh37WTSgWfDlXV/Mo+DiH22mGma0h90HzUWR66Zu1KyYpnRdr72glQJp695r+P9FWkOCsiYMm3eubiJufcqCEUeixPZ11oTqbzP/3OSETVDq128zEP6zJzM4179i1vEi7e+MY3Jo906FBd5ejszthORblsaT7qBQXKoWqXimISGZRD0x2eKZBeeaadYKO+Wmyp0NfOHI0hUenggw/uOOXyCFhaPGlBrMczdNOj3WPHmjMSp3UHPN2hpHync2O0s1iCXeun6O9Kt+vzKWCl3wGdIaWbCspNymfK3fpN0K5jzYsiAlZ67T7zbrs3GOu3RfWCfr+UL7V4VIyzxwYUyaPpb2TePB0z7xbJiT5ycCgb2YO+9fus71Gvj77ruimlm3HZg8Zb30zXK4dpnLL5sp2PMfNL0dpO/v/iF79IXpajuk21sD76TukGrXJZaz1YNN+2MtIOYwmOt95664jfPR2tcPjhh48Ys9Mh7mXzQZnf+7y1qo8dWCkz3fTQTlY9EZHW6mmd2a5Gbko+6PXd5+/rJ4CAVT9zRoQABCAAAQhAAAIQKEEgXZBld5OWMEMXCEAAAhCAAAT6kAACVh8GDZchAAEIQAACEIBAEwlo14XOYtNZldrJpsfusp/0KAA9QqrH817ykpc0EQPXBAEIQAACEIBAGwIIWEwLCECgfwkMfwKqf68DzyEAAQhAICGgR6n1dlY90iqB6g1veMPQI5N6vEjils4y09/p0U8+EIAABCAAAQgMDgEErMGJNVcKAQhAAAIQgAAETBNod/C1zifr9hIO0xc0yM5xk2mQo8+1QwACEAhCAAErCFaMQgACEIAABCAAAQiUIdDucPleL+EoMw59IAABCEAAAhDoLwLDBCxulPRX8PAWAhCAAAQgAAEIQAACEIAABCAAAQgMAgF2YA1ClLlGCEAAAhCAAAQgAAEIQCA/Ae7s52dFSwhAAAI1EUDAqgk0w0AAAhCAAAQgAAEIQAACEIAABCAAAQiUI4CAVY4bvSAAAQhAAAIQgAAEIAABCEAAAhCAAARqIoCAVRNohoEABCAAAQhAAAIQgAAEIAABCEAAAhAoRwABqxw3ekEAAhCAAAQgAAEI9DEBjjjq4+DhOgQgAAEIDCQBBKyBDDsXDQEIQAACEIAABCAAAQhAAAIQgAAE+ocAAlb/xApPIQABCEAAAhCAAAQgAAEIQAACEIDAQBJAwBrIsDfponkAoEnR5FogAAEIQAACEIAABCAAAQhAAALtCCBgMS8gAAEIQAACEIAABCAAAQhAAAIQgAAETBNAwDIdHpyDAAQgAAEIQAACEIAABCAAAQhAAAIQQMBiDkAAAhCAAAQgAAEIQKAyAY41qIwQAxDoSIDvF5MDAhBwDgGLWQABCEAAAhCAAAQgYJgAC1fDwcE1CEAAAhCAQG0EELBqQ81AEIAABCAAAQhAAAIQgAAEIAABCEAAAmUIIGCVoUYfCEAAAhCAAAQgAAEIQAACEIAABCAAgdoIIGDVhpqBIAABCEAAAhCAAAQgAAEIQAACEIAABMoQQMAqQ40+EIAABCAAgUoEONOnEj46QwACEIAABCAAAQgMHAEErIELORcMAQhAAAIQgAAEIAABCEAAAhCAAAT6iwACVn/FC28hAAEIQAACEIAABCAAAQhAAAIQgMDAEUDAGriQc8H9ToAHj/o9gvgPAQhAAAIQgAAEIAABCEAAAkUJIGAVJUZ7CEAAAhCAAAQgAAEIQAACEIAABCAAgVoJIGDVipvBIAABCEAAAhCAAAQgAAEIQAACEIAABIoSQMAqSoz2EIAABCAAAQhAAAIQgAAEIAABCEAAArUSQMCqFTeDQQACEIAABCAAAQhAAAIQgAAEIAABCBQlgIBVlBjtIQABCEAAAhCAAAQgEIwAr2sJhhbDEIAABCDQ1wQQsPo6fDgPAQhAAAIQgAAEIAABCEAAAhCAAASaTwABq/kx5gohAAEIQAACEIAABCAAgYgE2FcXET5DQwACjSGAgNWYUHIhEIAABCDQ/wRY4vR/DLkCCEAAAhCAAAQgAIEQBBCwQlDFJgQgAAEIQAACHQkg0zE5IAABCEAAAhCAAASKEkDAKkqM9hCAAAQgAAEIQAACEIAABCAAgSwB7s4wHyAQnAACVnDEDAABCEAAAhCAAAQgAAEIQAACEIAABCBQhQACVhV69IUABCAAAQhAAAIQgAAEIAABCEAAAhAITgABKzhiBoAABCAAAQhAAAIQgAAEIAABCEAAAhCoQgABqwo9+kIAAhCAAAQgAAEIQAACEIAABCAAAQgEJ4CAFRwxA0AAAv+/vXsLsar64wD+syK7YBe7EEVgL1kJYZc3ox6ii1RkpXax8MHKoCxKjDAqKrKoLAoFlYjI6TqZVEZUFBVFJEUkRIUPWU9djZKQwpw/vxVbzhxnTP9zZtz7zGeDoHPOXnutz9qCflnrtwgQIECAAAECBAgQIECAAIEdCvzHYQgCLO8PAQIECBAgQIAAAQIECBAgQIBArQUEWLWeHp0jQIAAAQIECBAgQIAAAQIECBAQYHkHCBAgQIAAgcYL/MeK88aPzwAIECBAgAABAqNdQIA12t8A46+pgP+K1XRidIsAAQI7FPjoo4/itNNOK985/vjjo7e3NyZNmrTDe7788suYMWNGfPXVV3HOOefEM888E4cccsiwSWf7V155Zdxzzz1xxx13DOk59957b9x5553R09MTs2bNGlJbbiZAgAABAgQI7EhAgOX9IECAAAECBAh0SKA1wMomn3jiiZgzZ84OW1++fHlcd9115TsCrA5NhGYIECBAgACBrhMQYHXdlBoQAQIECBAgsLsEqgDr8MMPj82bN8cll1wSS5Ysif3333/ALm3atCmuv/76WLlypQBrd02a5xIgQIAAAQKNEBBgNWKadJIAAQIECBBogkAVYE2fPj22bNkSuT3wpZdeihNPPHHA7n/22WdxwQUXlF+ffPJJHHHEEbYQNmGi9ZEAAQIECBAYcQEB1oiTeyABAgQIECDQrQJVgDV37tw44YQT4qabboply5ZF/rn96uvri0cffbR8nrWk7r///gEDrPze119/XbYjvv766/HNN9/ExIkT47zzzot58+bFhAkTBmx73bp18dhjj8Urr7xSPs/VYFnz6oMPPhi0BtZff/0Va9asKc/KseQ1ZcqUuPrqq+P888+PsWPH9nuWGljd+iYbFwECBAgQqJ+AAKt+c6JHBAgQIECAQEMFWgOsrH01e/bsOPXUU2Pp0qUxbty4fqP67bffSn2sAw88MG644Yby+/YVWLmKKwOuhQsXRm43POmkk+Kwww6L7777rgRZ48ePL21feumlMWbMmNJ+Bl7PPfdcqatV3ZNF4devX1/az0DqkUce2a6I+88//xzz588v2xmzr5MnT4699torvvjii9i4cWNcddVVsXjx4vL86hJgNfRF1e1//65ExL9/a1wECBAg0AQBAVYTZkkfCRAgQIAAgUYItAZY9913X9x+++3x7rvvDriNcO3atTFt2rSy+ipPLswQqj3AeuuttyK3Ix555JElPJo6dWrssccesXXr1li1alUsWLCguOTJghlM5fXpp5+We/LKcKu6J8OsRYsWxQMPPFA+az2FMFdeZV/zGddcc01k36ugKoOtBx98MB5++OESpN19990l2MpLgNWI11InCRAgUF8BSXJ956aGPRNg1XBSdIkAAQIECBBopkBrgJXbA19++eWyXa99G2GuksqQKOtjvfDCC2Ww7QHWn3/+WVZmPfXUU9HT0xOzZs3qh5Jt5Fa/a6+9Nm688cYSMmWwlAFTBksrVqwoW/+qlVl5c7Xqa/Xq1f0CrKoW18knn1zazCCt9frpp59KsJWruHp7e2PSpEkCrGa+onpNgAABAgQaKyDAauzU6TgBAgQIECBQN4H2AOv7778vwVQWcW/dRvjLL7+ULXnHHntsCZ42bNiwXYCVda9mzpwZuf0vV1jlKqz2K7cSXnHFFeXHzz77bBxwwAGl3Xzuiy++GMcdd9x29yxfvrxsL2xdgVX9LLcW3nzzzQOyZo2uXIH1/PPPl77mZQVW3d5A/SFAgAABAt0rIMDq3rk1MgIECBAgQGCEBdoDrNzud+utt8Ybb7zRbxvhO++8ExdddFFZXXXxxReXelbtK7Da29p33323G83vv/9eVlnld1977bVST+uyyy6LQw89dNDTDLOI+xlnnLEtwPrnn39KcfcMqKoaWwOx5VbCzz//vF/wJcAa4RfM4wgQIECAwCgWEGCN4sk3dAIECBAgQKCzAgOFTrmNME8ArFY3ZWCU2/yyvlUWWz/mmGP+7wBr8+bNZcVUrqD68MMPS3A1UC2t1lFWfaxWYLW2sTMarSu3BFg7I+Y7BAgQIECAQCcEBFidUNQGAQIECBAgQCCirITKguxz586NrIGVq6a+/fbbuPzyy+Poo48u9aWytlXWs8rVTllQfe+99/6/A6xqBVaeFJj1tPbbb7+yAuvggw8uWwpbTwysJqg9wPr777/jtttuK/1t3R64MxMqwNoZJd8hQIAAAQIEOiEgwOqEojYIECBAgAABAoMEWFVAlOFQbvPbuHFjnH322WUF1llnnVXcBtpCWP0sw6jBamBV4diee+5ZAquDDjqobCmsAq2svdV+Pf300zF79ux+WwEzvLrllltKTas8jbC18PuOJlaA5bUnQIAAAQIERkpAgDVS0p5DgAABAgQIdL3AYHWrXn311bjwwgtLwfY8CfDjjz/uF0oNFGDtyimE1YqvffbZp6ykmj9/fixevLhsL2wNo/7444+YN29eZIjVuhVw7dq1MW3atFL0feXKlXHUUUf1m6tqm2EGY9n29OnTy+cCrK5/pQ2QAAECBAjURkCAVZup0BECBAgQIECg6QKDBVjVaYG//vprZIiUq6TuuuuuyJVTeQ0UYOXPc5VWhkV5AmEGUlOnTo0sDL9169ZYtWpVLFiwoNyfK7SmTJlSfr9+/fpyEuEPP/wQDz30UKm/lfdkIJZ/zvpbebUGWBlQZbH5JUuWlO2OixYtigkTJpTv5WcrVqwohd5zRVdPT8+2zwRYTX9j9Z8AAQIECDRHQIDVnLnSUwIECBAgQKDmAoMFWK0n/Y0bNy5Wr14dZ5555rbRDBZgbdmyJZYtWxYLFy6MTZs2bTslMAOxvGf8+PGxdOnSUri9daXV+++/X7YJ5vcmTpxY6m9lsJXbF0855ZR47733+gVY2ZEff/yxrM7q7e2N7OPkyZNj7Nix5b6qnQyyTj/99G39FmDV/IXUPQIECBAg0EUCAqwumkxDIUCAAAECBHavwGABVvbq7bffLrWvzj333LJNL08MrK7BAqz8vK+vL9atWxdPPvlkvPnmmyW4ylBqxowZMWfOnG2rodpHvmHDhnj88ccjT0HMACoDsyzWnqFUhlCtK7Cqe3O11Zo1a8qzcixVaDZz5szyrPai8AKs3fu+eToBAgTqI9AXEWPq0x096UoBAVZXTqtBESBAgACB3SPgn6+7x91TCRAgQIAAAQLdLiDA6vYZNj4CBAgQIECAAAECBAgQIECAQMMFBFgNn0DdJ0CAAAECBAgQIECAAAECBAh0u4AAq9tn2PgIECBAgAABAgQIECBAgAABAg0XEGA1fAJ1nwABAgQIECBAgAABAgQIECDQ7QICrG6fYeMjQIAAAQIECBAgQIAAAQIECDRcQIDV8AnUfQIECBAgQIAAAQIECBAg0H0Czjbuvjkd2ogEWEPzczcBAgQIECBAgAABAgQIECBAgMAwCwiwhhlY8wQIECBAgAABAgQIECBAgAABAkMTEGANzc/dBAgQIECAAAECBAgQIECAAAECwywgwBpmYM0TIECAAAECBAgQIECAAAECBAjsqkD/OmgCrF31830CBAgQIECAAAECBAgQIECAAIERFRBgjSi3hxEgQIAAAQIECBAgQIAAAQIECOyqgABrV8V8nwABAgQIECBAYAQFHKM+gtgeRYAAAQIEaisgwKrt1OgYAQIECBAgQIAAAQIECBAgQIBACgiwvAcECBAgQIAAAQIECBAgQIAAAQK1FhBg1Xp6dI4AAQIECBAgQIAAAQIECBAgQECA5R0gQIAAAQIECBAgQIAAAQIECBCotYAAq9bTo3MECBAgQIAAAQIECBAgQIAAAQICLO8AAQIECBAgQIAAAQIECBAgQIBArQUEWLWeHp0j0CQBx5w3abb0lQABAgQIECBAgAABAk0SEGA1abb0lQABAgQIECBAgAABAgQIECAwCgUEWKNw0g2ZAAECBAgQIECAAAECBAgQINAkAQFWk2ZLXwkQIECAAAECBAgQIECAAAECo1BAgDUKJ92QCRAgQIAAAQIECBAgQIAAAQJNEhBgNWm29JUAAQIECBAgQIAAAQIEOi7gOKKOk2qQQMcFBFgdJ9UgAQIECBAgQIAAAQIECBAgQIBAJwUEWJ3U1BYBAgQIECBAgAABAgQIECBAgEDHBQRYHSfVIAECBAgQIECAAAECBAgQIECAQCcFBFid1NQWAQIECBAgQIAAAQIECBAgQIBAxwUEWB0n1SABAgQIECBAgAABAgQIECBAgEAnBQRYndTUFgECBAgQIECAAAECBAgQIFAjAWdM1mgyhtQVAdaQ+NxMgAABAgQIECBAgAABAgQIECAw3AICrOEW1j4BAgQIECBAgAABAgQIECBAgMCQBARYQ+JzMwECBAgQIECAAAECBAgQIECAwHALCLCGW1j7BAgQIECAAAECBAgQIECAAAECQxIQYA2Jz80ECBAgQIBAowTUcW3UdOksAQIECBAgQKASEGB5FwgQIECAAAECBAgQIECAAAECBGotIMCq9fToHAECBAgQIECAAAECBAgQIECAgADLO0CAAAECBAgQIECAAAECBAgQIFBrAQFWradH5wgQIECAQH0ElI+qz1zoCQECBAgQIEBgtAkIsEbbjBsvAQIECBAgQIAAAQIECBAgQKBhAv8Dk/9MJwFVETwAAAAASUVORK5CYII="/>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mc:AlternateContent xmlns:mc="http://schemas.openxmlformats.org/markup-compatibility/2006" xmlns:a14="http://schemas.microsoft.com/office/drawing/2010/main">
        <mc:Choice Requires="a14">
          <p:sp>
            <p:nvSpPr>
              <p:cNvPr id="17" name="Rectangle 16"/>
              <p:cNvSpPr/>
              <p:nvPr/>
            </p:nvSpPr>
            <p:spPr>
              <a:xfrm>
                <a:off x="846427" y="837571"/>
                <a:ext cx="7694612" cy="2769797"/>
              </a:xfrm>
              <a:prstGeom prst="rect">
                <a:avLst/>
              </a:prstGeom>
            </p:spPr>
            <p:txBody>
              <a:bodyPr wrap="square">
                <a:spAutoFit/>
              </a:bodyPr>
              <a:lstStyle/>
              <a:p>
                <a:pPr marL="742950" lvl="1" indent="-285750" algn="just">
                  <a:buFont typeface="Wingdings" panose="05000000000000000000" pitchFamily="2" charset="2"/>
                  <a:buChar char="Ø"/>
                </a:pPr>
                <a:r>
                  <a:rPr lang="en-US" sz="1600" dirty="0">
                    <a:latin typeface="Times New Roman" panose="02020603050405020304" pitchFamily="18" charset="0"/>
                    <a:cs typeface="Times New Roman" pitchFamily="18" charset="0"/>
                  </a:rPr>
                  <a:t>Recall: This metric is used to measure the recall of a classifier, and it is defined as the number of true positive predictions made by the model divided by the number of positive cases in the dataset  </a:t>
                </a:r>
              </a:p>
              <a:p>
                <a:pPr lvl="1" algn="just"/>
                <a:endParaRPr lang="en-US" sz="1600" dirty="0">
                  <a:latin typeface="Times New Roman" panose="02020603050405020304" pitchFamily="18" charset="0"/>
                  <a:cs typeface="Times New Roman" pitchFamily="18" charset="0"/>
                </a:endParaRPr>
              </a:p>
              <a:p>
                <a:pPr algn="just"/>
                <a:r>
                  <a:rPr lang="en-IN" sz="1600" i="1" dirty="0">
                    <a:latin typeface="Times New Roman" panose="02020603050405020304" pitchFamily="18" charset="0"/>
                    <a:cs typeface="Times New Roman" pitchFamily="18" charset="0"/>
                  </a:rPr>
                  <a:t>                                     Recall = </a:t>
                </a:r>
                <a14:m>
                  <m:oMath xmlns:m="http://schemas.openxmlformats.org/officeDocument/2006/math">
                    <m:f>
                      <m:fPr>
                        <m:ctrlPr>
                          <a:rPr lang="en-IN" sz="1600" i="1" dirty="0">
                            <a:latin typeface="Cambria Math"/>
                            <a:cs typeface="Times New Roman" pitchFamily="18" charset="0"/>
                          </a:rPr>
                        </m:ctrlPr>
                      </m:fPr>
                      <m:num>
                        <m:r>
                          <a:rPr lang="en-IN" sz="1600" i="1" dirty="0">
                            <a:latin typeface="Cambria Math"/>
                            <a:cs typeface="Times New Roman" pitchFamily="18" charset="0"/>
                          </a:rPr>
                          <m:t>𝑇𝑃</m:t>
                        </m:r>
                      </m:num>
                      <m:den>
                        <m:r>
                          <a:rPr lang="en-IN" sz="1600" i="1" dirty="0">
                            <a:latin typeface="Cambria Math"/>
                            <a:cs typeface="Times New Roman" pitchFamily="18" charset="0"/>
                          </a:rPr>
                          <m:t>𝑇𝑃</m:t>
                        </m:r>
                        <m:r>
                          <a:rPr lang="en-IN" sz="1600" i="1" dirty="0">
                            <a:latin typeface="Cambria Math"/>
                            <a:cs typeface="Times New Roman" pitchFamily="18" charset="0"/>
                          </a:rPr>
                          <m:t> + </m:t>
                        </m:r>
                        <m:r>
                          <a:rPr lang="en-IN" sz="1600" i="1" dirty="0">
                            <a:latin typeface="Cambria Math"/>
                            <a:cs typeface="Times New Roman" pitchFamily="18" charset="0"/>
                          </a:rPr>
                          <m:t>𝐹𝑁</m:t>
                        </m:r>
                      </m:den>
                    </m:f>
                    <m:r>
                      <a:rPr lang="en-IN" sz="1600" i="1" dirty="0">
                        <a:latin typeface="Cambria Math"/>
                        <a:cs typeface="Times New Roman" pitchFamily="18" charset="0"/>
                      </a:rPr>
                      <m:t> </m:t>
                    </m:r>
                    <m:r>
                      <a:rPr lang="en-US" sz="1600" b="0" i="1" dirty="0" smtClean="0">
                        <a:latin typeface="Cambria Math" panose="02040503050406030204" pitchFamily="18" charset="0"/>
                        <a:cs typeface="Times New Roman" pitchFamily="18" charset="0"/>
                      </a:rPr>
                      <m:t>     </m:t>
                    </m:r>
                  </m:oMath>
                </a14:m>
                <a:r>
                  <a:rPr lang="en-IN" sz="1600" i="1" dirty="0">
                    <a:latin typeface="Times New Roman" panose="02020603050405020304" pitchFamily="18" charset="0"/>
                    <a:cs typeface="Times New Roman" pitchFamily="18" charset="0"/>
                  </a:rPr>
                  <a:t>..............................................(3)</a:t>
                </a:r>
              </a:p>
              <a:p>
                <a:pPr algn="just"/>
                <a:endParaRPr lang="en-IN" sz="1600" dirty="0">
                  <a:latin typeface="Times New Roman" panose="02020603050405020304" pitchFamily="18" charset="0"/>
                  <a:cs typeface="Times New Roman" pitchFamily="18" charset="0"/>
                </a:endParaRPr>
              </a:p>
              <a:p>
                <a:pPr marL="742950" lvl="1" indent="-285750" algn="just">
                  <a:buFont typeface="Wingdings" panose="05000000000000000000" pitchFamily="2" charset="2"/>
                  <a:buChar char="Ø"/>
                </a:pPr>
                <a:r>
                  <a:rPr lang="en-US" sz="1600" dirty="0">
                    <a:latin typeface="Times New Roman" panose="02020603050405020304" pitchFamily="18" charset="0"/>
                    <a:cs typeface="Times New Roman" pitchFamily="18" charset="0"/>
                  </a:rPr>
                  <a:t>f1-score: This is a metric that combines precision and recall, and it is defined as the harmonic mean of precision and recall </a:t>
                </a:r>
              </a:p>
              <a:p>
                <a:pPr lvl="1" algn="just"/>
                <a:endParaRPr lang="en-US" sz="1600" dirty="0">
                  <a:latin typeface="Times New Roman" panose="02020603050405020304" pitchFamily="18" charset="0"/>
                  <a:cs typeface="Times New Roman" pitchFamily="18" charset="0"/>
                </a:endParaRPr>
              </a:p>
              <a:p>
                <a:pPr algn="just"/>
                <a:r>
                  <a:rPr lang="en-IN" sz="1600" i="1" dirty="0">
                    <a:latin typeface="Times New Roman" panose="02020603050405020304" pitchFamily="18" charset="0"/>
                    <a:cs typeface="Times New Roman" pitchFamily="18" charset="0"/>
                  </a:rPr>
                  <a:t>                  	f1- score = </a:t>
                </a:r>
                <a14:m>
                  <m:oMath xmlns:m="http://schemas.openxmlformats.org/officeDocument/2006/math">
                    <m:f>
                      <m:fPr>
                        <m:ctrlPr>
                          <a:rPr lang="en-IN" sz="1600" i="1" smtClean="0">
                            <a:latin typeface="Cambria Math"/>
                            <a:cs typeface="Times New Roman" pitchFamily="18" charset="0"/>
                          </a:rPr>
                        </m:ctrlPr>
                      </m:fPr>
                      <m:num>
                        <m:r>
                          <a:rPr lang="en-US" sz="1600" b="0" i="1" smtClean="0">
                            <a:latin typeface="Cambria Math"/>
                            <a:cs typeface="Times New Roman" pitchFamily="18" charset="0"/>
                          </a:rPr>
                          <m:t>2∗</m:t>
                        </m:r>
                        <m:r>
                          <a:rPr lang="en-US" sz="1600" b="0" i="1" smtClean="0">
                            <a:latin typeface="Cambria Math"/>
                            <a:cs typeface="Times New Roman" pitchFamily="18" charset="0"/>
                          </a:rPr>
                          <m:t>𝑃𝑟𝑒𝑐𝑖𝑠𝑖𝑜𝑛</m:t>
                        </m:r>
                        <m:r>
                          <a:rPr lang="en-US" sz="1600" b="0" i="1" smtClean="0">
                            <a:latin typeface="Cambria Math"/>
                            <a:cs typeface="Times New Roman" pitchFamily="18" charset="0"/>
                          </a:rPr>
                          <m:t>∗</m:t>
                        </m:r>
                        <m:r>
                          <a:rPr lang="en-US" sz="1600" b="0" i="1" smtClean="0">
                            <a:latin typeface="Cambria Math"/>
                            <a:cs typeface="Times New Roman" pitchFamily="18" charset="0"/>
                          </a:rPr>
                          <m:t>𝑅𝑒𝑐𝑎𝑙𝑙</m:t>
                        </m:r>
                      </m:num>
                      <m:den>
                        <m:r>
                          <a:rPr lang="en-US" sz="1600" b="0" i="1" smtClean="0">
                            <a:latin typeface="Cambria Math"/>
                            <a:cs typeface="Times New Roman" pitchFamily="18" charset="0"/>
                          </a:rPr>
                          <m:t>𝑃𝑟𝑒𝑐𝑖𝑠𝑖𝑜𝑛</m:t>
                        </m:r>
                        <m:r>
                          <a:rPr lang="en-US" sz="1600" b="0" i="1" smtClean="0">
                            <a:latin typeface="Cambria Math"/>
                            <a:cs typeface="Times New Roman" pitchFamily="18" charset="0"/>
                          </a:rPr>
                          <m:t>+</m:t>
                        </m:r>
                        <m:r>
                          <a:rPr lang="en-US" sz="1600" b="0" i="1" smtClean="0">
                            <a:latin typeface="Cambria Math"/>
                            <a:cs typeface="Times New Roman" pitchFamily="18" charset="0"/>
                          </a:rPr>
                          <m:t>𝑅𝑒𝑐𝑎𝑙𝑙</m:t>
                        </m:r>
                      </m:den>
                    </m:f>
                  </m:oMath>
                </a14:m>
                <a:r>
                  <a:rPr lang="en-IN" sz="1600" i="1" dirty="0">
                    <a:latin typeface="Times New Roman" pitchFamily="18" charset="0"/>
                    <a:cs typeface="Times New Roman" pitchFamily="18" charset="0"/>
                  </a:rPr>
                  <a:t> ...............................</a:t>
                </a:r>
                <a:r>
                  <a:rPr lang="en-IN" i="1" dirty="0">
                    <a:latin typeface="Times New Roman" pitchFamily="18" charset="0"/>
                    <a:cs typeface="Times New Roman" pitchFamily="18" charset="0"/>
                  </a:rPr>
                  <a:t>(4)</a:t>
                </a:r>
                <a:endParaRPr lang="en-IN" dirty="0">
                  <a:latin typeface="Times New Roman" pitchFamily="18" charset="0"/>
                  <a:cs typeface="Times New Roman" pitchFamily="18" charset="0"/>
                </a:endParaRPr>
              </a:p>
            </p:txBody>
          </p:sp>
        </mc:Choice>
        <mc:Fallback xmlns="">
          <p:sp>
            <p:nvSpPr>
              <p:cNvPr id="17" name="Rectangle 16"/>
              <p:cNvSpPr>
                <a:spLocks noRot="1" noChangeAspect="1" noMove="1" noResize="1" noEditPoints="1" noAdjustHandles="1" noChangeArrowheads="1" noChangeShapeType="1" noTextEdit="1"/>
              </p:cNvSpPr>
              <p:nvPr/>
            </p:nvSpPr>
            <p:spPr>
              <a:xfrm>
                <a:off x="846427" y="837571"/>
                <a:ext cx="7694612" cy="2769797"/>
              </a:xfrm>
              <a:prstGeom prst="rect">
                <a:avLst/>
              </a:prstGeom>
              <a:blipFill>
                <a:blip r:embed="rId2"/>
                <a:stretch>
                  <a:fillRect t="-659" r="-396" b="-659"/>
                </a:stretch>
              </a:blipFill>
            </p:spPr>
            <p:txBody>
              <a:bodyPr/>
              <a:lstStyle/>
              <a:p>
                <a:r>
                  <a:rPr lang="en-IN">
                    <a:noFill/>
                  </a:rPr>
                  <a:t> </a:t>
                </a:r>
              </a:p>
            </p:txBody>
          </p:sp>
        </mc:Fallback>
      </mc:AlternateContent>
      <p:graphicFrame>
        <p:nvGraphicFramePr>
          <p:cNvPr id="21" name="Table 20"/>
          <p:cNvGraphicFramePr>
            <a:graphicFrameLocks noGrp="1"/>
          </p:cNvGraphicFramePr>
          <p:nvPr>
            <p:extLst>
              <p:ext uri="{D42A27DB-BD31-4B8C-83A1-F6EECF244321}">
                <p14:modId xmlns:p14="http://schemas.microsoft.com/office/powerpoint/2010/main" val="412076573"/>
              </p:ext>
            </p:extLst>
          </p:nvPr>
        </p:nvGraphicFramePr>
        <p:xfrm>
          <a:off x="1264733" y="4153736"/>
          <a:ext cx="6858000" cy="2093531"/>
        </p:xfrm>
        <a:graphic>
          <a:graphicData uri="http://schemas.openxmlformats.org/drawingml/2006/table">
            <a:tbl>
              <a:tblPr>
                <a:tableStyleId>{8A107856-5554-42FB-B03E-39F5DBC370BA}</a:tableStyleId>
              </a:tblPr>
              <a:tblGrid>
                <a:gridCol w="1824011">
                  <a:extLst>
                    <a:ext uri="{9D8B030D-6E8A-4147-A177-3AD203B41FA5}">
                      <a16:colId xmlns:a16="http://schemas.microsoft.com/office/drawing/2014/main" xmlns="" val="20000"/>
                    </a:ext>
                  </a:extLst>
                </a:gridCol>
                <a:gridCol w="1483966">
                  <a:extLst>
                    <a:ext uri="{9D8B030D-6E8A-4147-A177-3AD203B41FA5}">
                      <a16:colId xmlns:a16="http://schemas.microsoft.com/office/drawing/2014/main" xmlns="" val="20001"/>
                    </a:ext>
                  </a:extLst>
                </a:gridCol>
                <a:gridCol w="1371600">
                  <a:extLst>
                    <a:ext uri="{9D8B030D-6E8A-4147-A177-3AD203B41FA5}">
                      <a16:colId xmlns:a16="http://schemas.microsoft.com/office/drawing/2014/main" xmlns="" val="20002"/>
                    </a:ext>
                  </a:extLst>
                </a:gridCol>
                <a:gridCol w="1423961">
                  <a:extLst>
                    <a:ext uri="{9D8B030D-6E8A-4147-A177-3AD203B41FA5}">
                      <a16:colId xmlns:a16="http://schemas.microsoft.com/office/drawing/2014/main" xmlns="" val="20003"/>
                    </a:ext>
                  </a:extLst>
                </a:gridCol>
                <a:gridCol w="754462">
                  <a:extLst>
                    <a:ext uri="{9D8B030D-6E8A-4147-A177-3AD203B41FA5}">
                      <a16:colId xmlns:a16="http://schemas.microsoft.com/office/drawing/2014/main" xmlns="" val="20004"/>
                    </a:ext>
                  </a:extLst>
                </a:gridCol>
              </a:tblGrid>
              <a:tr h="347653">
                <a:tc>
                  <a:txBody>
                    <a:bodyPr/>
                    <a:lstStyle/>
                    <a:p>
                      <a:pPr algn="ctr" fontAlgn="ctr"/>
                      <a:r>
                        <a:rPr lang="en-IN" sz="1200" u="none" strike="noStrike" dirty="0">
                          <a:effectLst/>
                          <a:latin typeface="Times New Roman" panose="02020603050405020304" pitchFamily="18" charset="0"/>
                          <a:cs typeface="Times New Roman" panose="02020603050405020304" pitchFamily="18" charset="0"/>
                        </a:rPr>
                        <a:t>Model</a:t>
                      </a:r>
                      <a:endParaRPr lang="en-IN"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IN" sz="1200" u="none" strike="noStrike" dirty="0">
                          <a:effectLst/>
                          <a:latin typeface="Times New Roman" panose="02020603050405020304" pitchFamily="18" charset="0"/>
                          <a:cs typeface="Times New Roman" panose="02020603050405020304" pitchFamily="18" charset="0"/>
                        </a:rPr>
                        <a:t>Accuracy</a:t>
                      </a:r>
                      <a:endParaRPr lang="en-IN"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IN" sz="1200" u="none" strike="noStrike" dirty="0">
                          <a:effectLst/>
                          <a:latin typeface="Times New Roman" panose="02020603050405020304" pitchFamily="18" charset="0"/>
                          <a:cs typeface="Times New Roman" panose="02020603050405020304" pitchFamily="18" charset="0"/>
                        </a:rPr>
                        <a:t>F Score</a:t>
                      </a:r>
                      <a:endParaRPr lang="en-IN"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IN" sz="1200" u="none" strike="noStrike">
                          <a:effectLst/>
                          <a:latin typeface="Times New Roman" panose="02020603050405020304" pitchFamily="18" charset="0"/>
                          <a:cs typeface="Times New Roman" panose="02020603050405020304" pitchFamily="18" charset="0"/>
                        </a:rPr>
                        <a:t>Precision</a:t>
                      </a:r>
                      <a:endParaRPr lang="en-IN"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IN" sz="1200" u="none" strike="noStrike" dirty="0">
                          <a:effectLst/>
                          <a:latin typeface="Times New Roman" panose="02020603050405020304" pitchFamily="18" charset="0"/>
                          <a:cs typeface="Times New Roman" panose="02020603050405020304" pitchFamily="18" charset="0"/>
                        </a:rPr>
                        <a:t>Recall</a:t>
                      </a:r>
                      <a:endParaRPr lang="en-IN"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extLst>
                  <a:ext uri="{0D108BD9-81ED-4DB2-BD59-A6C34878D82A}">
                    <a16:rowId xmlns:a16="http://schemas.microsoft.com/office/drawing/2014/main" xmlns="" val="10000"/>
                  </a:ext>
                </a:extLst>
              </a:tr>
              <a:tr h="642947">
                <a:tc>
                  <a:txBody>
                    <a:bodyPr/>
                    <a:lstStyle/>
                    <a:p>
                      <a:pPr algn="ctr" fontAlgn="ctr"/>
                      <a:r>
                        <a:rPr lang="en-IN" sz="1200" b="1" u="none" strike="noStrike" dirty="0">
                          <a:effectLst/>
                          <a:latin typeface="Times New Roman" panose="02020603050405020304" pitchFamily="18" charset="0"/>
                          <a:cs typeface="Times New Roman" panose="02020603050405020304" pitchFamily="18" charset="0"/>
                        </a:rPr>
                        <a:t>( Random Forest + Context Correlation ) Classifier</a:t>
                      </a:r>
                      <a:endParaRPr lang="en-IN" sz="12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IN" sz="1200" b="1" u="none" strike="noStrike" dirty="0">
                          <a:effectLst/>
                          <a:latin typeface="Times New Roman" panose="02020603050405020304" pitchFamily="18" charset="0"/>
                          <a:cs typeface="Times New Roman" panose="02020603050405020304" pitchFamily="18" charset="0"/>
                        </a:rPr>
                        <a:t>0.80</a:t>
                      </a:r>
                      <a:endParaRPr lang="en-IN" sz="12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IN" sz="1200" b="1" u="none" strike="noStrike" dirty="0">
                          <a:effectLst/>
                          <a:latin typeface="Times New Roman" panose="02020603050405020304" pitchFamily="18" charset="0"/>
                          <a:cs typeface="Times New Roman" panose="02020603050405020304" pitchFamily="18" charset="0"/>
                        </a:rPr>
                        <a:t>0.81</a:t>
                      </a:r>
                      <a:endParaRPr lang="en-IN" sz="12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IN" sz="1200" b="1" u="none" strike="noStrike" dirty="0">
                          <a:effectLst/>
                          <a:latin typeface="Times New Roman" panose="02020603050405020304" pitchFamily="18" charset="0"/>
                          <a:cs typeface="Times New Roman" panose="02020603050405020304" pitchFamily="18" charset="0"/>
                        </a:rPr>
                        <a:t>0.84</a:t>
                      </a:r>
                      <a:endParaRPr lang="en-IN" sz="12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IN" sz="1200" b="1" u="none" strike="noStrike" dirty="0">
                          <a:effectLst/>
                          <a:latin typeface="Times New Roman" panose="02020603050405020304" pitchFamily="18" charset="0"/>
                          <a:cs typeface="Times New Roman" panose="02020603050405020304" pitchFamily="18" charset="0"/>
                        </a:rPr>
                        <a:t>0.79</a:t>
                      </a:r>
                      <a:endParaRPr lang="en-IN" sz="12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extLst>
                  <a:ext uri="{0D108BD9-81ED-4DB2-BD59-A6C34878D82A}">
                    <a16:rowId xmlns:a16="http://schemas.microsoft.com/office/drawing/2014/main" xmlns="" val="10001"/>
                  </a:ext>
                </a:extLst>
              </a:tr>
              <a:tr h="584611">
                <a:tc>
                  <a:txBody>
                    <a:bodyPr/>
                    <a:lstStyle/>
                    <a:p>
                      <a:pPr algn="ctr" fontAlgn="ctr"/>
                      <a:r>
                        <a:rPr lang="en-IN" sz="1200" u="none" strike="noStrike" dirty="0">
                          <a:effectLst/>
                          <a:latin typeface="Times New Roman" panose="02020603050405020304" pitchFamily="18" charset="0"/>
                          <a:cs typeface="Times New Roman" panose="02020603050405020304" pitchFamily="18" charset="0"/>
                        </a:rPr>
                        <a:t>Hist Gradient Boosting Classifier</a:t>
                      </a:r>
                      <a:endParaRPr lang="en-IN"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IN" sz="1200" u="none" strike="noStrike" dirty="0">
                          <a:effectLst/>
                          <a:latin typeface="Times New Roman" panose="02020603050405020304" pitchFamily="18" charset="0"/>
                          <a:cs typeface="Times New Roman" panose="02020603050405020304" pitchFamily="18" charset="0"/>
                        </a:rPr>
                        <a:t>0.50</a:t>
                      </a:r>
                      <a:endParaRPr lang="en-IN"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IN" sz="1200" u="none" strike="noStrike" dirty="0">
                          <a:effectLst/>
                          <a:latin typeface="Times New Roman" panose="02020603050405020304" pitchFamily="18" charset="0"/>
                          <a:cs typeface="Times New Roman" panose="02020603050405020304" pitchFamily="18" charset="0"/>
                        </a:rPr>
                        <a:t>0.42</a:t>
                      </a:r>
                      <a:endParaRPr lang="en-IN"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IN" sz="1200" u="none" strike="noStrike" dirty="0">
                          <a:effectLst/>
                          <a:latin typeface="Times New Roman" panose="02020603050405020304" pitchFamily="18" charset="0"/>
                          <a:cs typeface="Times New Roman" panose="02020603050405020304" pitchFamily="18" charset="0"/>
                        </a:rPr>
                        <a:t>0.44</a:t>
                      </a:r>
                      <a:endParaRPr lang="en-IN"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IN" sz="1200" u="none" strike="noStrike" dirty="0">
                          <a:effectLst/>
                          <a:latin typeface="Times New Roman" panose="02020603050405020304" pitchFamily="18" charset="0"/>
                          <a:cs typeface="Times New Roman" panose="02020603050405020304" pitchFamily="18" charset="0"/>
                        </a:rPr>
                        <a:t>0.47</a:t>
                      </a:r>
                      <a:endParaRPr lang="en-IN"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extLst>
                  <a:ext uri="{0D108BD9-81ED-4DB2-BD59-A6C34878D82A}">
                    <a16:rowId xmlns:a16="http://schemas.microsoft.com/office/drawing/2014/main" xmlns="" val="10002"/>
                  </a:ext>
                </a:extLst>
              </a:tr>
              <a:tr h="518320">
                <a:tc>
                  <a:txBody>
                    <a:bodyPr/>
                    <a:lstStyle/>
                    <a:p>
                      <a:pPr algn="ctr" fontAlgn="ctr"/>
                      <a:r>
                        <a:rPr lang="en-IN" sz="1200" u="none" strike="noStrike" dirty="0">
                          <a:effectLst/>
                          <a:latin typeface="Times New Roman" panose="02020603050405020304" pitchFamily="18" charset="0"/>
                          <a:cs typeface="Times New Roman" panose="02020603050405020304" pitchFamily="18" charset="0"/>
                        </a:rPr>
                        <a:t>Ada Boost Classifier</a:t>
                      </a:r>
                      <a:endParaRPr lang="en-IN"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IN" sz="1200" u="none" strike="noStrike" dirty="0">
                          <a:effectLst/>
                          <a:latin typeface="Times New Roman" panose="02020603050405020304" pitchFamily="18" charset="0"/>
                          <a:cs typeface="Times New Roman" panose="02020603050405020304" pitchFamily="18" charset="0"/>
                        </a:rPr>
                        <a:t>0.50</a:t>
                      </a:r>
                      <a:endParaRPr lang="en-IN"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IN" sz="1200" u="none" strike="noStrike" dirty="0">
                          <a:effectLst/>
                          <a:latin typeface="Times New Roman" panose="02020603050405020304" pitchFamily="18" charset="0"/>
                          <a:cs typeface="Times New Roman" panose="02020603050405020304" pitchFamily="18" charset="0"/>
                        </a:rPr>
                        <a:t>1</a:t>
                      </a:r>
                      <a:endParaRPr lang="en-IN"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IN" sz="1200" u="none" strike="noStrike" dirty="0">
                          <a:effectLst/>
                          <a:latin typeface="Times New Roman" panose="02020603050405020304" pitchFamily="18" charset="0"/>
                          <a:cs typeface="Times New Roman" panose="02020603050405020304" pitchFamily="18" charset="0"/>
                        </a:rPr>
                        <a:t>0.66</a:t>
                      </a:r>
                      <a:endParaRPr lang="en-IN"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IN" sz="1200" u="none" strike="noStrike" dirty="0">
                          <a:effectLst/>
                          <a:latin typeface="Times New Roman" panose="02020603050405020304" pitchFamily="18" charset="0"/>
                          <a:cs typeface="Times New Roman" panose="02020603050405020304" pitchFamily="18" charset="0"/>
                        </a:rPr>
                        <a:t>0.49</a:t>
                      </a:r>
                      <a:endParaRPr lang="en-IN"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extLst>
                  <a:ext uri="{0D108BD9-81ED-4DB2-BD59-A6C34878D82A}">
                    <a16:rowId xmlns:a16="http://schemas.microsoft.com/office/drawing/2014/main" xmlns="" val="10003"/>
                  </a:ext>
                </a:extLst>
              </a:tr>
            </a:tbl>
          </a:graphicData>
        </a:graphic>
      </p:graphicFrame>
      <p:sp>
        <p:nvSpPr>
          <p:cNvPr id="10" name="Date Placeholder 9">
            <a:extLst>
              <a:ext uri="{FF2B5EF4-FFF2-40B4-BE49-F238E27FC236}">
                <a16:creationId xmlns:a16="http://schemas.microsoft.com/office/drawing/2014/main" xmlns="" id="{58B89015-5D2A-7489-FAFA-A20383596973}"/>
              </a:ext>
            </a:extLst>
          </p:cNvPr>
          <p:cNvSpPr>
            <a:spLocks noGrp="1"/>
          </p:cNvSpPr>
          <p:nvPr>
            <p:ph type="dt" sz="half" idx="10"/>
          </p:nvPr>
        </p:nvSpPr>
        <p:spPr/>
        <p:txBody>
          <a:bodyPr/>
          <a:lstStyle/>
          <a:p>
            <a:r>
              <a:rPr lang="en-US" dirty="0"/>
              <a:t>Date : </a:t>
            </a:r>
            <a:fld id="{C020C72E-28FE-47FC-8287-4E42E70CE9B4}" type="datetime1">
              <a:rPr lang="en-US" smtClean="0"/>
              <a:t>5/13/2024</a:t>
            </a:fld>
            <a:endParaRPr lang="en-US" dirty="0"/>
          </a:p>
        </p:txBody>
      </p:sp>
      <p:sp>
        <p:nvSpPr>
          <p:cNvPr id="11" name="Slide Number Placeholder 10">
            <a:extLst>
              <a:ext uri="{FF2B5EF4-FFF2-40B4-BE49-F238E27FC236}">
                <a16:creationId xmlns:a16="http://schemas.microsoft.com/office/drawing/2014/main" xmlns="" id="{03989F9B-441D-45B2-5DF5-46EA6E4EBFF4}"/>
              </a:ext>
            </a:extLst>
          </p:cNvPr>
          <p:cNvSpPr>
            <a:spLocks noGrp="1"/>
          </p:cNvSpPr>
          <p:nvPr>
            <p:ph type="sldNum" sz="quarter" idx="12"/>
          </p:nvPr>
        </p:nvSpPr>
        <p:spPr/>
        <p:txBody>
          <a:bodyPr/>
          <a:lstStyle/>
          <a:p>
            <a:r>
              <a:rPr lang="en-US" dirty="0"/>
              <a:t>Slide Number: </a:t>
            </a:r>
            <a:fld id="{BECDEB80-DBCE-406A-80BF-FEBEE692EE79}" type="slidenum">
              <a:rPr lang="en-US" smtClean="0"/>
              <a:t>33</a:t>
            </a:fld>
            <a:endParaRPr lang="en-US" dirty="0"/>
          </a:p>
        </p:txBody>
      </p:sp>
      <p:sp>
        <p:nvSpPr>
          <p:cNvPr id="3" name="Rectangle 2"/>
          <p:cNvSpPr/>
          <p:nvPr/>
        </p:nvSpPr>
        <p:spPr>
          <a:xfrm>
            <a:off x="2872786" y="3743805"/>
            <a:ext cx="3641894" cy="307777"/>
          </a:xfrm>
          <a:prstGeom prst="rect">
            <a:avLst/>
          </a:prstGeom>
        </p:spPr>
        <p:txBody>
          <a:bodyPr wrap="none">
            <a:spAutoFit/>
          </a:bodyPr>
          <a:lstStyle/>
          <a:p>
            <a:r>
              <a:rPr lang="en-US" sz="1400" b="1" dirty="0">
                <a:latin typeface="Times New Roman" pitchFamily="18" charset="0"/>
                <a:cs typeface="Times New Roman" pitchFamily="18" charset="0"/>
              </a:rPr>
              <a:t>Table 1. Comparison of the Implementations </a:t>
            </a:r>
            <a:endParaRPr lang="en-IN" sz="1400" b="1" dirty="0">
              <a:latin typeface="Times New Roman" pitchFamily="18" charset="0"/>
              <a:cs typeface="Times New Roman" pitchFamily="18" charset="0"/>
            </a:endParaRPr>
          </a:p>
        </p:txBody>
      </p:sp>
    </p:spTree>
    <p:extLst>
      <p:ext uri="{BB962C8B-B14F-4D97-AF65-F5344CB8AC3E}">
        <p14:creationId xmlns:p14="http://schemas.microsoft.com/office/powerpoint/2010/main" val="108679160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86331"/>
            <a:ext cx="8229600" cy="763588"/>
          </a:xfrm>
        </p:spPr>
        <p:txBody>
          <a:bodyPr/>
          <a:lstStyle/>
          <a:p>
            <a:r>
              <a:rPr lang="en-IN" b="1" dirty="0">
                <a:latin typeface="Times New Roman" panose="02020603050405020304" pitchFamily="18" charset="0"/>
                <a:cs typeface="Times New Roman" panose="02020603050405020304" pitchFamily="18" charset="0"/>
              </a:rPr>
              <a:t>Results and Discussion</a:t>
            </a:r>
          </a:p>
        </p:txBody>
      </p:sp>
      <p:sp>
        <p:nvSpPr>
          <p:cNvPr id="4" name="Footer Placeholder 3"/>
          <p:cNvSpPr>
            <a:spLocks noGrp="1"/>
          </p:cNvSpPr>
          <p:nvPr>
            <p:ph type="ftr" sz="quarter" idx="11"/>
          </p:nvPr>
        </p:nvSpPr>
        <p:spPr/>
        <p:txBody>
          <a:bodyPr/>
          <a:lstStyle/>
          <a:p>
            <a:r>
              <a:rPr lang="en-US" dirty="0"/>
              <a:t>DEPARTMENT OF COMPUTER SCIENCE AND ENGINEERING – CYBER SECURITY</a:t>
            </a:r>
          </a:p>
        </p:txBody>
      </p:sp>
      <p:pic>
        <p:nvPicPr>
          <p:cNvPr id="9"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19800" y="1126198"/>
            <a:ext cx="2423638" cy="22266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 name="Content Placeholder 12"/>
          <p:cNvSpPr txBox="1">
            <a:spLocks/>
          </p:cNvSpPr>
          <p:nvPr/>
        </p:nvSpPr>
        <p:spPr>
          <a:xfrm>
            <a:off x="838200" y="3693955"/>
            <a:ext cx="7696200" cy="2286000"/>
          </a:xfrm>
          <a:prstGeom prst="rect">
            <a:avLst/>
          </a:prstGeom>
        </p:spPr>
        <p:txBody>
          <a:bodyPr vert="horz" lIns="91440" tIns="45720" rIns="91440" bIns="45720" rtlCol="0">
            <a:normAutofit fontScale="25000" lnSpcReduction="20000"/>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a:lnSpc>
                <a:spcPct val="170000"/>
              </a:lnSpc>
            </a:pPr>
            <a:r>
              <a:rPr lang="en-US" sz="6400" dirty="0">
                <a:latin typeface="Times New Roman" pitchFamily="18" charset="0"/>
                <a:cs typeface="Times New Roman" pitchFamily="18" charset="0"/>
              </a:rPr>
              <a:t>The ( Random Forest + Context Correlation ) Classifier is the most accurate out of the three classifiers, with accuracy score of 0.80.</a:t>
            </a:r>
          </a:p>
          <a:p>
            <a:pPr algn="just">
              <a:lnSpc>
                <a:spcPct val="170000"/>
              </a:lnSpc>
            </a:pPr>
            <a:r>
              <a:rPr lang="en-US" sz="6400" dirty="0">
                <a:latin typeface="Times New Roman" pitchFamily="18" charset="0"/>
                <a:cs typeface="Times New Roman" pitchFamily="18" charset="0"/>
              </a:rPr>
              <a:t> It's important to note that F1-Score is a way of measuring a model on both precision and recall. In this case, even though Adaboost has the highest F1-Score, it is  because it favors recall over precision, since it has a higher recall value and a lower precision value compared to Random Forest.</a:t>
            </a:r>
          </a:p>
          <a:p>
            <a:pPr algn="just"/>
            <a:endParaRPr lang="en-IN" dirty="0"/>
          </a:p>
        </p:txBody>
      </p:sp>
      <p:sp>
        <p:nvSpPr>
          <p:cNvPr id="13" name="Rectangle 12"/>
          <p:cNvSpPr/>
          <p:nvPr/>
        </p:nvSpPr>
        <p:spPr>
          <a:xfrm>
            <a:off x="651510" y="3240678"/>
            <a:ext cx="2244090" cy="276999"/>
          </a:xfrm>
          <a:prstGeom prst="rect">
            <a:avLst/>
          </a:prstGeom>
        </p:spPr>
        <p:txBody>
          <a:bodyPr wrap="square">
            <a:spAutoFit/>
          </a:bodyPr>
          <a:lstStyle/>
          <a:p>
            <a:r>
              <a:rPr lang="en-US" sz="1200" dirty="0">
                <a:latin typeface="Times New Roman" panose="02020603050405020304" pitchFamily="18" charset="0"/>
                <a:cs typeface="Times New Roman" pitchFamily="18" charset="0"/>
              </a:rPr>
              <a:t>Figure 2. </a:t>
            </a:r>
            <a:r>
              <a:rPr lang="en-IN" sz="1200" dirty="0">
                <a:latin typeface="Times New Roman" pitchFamily="18" charset="0"/>
                <a:cs typeface="Times New Roman" pitchFamily="18" charset="0"/>
              </a:rPr>
              <a:t>Hist Gradient Boosting </a:t>
            </a:r>
          </a:p>
        </p:txBody>
      </p:sp>
      <p:sp>
        <p:nvSpPr>
          <p:cNvPr id="14" name="Rectangle 13"/>
          <p:cNvSpPr/>
          <p:nvPr/>
        </p:nvSpPr>
        <p:spPr>
          <a:xfrm>
            <a:off x="3505201" y="3261094"/>
            <a:ext cx="2063114" cy="276999"/>
          </a:xfrm>
          <a:prstGeom prst="rect">
            <a:avLst/>
          </a:prstGeom>
        </p:spPr>
        <p:txBody>
          <a:bodyPr wrap="square">
            <a:spAutoFit/>
          </a:bodyPr>
          <a:lstStyle/>
          <a:p>
            <a:r>
              <a:rPr lang="en-US" sz="1200" dirty="0">
                <a:latin typeface="Times New Roman" panose="02020603050405020304" pitchFamily="18" charset="0"/>
                <a:cs typeface="Times New Roman" pitchFamily="18" charset="0"/>
              </a:rPr>
              <a:t>Figure 3. </a:t>
            </a:r>
            <a:r>
              <a:rPr lang="en-IN" sz="1200" dirty="0" err="1">
                <a:latin typeface="Times New Roman" pitchFamily="18" charset="0"/>
                <a:cs typeface="Times New Roman" pitchFamily="18" charset="0"/>
              </a:rPr>
              <a:t>Adaboost</a:t>
            </a:r>
            <a:r>
              <a:rPr lang="en-IN" sz="1200" dirty="0">
                <a:latin typeface="Times New Roman" pitchFamily="18" charset="0"/>
                <a:cs typeface="Times New Roman" pitchFamily="18" charset="0"/>
              </a:rPr>
              <a:t> Classifier</a:t>
            </a:r>
          </a:p>
        </p:txBody>
      </p:sp>
      <p:sp>
        <p:nvSpPr>
          <p:cNvPr id="15" name="Rectangle 14"/>
          <p:cNvSpPr/>
          <p:nvPr/>
        </p:nvSpPr>
        <p:spPr>
          <a:xfrm>
            <a:off x="6177916" y="3264225"/>
            <a:ext cx="2465069" cy="461665"/>
          </a:xfrm>
          <a:prstGeom prst="rect">
            <a:avLst/>
          </a:prstGeom>
        </p:spPr>
        <p:txBody>
          <a:bodyPr wrap="square">
            <a:spAutoFit/>
          </a:bodyPr>
          <a:lstStyle/>
          <a:p>
            <a:r>
              <a:rPr lang="en-US" sz="1200" dirty="0">
                <a:latin typeface="Times New Roman" pitchFamily="18" charset="0"/>
                <a:cs typeface="Times New Roman" pitchFamily="18" charset="0"/>
              </a:rPr>
              <a:t>Figure 4. ( Random Forest + Context Correlation ) Classifier </a:t>
            </a:r>
            <a:endParaRPr lang="en-IN" sz="1200" dirty="0">
              <a:latin typeface="Times New Roman" pitchFamily="18" charset="0"/>
              <a:cs typeface="Times New Roman" pitchFamily="18" charset="0"/>
            </a:endParaRPr>
          </a:p>
        </p:txBody>
      </p:sp>
      <p:pic>
        <p:nvPicPr>
          <p:cNvPr id="17" name="Picture 16"/>
          <p:cNvPicPr/>
          <p:nvPr/>
        </p:nvPicPr>
        <p:blipFill rotWithShape="1">
          <a:blip r:embed="rId3">
            <a:extLst>
              <a:ext uri="{28A0092B-C50C-407E-A947-70E740481C1C}">
                <a14:useLocalDpi xmlns:a14="http://schemas.microsoft.com/office/drawing/2010/main" val="0"/>
              </a:ext>
            </a:extLst>
          </a:blip>
          <a:srcRect l="11664" t="46829" r="57752" b="7346"/>
          <a:stretch/>
        </p:blipFill>
        <p:spPr bwMode="auto">
          <a:xfrm>
            <a:off x="651510" y="1219200"/>
            <a:ext cx="2015490" cy="2011606"/>
          </a:xfrm>
          <a:prstGeom prst="rect">
            <a:avLst/>
          </a:prstGeom>
          <a:ln>
            <a:noFill/>
          </a:ln>
          <a:extLst>
            <a:ext uri="{53640926-AAD7-44D8-BBD7-CCE9431645EC}">
              <a14:shadowObscured xmlns:a14="http://schemas.microsoft.com/office/drawing/2010/main"/>
            </a:ext>
          </a:extLst>
        </p:spPr>
      </p:pic>
      <p:pic>
        <p:nvPicPr>
          <p:cNvPr id="18" name="Picture 17"/>
          <p:cNvPicPr/>
          <p:nvPr/>
        </p:nvPicPr>
        <p:blipFill rotWithShape="1">
          <a:blip r:embed="rId4">
            <a:extLst>
              <a:ext uri="{28A0092B-C50C-407E-A947-70E740481C1C}">
                <a14:useLocalDpi xmlns:a14="http://schemas.microsoft.com/office/drawing/2010/main" val="0"/>
              </a:ext>
            </a:extLst>
          </a:blip>
          <a:srcRect l="12445" t="47301" r="56223" b="4525"/>
          <a:stretch/>
        </p:blipFill>
        <p:spPr bwMode="auto">
          <a:xfrm>
            <a:off x="3324226" y="1187069"/>
            <a:ext cx="2244089" cy="2103120"/>
          </a:xfrm>
          <a:prstGeom prst="rect">
            <a:avLst/>
          </a:prstGeom>
          <a:ln>
            <a:noFill/>
          </a:ln>
          <a:extLst>
            <a:ext uri="{53640926-AAD7-44D8-BBD7-CCE9431645EC}">
              <a14:shadowObscured xmlns:a14="http://schemas.microsoft.com/office/drawing/2010/main"/>
            </a:ext>
          </a:extLst>
        </p:spPr>
      </p:pic>
      <p:sp>
        <p:nvSpPr>
          <p:cNvPr id="7" name="Date Placeholder 6">
            <a:extLst>
              <a:ext uri="{FF2B5EF4-FFF2-40B4-BE49-F238E27FC236}">
                <a16:creationId xmlns:a16="http://schemas.microsoft.com/office/drawing/2014/main" xmlns="" id="{C19B3B7C-DA73-B1C0-85AB-76AAA4AC390C}"/>
              </a:ext>
            </a:extLst>
          </p:cNvPr>
          <p:cNvSpPr>
            <a:spLocks noGrp="1"/>
          </p:cNvSpPr>
          <p:nvPr>
            <p:ph type="dt" sz="half" idx="10"/>
          </p:nvPr>
        </p:nvSpPr>
        <p:spPr/>
        <p:txBody>
          <a:bodyPr/>
          <a:lstStyle/>
          <a:p>
            <a:r>
              <a:rPr lang="en-US" dirty="0"/>
              <a:t>Date : </a:t>
            </a:r>
            <a:fld id="{51191926-D1E9-4882-B2E4-2C0629B571E8}" type="datetime1">
              <a:rPr lang="en-US" smtClean="0"/>
              <a:t>5/13/2024</a:t>
            </a:fld>
            <a:endParaRPr lang="en-US" dirty="0"/>
          </a:p>
        </p:txBody>
      </p:sp>
      <p:sp>
        <p:nvSpPr>
          <p:cNvPr id="8" name="Slide Number Placeholder 7">
            <a:extLst>
              <a:ext uri="{FF2B5EF4-FFF2-40B4-BE49-F238E27FC236}">
                <a16:creationId xmlns:a16="http://schemas.microsoft.com/office/drawing/2014/main" xmlns="" id="{151E178A-0157-3268-68E0-3B29D232D52E}"/>
              </a:ext>
            </a:extLst>
          </p:cNvPr>
          <p:cNvSpPr>
            <a:spLocks noGrp="1"/>
          </p:cNvSpPr>
          <p:nvPr>
            <p:ph type="sldNum" sz="quarter" idx="12"/>
          </p:nvPr>
        </p:nvSpPr>
        <p:spPr/>
        <p:txBody>
          <a:bodyPr/>
          <a:lstStyle/>
          <a:p>
            <a:r>
              <a:rPr lang="en-US" dirty="0"/>
              <a:t>Slide Number: </a:t>
            </a:r>
            <a:fld id="{BECDEB80-DBCE-406A-80BF-FEBEE692EE79}" type="slidenum">
              <a:rPr lang="en-US" smtClean="0"/>
              <a:t>34</a:t>
            </a:fld>
            <a:endParaRPr lang="en-US" dirty="0"/>
          </a:p>
        </p:txBody>
      </p:sp>
    </p:spTree>
    <p:extLst>
      <p:ext uri="{BB962C8B-B14F-4D97-AF65-F5344CB8AC3E}">
        <p14:creationId xmlns:p14="http://schemas.microsoft.com/office/powerpoint/2010/main" val="146021481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D094C74-A4D2-E349-AB9E-C3679E93CE51}"/>
              </a:ext>
            </a:extLst>
          </p:cNvPr>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Results and Discussion</a:t>
            </a:r>
          </a:p>
        </p:txBody>
      </p:sp>
      <p:pic>
        <p:nvPicPr>
          <p:cNvPr id="6" name="Content Placeholder 5">
            <a:extLst>
              <a:ext uri="{FF2B5EF4-FFF2-40B4-BE49-F238E27FC236}">
                <a16:creationId xmlns:a16="http://schemas.microsoft.com/office/drawing/2014/main" xmlns="" id="{BED22A5B-79AC-43F3-FF3F-762E18EDBC7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81000" y="2085763"/>
            <a:ext cx="4850136" cy="3096057"/>
          </a:xfrm>
        </p:spPr>
      </p:pic>
      <p:sp>
        <p:nvSpPr>
          <p:cNvPr id="4" name="Footer Placeholder 3">
            <a:extLst>
              <a:ext uri="{FF2B5EF4-FFF2-40B4-BE49-F238E27FC236}">
                <a16:creationId xmlns:a16="http://schemas.microsoft.com/office/drawing/2014/main" xmlns="" id="{EE831AEC-F60B-A56F-8925-DA99162E374A}"/>
              </a:ext>
            </a:extLst>
          </p:cNvPr>
          <p:cNvSpPr>
            <a:spLocks noGrp="1"/>
          </p:cNvSpPr>
          <p:nvPr>
            <p:ph type="ftr" sz="quarter" idx="11"/>
          </p:nvPr>
        </p:nvSpPr>
        <p:spPr/>
        <p:txBody>
          <a:bodyPr/>
          <a:lstStyle/>
          <a:p>
            <a:r>
              <a:rPr lang="en-US"/>
              <a:t>DEPARTMENT OF COMPUTER SCIENCE AND ENGINEERING – CYBER SECURITY</a:t>
            </a:r>
            <a:endParaRPr lang="en-US" dirty="0"/>
          </a:p>
        </p:txBody>
      </p:sp>
      <p:pic>
        <p:nvPicPr>
          <p:cNvPr id="8" name="Picture 7">
            <a:extLst>
              <a:ext uri="{FF2B5EF4-FFF2-40B4-BE49-F238E27FC236}">
                <a16:creationId xmlns:a16="http://schemas.microsoft.com/office/drawing/2014/main" xmlns="" id="{722B70CE-77C2-197C-1AAB-F33957BE395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10000" y="2110008"/>
            <a:ext cx="4724400" cy="3096057"/>
          </a:xfrm>
          <a:prstGeom prst="rect">
            <a:avLst/>
          </a:prstGeom>
        </p:spPr>
      </p:pic>
      <p:sp>
        <p:nvSpPr>
          <p:cNvPr id="9" name="Date Placeholder 8">
            <a:extLst>
              <a:ext uri="{FF2B5EF4-FFF2-40B4-BE49-F238E27FC236}">
                <a16:creationId xmlns:a16="http://schemas.microsoft.com/office/drawing/2014/main" xmlns="" id="{7594A3A1-485D-ABC0-207F-8D605542F010}"/>
              </a:ext>
            </a:extLst>
          </p:cNvPr>
          <p:cNvSpPr>
            <a:spLocks noGrp="1"/>
          </p:cNvSpPr>
          <p:nvPr>
            <p:ph type="dt" sz="half" idx="10"/>
          </p:nvPr>
        </p:nvSpPr>
        <p:spPr/>
        <p:txBody>
          <a:bodyPr/>
          <a:lstStyle/>
          <a:p>
            <a:r>
              <a:rPr lang="en-US" dirty="0"/>
              <a:t>Date : </a:t>
            </a:r>
            <a:fld id="{3BC3DB0E-5413-40EF-B4F1-4FB16B95FDE0}" type="datetime1">
              <a:rPr lang="en-US" smtClean="0"/>
              <a:t>5/13/2024</a:t>
            </a:fld>
            <a:endParaRPr lang="en-US" dirty="0"/>
          </a:p>
        </p:txBody>
      </p:sp>
      <p:sp>
        <p:nvSpPr>
          <p:cNvPr id="10" name="Slide Number Placeholder 9">
            <a:extLst>
              <a:ext uri="{FF2B5EF4-FFF2-40B4-BE49-F238E27FC236}">
                <a16:creationId xmlns:a16="http://schemas.microsoft.com/office/drawing/2014/main" xmlns="" id="{E49C721F-3636-DAB6-AC82-059CD73F4E5E}"/>
              </a:ext>
            </a:extLst>
          </p:cNvPr>
          <p:cNvSpPr>
            <a:spLocks noGrp="1"/>
          </p:cNvSpPr>
          <p:nvPr>
            <p:ph type="sldNum" sz="quarter" idx="12"/>
          </p:nvPr>
        </p:nvSpPr>
        <p:spPr/>
        <p:txBody>
          <a:bodyPr/>
          <a:lstStyle/>
          <a:p>
            <a:r>
              <a:rPr lang="en-US" dirty="0"/>
              <a:t>Slide Number: </a:t>
            </a:r>
            <a:fld id="{BECDEB80-DBCE-406A-80BF-FEBEE692EE79}" type="slidenum">
              <a:rPr lang="en-US" smtClean="0"/>
              <a:t>35</a:t>
            </a:fld>
            <a:endParaRPr lang="en-US" dirty="0"/>
          </a:p>
        </p:txBody>
      </p:sp>
      <p:sp>
        <p:nvSpPr>
          <p:cNvPr id="3" name="TextBox 2">
            <a:extLst>
              <a:ext uri="{FF2B5EF4-FFF2-40B4-BE49-F238E27FC236}">
                <a16:creationId xmlns:a16="http://schemas.microsoft.com/office/drawing/2014/main" xmlns="" id="{F249D94B-85B5-6803-5D6B-DE9369869AE0}"/>
              </a:ext>
            </a:extLst>
          </p:cNvPr>
          <p:cNvSpPr txBox="1"/>
          <p:nvPr/>
        </p:nvSpPr>
        <p:spPr>
          <a:xfrm>
            <a:off x="7391400" y="2438400"/>
            <a:ext cx="1752600" cy="215444"/>
          </a:xfrm>
          <a:prstGeom prst="rect">
            <a:avLst/>
          </a:prstGeom>
          <a:solidFill>
            <a:schemeClr val="bg1"/>
          </a:solidFill>
        </p:spPr>
        <p:txBody>
          <a:bodyPr wrap="square" rtlCol="0">
            <a:spAutoFit/>
          </a:bodyPr>
          <a:lstStyle/>
          <a:p>
            <a:r>
              <a:rPr lang="en-US" sz="800" dirty="0">
                <a:solidFill>
                  <a:schemeClr val="bg1">
                    <a:lumMod val="50000"/>
                  </a:schemeClr>
                </a:solidFill>
                <a:latin typeface="Times New Roman" panose="02020603050405020304" pitchFamily="18" charset="0"/>
                <a:cs typeface="Times New Roman" panose="02020603050405020304" pitchFamily="18" charset="0"/>
              </a:rPr>
              <a:t>Random Forest + Context Correlation </a:t>
            </a:r>
            <a:endParaRPr lang="en-IN" sz="800" dirty="0">
              <a:solidFill>
                <a:schemeClr val="bg1">
                  <a:lumMod val="50000"/>
                </a:schemeClr>
              </a:solidFill>
              <a:latin typeface="Times New Roman" panose="02020603050405020304" pitchFamily="18" charset="0"/>
              <a:cs typeface="Times New Roman" panose="02020603050405020304" pitchFamily="18" charset="0"/>
            </a:endParaRPr>
          </a:p>
        </p:txBody>
      </p:sp>
      <p:sp>
        <p:nvSpPr>
          <p:cNvPr id="5" name="Rectangle 4">
            <a:extLst>
              <a:ext uri="{FF2B5EF4-FFF2-40B4-BE49-F238E27FC236}">
                <a16:creationId xmlns:a16="http://schemas.microsoft.com/office/drawing/2014/main" xmlns="" id="{09CE4B9D-8A16-165F-BBB2-8B3C228D4FDA}"/>
              </a:ext>
            </a:extLst>
          </p:cNvPr>
          <p:cNvSpPr/>
          <p:nvPr/>
        </p:nvSpPr>
        <p:spPr>
          <a:xfrm>
            <a:off x="838200" y="5315486"/>
            <a:ext cx="2596514" cy="276999"/>
          </a:xfrm>
          <a:prstGeom prst="rect">
            <a:avLst/>
          </a:prstGeom>
        </p:spPr>
        <p:txBody>
          <a:bodyPr wrap="square">
            <a:spAutoFit/>
          </a:bodyPr>
          <a:lstStyle/>
          <a:p>
            <a:r>
              <a:rPr lang="en-US" sz="1200" dirty="0">
                <a:latin typeface="Times New Roman" panose="02020603050405020304" pitchFamily="18" charset="0"/>
                <a:cs typeface="Times New Roman" pitchFamily="18" charset="0"/>
              </a:rPr>
              <a:t>Figure 5  Accuracy and F score Graph</a:t>
            </a:r>
            <a:endParaRPr lang="en-IN" sz="1200" dirty="0">
              <a:latin typeface="Times New Roman" pitchFamily="18" charset="0"/>
              <a:cs typeface="Times New Roman" pitchFamily="18" charset="0"/>
            </a:endParaRPr>
          </a:p>
        </p:txBody>
      </p:sp>
      <p:sp>
        <p:nvSpPr>
          <p:cNvPr id="7" name="Rectangle 6">
            <a:extLst>
              <a:ext uri="{FF2B5EF4-FFF2-40B4-BE49-F238E27FC236}">
                <a16:creationId xmlns:a16="http://schemas.microsoft.com/office/drawing/2014/main" xmlns="" id="{17ED9475-F7FA-5F47-1FF2-49CA04484D42}"/>
              </a:ext>
            </a:extLst>
          </p:cNvPr>
          <p:cNvSpPr/>
          <p:nvPr/>
        </p:nvSpPr>
        <p:spPr>
          <a:xfrm>
            <a:off x="4267200" y="5315486"/>
            <a:ext cx="2514600" cy="276999"/>
          </a:xfrm>
          <a:prstGeom prst="rect">
            <a:avLst/>
          </a:prstGeom>
        </p:spPr>
        <p:txBody>
          <a:bodyPr wrap="square">
            <a:spAutoFit/>
          </a:bodyPr>
          <a:lstStyle/>
          <a:p>
            <a:r>
              <a:rPr lang="en-US" sz="1200" dirty="0">
                <a:latin typeface="Times New Roman" panose="02020603050405020304" pitchFamily="18" charset="0"/>
                <a:cs typeface="Times New Roman" pitchFamily="18" charset="0"/>
              </a:rPr>
              <a:t>Figure 6  Precision and Recall Graph</a:t>
            </a:r>
            <a:endParaRPr lang="en-IN" sz="1200" dirty="0">
              <a:latin typeface="Times New Roman" pitchFamily="18" charset="0"/>
              <a:cs typeface="Times New Roman" pitchFamily="18" charset="0"/>
            </a:endParaRPr>
          </a:p>
        </p:txBody>
      </p:sp>
    </p:spTree>
    <p:extLst>
      <p:ext uri="{BB962C8B-B14F-4D97-AF65-F5344CB8AC3E}">
        <p14:creationId xmlns:p14="http://schemas.microsoft.com/office/powerpoint/2010/main" val="13294799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21986"/>
            <a:ext cx="8229600" cy="808038"/>
          </a:xfrm>
        </p:spPr>
        <p:txBody>
          <a:bodyPr/>
          <a:lstStyle/>
          <a:p>
            <a:pPr fontAlgn="base">
              <a:spcBef>
                <a:spcPts val="1000"/>
              </a:spcBef>
            </a:pPr>
            <a:r>
              <a:rPr lang="en-US" b="1" dirty="0">
                <a:solidFill>
                  <a:srgbClr val="000000"/>
                </a:solidFill>
                <a:latin typeface="Times New Roman" panose="02020603050405020304" pitchFamily="18" charset="0"/>
                <a:cs typeface="Times New Roman" panose="02020603050405020304" pitchFamily="18" charset="0"/>
              </a:rPr>
              <a:t>Conclusion</a:t>
            </a:r>
          </a:p>
        </p:txBody>
      </p:sp>
      <p:sp>
        <p:nvSpPr>
          <p:cNvPr id="3" name="Content Placeholder 2"/>
          <p:cNvSpPr>
            <a:spLocks noGrp="1"/>
          </p:cNvSpPr>
          <p:nvPr>
            <p:ph idx="1"/>
          </p:nvPr>
        </p:nvSpPr>
        <p:spPr>
          <a:xfrm>
            <a:off x="723900" y="1243157"/>
            <a:ext cx="7696200" cy="4754562"/>
          </a:xfrm>
        </p:spPr>
        <p:txBody>
          <a:bodyPr>
            <a:noAutofit/>
          </a:bodyPr>
          <a:lstStyle/>
          <a:p>
            <a:pPr algn="just"/>
            <a:r>
              <a:rPr lang="en-US" sz="1600" dirty="0">
                <a:latin typeface="Times New Roman" pitchFamily="18" charset="0"/>
                <a:cs typeface="Times New Roman" pitchFamily="18" charset="0"/>
              </a:rPr>
              <a:t>This proposes a novel method for detecting DDoS attacks in IoT networks, leveraging feature engineering and machine learning techniques. </a:t>
            </a:r>
          </a:p>
          <a:p>
            <a:pPr marL="0" indent="0" algn="just">
              <a:buNone/>
            </a:pPr>
            <a:endParaRPr lang="en-US" sz="1600" dirty="0">
              <a:latin typeface="Times New Roman" pitchFamily="18" charset="0"/>
              <a:cs typeface="Times New Roman" pitchFamily="18" charset="0"/>
            </a:endParaRPr>
          </a:p>
          <a:p>
            <a:pPr algn="just"/>
            <a:r>
              <a:rPr lang="en-US" sz="1600" dirty="0">
                <a:latin typeface="Times New Roman" pitchFamily="18" charset="0"/>
                <a:cs typeface="Times New Roman" pitchFamily="18" charset="0"/>
              </a:rPr>
              <a:t>By analyzing incoming network traffic, the study identifies significant variations in feature characteristics, crucial for distinguishing attackers, suspects, and authentic clients. </a:t>
            </a:r>
          </a:p>
          <a:p>
            <a:pPr marL="0" indent="0" algn="just">
              <a:buNone/>
            </a:pPr>
            <a:endParaRPr lang="en-US" sz="1600" dirty="0">
              <a:latin typeface="Times New Roman" pitchFamily="18" charset="0"/>
              <a:cs typeface="Times New Roman" pitchFamily="18" charset="0"/>
            </a:endParaRPr>
          </a:p>
          <a:p>
            <a:pPr algn="just"/>
            <a:r>
              <a:rPr lang="en-US" sz="1600" dirty="0">
                <a:latin typeface="Times New Roman" pitchFamily="18" charset="0"/>
                <a:cs typeface="Times New Roman" pitchFamily="18" charset="0"/>
              </a:rPr>
              <a:t>A systematic approach is employed to explore all possible combinations of attack features, resulting in a structured framework for effective threat differentiation. </a:t>
            </a:r>
          </a:p>
          <a:p>
            <a:pPr marL="0" indent="0" algn="just">
              <a:buNone/>
            </a:pPr>
            <a:endParaRPr lang="en-US" sz="1600" dirty="0">
              <a:latin typeface="Times New Roman" pitchFamily="18" charset="0"/>
              <a:cs typeface="Times New Roman" pitchFamily="18" charset="0"/>
            </a:endParaRPr>
          </a:p>
          <a:p>
            <a:pPr algn="just"/>
            <a:r>
              <a:rPr lang="en-US" sz="1600" dirty="0">
                <a:latin typeface="Times New Roman" pitchFamily="18" charset="0"/>
                <a:cs typeface="Times New Roman" pitchFamily="18" charset="0"/>
              </a:rPr>
              <a:t> Furthermore, it delves into various methods dedicated to detecting DDoS attacks targeting IoT networks, reflecting a comprehensive exploration of the contemporary challenges and solutions in mitigating such cyber threats.</a:t>
            </a:r>
          </a:p>
          <a:p>
            <a:pPr marL="0" indent="0" algn="just">
              <a:buNone/>
            </a:pPr>
            <a:endParaRPr lang="en-US" sz="1600" dirty="0">
              <a:latin typeface="Times New Roman" pitchFamily="18" charset="0"/>
              <a:cs typeface="Times New Roman" pitchFamily="18" charset="0"/>
            </a:endParaRPr>
          </a:p>
          <a:p>
            <a:pPr algn="just"/>
            <a:r>
              <a:rPr lang="en-US" sz="1600" dirty="0">
                <a:latin typeface="Times New Roman" pitchFamily="18" charset="0"/>
                <a:cs typeface="Times New Roman" pitchFamily="18" charset="0"/>
              </a:rPr>
              <a:t> This research presents a promising avenue for enhancing the resilience of IoT networks against DDoS attacks through innovative detection methodologies and rigorous experimental validation.</a:t>
            </a:r>
          </a:p>
        </p:txBody>
      </p:sp>
      <p:sp>
        <p:nvSpPr>
          <p:cNvPr id="5" name="Footer Placeholder 3"/>
          <p:cNvSpPr>
            <a:spLocks noGrp="1"/>
          </p:cNvSpPr>
          <p:nvPr>
            <p:ph type="ftr" sz="quarter" idx="11"/>
          </p:nvPr>
        </p:nvSpPr>
        <p:spPr>
          <a:xfrm>
            <a:off x="3124200" y="6356350"/>
            <a:ext cx="2895600" cy="365125"/>
          </a:xfrm>
        </p:spPr>
        <p:txBody>
          <a:bodyPr/>
          <a:lstStyle/>
          <a:p>
            <a:r>
              <a:rPr lang="en-US"/>
              <a:t>DEPARTMENT OF COMPUTER SCIENCE AND ENGINEERING – CYBER SECURITY</a:t>
            </a:r>
            <a:endParaRPr lang="en-US" dirty="0"/>
          </a:p>
        </p:txBody>
      </p:sp>
      <p:sp>
        <p:nvSpPr>
          <p:cNvPr id="8" name="Date Placeholder 7">
            <a:extLst>
              <a:ext uri="{FF2B5EF4-FFF2-40B4-BE49-F238E27FC236}">
                <a16:creationId xmlns:a16="http://schemas.microsoft.com/office/drawing/2014/main" xmlns="" id="{4F647DB5-1CC3-E149-28E3-3835362E4BE8}"/>
              </a:ext>
            </a:extLst>
          </p:cNvPr>
          <p:cNvSpPr>
            <a:spLocks noGrp="1"/>
          </p:cNvSpPr>
          <p:nvPr>
            <p:ph type="dt" sz="half" idx="10"/>
          </p:nvPr>
        </p:nvSpPr>
        <p:spPr/>
        <p:txBody>
          <a:bodyPr/>
          <a:lstStyle/>
          <a:p>
            <a:r>
              <a:rPr lang="en-US" dirty="0"/>
              <a:t>Date : </a:t>
            </a:r>
            <a:fld id="{E84549C0-EA1B-4244-BEDC-9627E1263714}" type="datetime1">
              <a:rPr lang="en-US" smtClean="0"/>
              <a:t>5/13/2024</a:t>
            </a:fld>
            <a:endParaRPr lang="en-US" dirty="0"/>
          </a:p>
        </p:txBody>
      </p:sp>
      <p:sp>
        <p:nvSpPr>
          <p:cNvPr id="9" name="Slide Number Placeholder 8">
            <a:extLst>
              <a:ext uri="{FF2B5EF4-FFF2-40B4-BE49-F238E27FC236}">
                <a16:creationId xmlns:a16="http://schemas.microsoft.com/office/drawing/2014/main" xmlns="" id="{CFDD8BE1-0ABE-D5CD-04C6-DF0283827639}"/>
              </a:ext>
            </a:extLst>
          </p:cNvPr>
          <p:cNvSpPr>
            <a:spLocks noGrp="1"/>
          </p:cNvSpPr>
          <p:nvPr>
            <p:ph type="sldNum" sz="quarter" idx="12"/>
          </p:nvPr>
        </p:nvSpPr>
        <p:spPr/>
        <p:txBody>
          <a:bodyPr/>
          <a:lstStyle/>
          <a:p>
            <a:r>
              <a:rPr lang="en-US" dirty="0"/>
              <a:t>Slide Number: </a:t>
            </a:r>
            <a:fld id="{BECDEB80-DBCE-406A-80BF-FEBEE692EE79}" type="slidenum">
              <a:rPr lang="en-US" smtClean="0"/>
              <a:t>36</a:t>
            </a:fld>
            <a:endParaRPr lang="en-US" dirty="0"/>
          </a:p>
        </p:txBody>
      </p:sp>
    </p:spTree>
    <p:extLst>
      <p:ext uri="{BB962C8B-B14F-4D97-AF65-F5344CB8AC3E}">
        <p14:creationId xmlns:p14="http://schemas.microsoft.com/office/powerpoint/2010/main" val="355349507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spcBef>
                <a:spcPts val="1000"/>
              </a:spcBef>
            </a:pPr>
            <a:r>
              <a:rPr lang="en-US" b="1" dirty="0">
                <a:solidFill>
                  <a:srgbClr val="000000"/>
                </a:solidFill>
                <a:latin typeface="Times New Roman" panose="02020603050405020304" pitchFamily="18" charset="0"/>
                <a:cs typeface="Times New Roman" panose="02020603050405020304" pitchFamily="18" charset="0"/>
              </a:rPr>
              <a:t>Future Work</a:t>
            </a:r>
          </a:p>
        </p:txBody>
      </p:sp>
      <p:sp>
        <p:nvSpPr>
          <p:cNvPr id="3" name="Content Placeholder 2"/>
          <p:cNvSpPr>
            <a:spLocks noGrp="1"/>
          </p:cNvSpPr>
          <p:nvPr>
            <p:ph idx="1"/>
          </p:nvPr>
        </p:nvSpPr>
        <p:spPr>
          <a:xfrm>
            <a:off x="838200" y="1447800"/>
            <a:ext cx="7696200" cy="3962400"/>
          </a:xfrm>
        </p:spPr>
        <p:txBody>
          <a:bodyPr>
            <a:normAutofit/>
          </a:bodyPr>
          <a:lstStyle/>
          <a:p>
            <a:pPr algn="just">
              <a:lnSpc>
                <a:spcPct val="150000"/>
              </a:lnSpc>
            </a:pPr>
            <a:r>
              <a:rPr lang="en-US" sz="1600" dirty="0">
                <a:latin typeface="Times New Roman" pitchFamily="18" charset="0"/>
                <a:cs typeface="Times New Roman" pitchFamily="18" charset="0"/>
              </a:rPr>
              <a:t>In the forthcoming endeavors, the proposed model is used  to elevate and broaden the existing methodologies for detecting DDoS attacks. </a:t>
            </a:r>
          </a:p>
          <a:p>
            <a:pPr algn="just">
              <a:lnSpc>
                <a:spcPct val="150000"/>
              </a:lnSpc>
            </a:pPr>
            <a:r>
              <a:rPr lang="en-US" sz="1600" dirty="0">
                <a:latin typeface="Times New Roman" pitchFamily="18" charset="0"/>
                <a:cs typeface="Times New Roman" pitchFamily="18" charset="0"/>
              </a:rPr>
              <a:t>This entails harnessing advanced feature-engineering techniques and machine learning models, particularly Deep Learning, to enhance the performance and accuracy of classifiers.</a:t>
            </a:r>
          </a:p>
          <a:p>
            <a:pPr algn="just">
              <a:lnSpc>
                <a:spcPct val="150000"/>
              </a:lnSpc>
            </a:pPr>
            <a:r>
              <a:rPr lang="en-US" sz="1600" dirty="0">
                <a:latin typeface="Times New Roman" pitchFamily="18" charset="0"/>
                <a:cs typeface="Times New Roman" pitchFamily="18" charset="0"/>
              </a:rPr>
              <a:t> By delving into sophisticated approaches, proposed model strive to refine the system's ability to discern subtle patterns indicative of DDoS activity, thereby bolstering its effectiveness in threat detection. </a:t>
            </a:r>
          </a:p>
          <a:p>
            <a:pPr algn="just">
              <a:lnSpc>
                <a:spcPct val="150000"/>
              </a:lnSpc>
            </a:pPr>
            <a:r>
              <a:rPr lang="en-US" sz="1600" dirty="0">
                <a:latin typeface="Times New Roman" pitchFamily="18" charset="0"/>
                <a:cs typeface="Times New Roman" pitchFamily="18" charset="0"/>
              </a:rPr>
              <a:t>Furthermore, this research will delve into strategies for mitigating adversarial attacks, fortifying the method's robustness and adaptability in dynamic network environments. </a:t>
            </a:r>
            <a:endParaRPr lang="en-IN" sz="1600" dirty="0">
              <a:latin typeface="Times New Roman" pitchFamily="18" charset="0"/>
              <a:cs typeface="Times New Roman" pitchFamily="18" charset="0"/>
            </a:endParaRPr>
          </a:p>
        </p:txBody>
      </p:sp>
      <p:sp>
        <p:nvSpPr>
          <p:cNvPr id="5" name="Footer Placeholder 3"/>
          <p:cNvSpPr>
            <a:spLocks noGrp="1"/>
          </p:cNvSpPr>
          <p:nvPr>
            <p:ph type="ftr" sz="quarter" idx="11"/>
          </p:nvPr>
        </p:nvSpPr>
        <p:spPr>
          <a:xfrm>
            <a:off x="3124200" y="6356350"/>
            <a:ext cx="2895600" cy="365125"/>
          </a:xfrm>
        </p:spPr>
        <p:txBody>
          <a:bodyPr/>
          <a:lstStyle/>
          <a:p>
            <a:r>
              <a:rPr lang="en-US"/>
              <a:t>DEPARTMENT OF COMPUTER SCIENCE AND ENGINEERING – CYBER SECURITY</a:t>
            </a:r>
            <a:endParaRPr lang="en-US" dirty="0"/>
          </a:p>
        </p:txBody>
      </p:sp>
      <p:sp>
        <p:nvSpPr>
          <p:cNvPr id="8" name="Date Placeholder 7">
            <a:extLst>
              <a:ext uri="{FF2B5EF4-FFF2-40B4-BE49-F238E27FC236}">
                <a16:creationId xmlns:a16="http://schemas.microsoft.com/office/drawing/2014/main" xmlns="" id="{E0774894-9616-9FA4-FECE-8354C2C71870}"/>
              </a:ext>
            </a:extLst>
          </p:cNvPr>
          <p:cNvSpPr>
            <a:spLocks noGrp="1"/>
          </p:cNvSpPr>
          <p:nvPr>
            <p:ph type="dt" sz="half" idx="10"/>
          </p:nvPr>
        </p:nvSpPr>
        <p:spPr/>
        <p:txBody>
          <a:bodyPr/>
          <a:lstStyle/>
          <a:p>
            <a:r>
              <a:rPr lang="en-US" dirty="0"/>
              <a:t>Date : </a:t>
            </a:r>
            <a:fld id="{440A967B-A4B1-4CBD-BE4F-4D91D2C56260}" type="datetime1">
              <a:rPr lang="en-US" smtClean="0"/>
              <a:t>5/13/2024</a:t>
            </a:fld>
            <a:endParaRPr lang="en-US" dirty="0"/>
          </a:p>
        </p:txBody>
      </p:sp>
      <p:sp>
        <p:nvSpPr>
          <p:cNvPr id="9" name="Slide Number Placeholder 8">
            <a:extLst>
              <a:ext uri="{FF2B5EF4-FFF2-40B4-BE49-F238E27FC236}">
                <a16:creationId xmlns:a16="http://schemas.microsoft.com/office/drawing/2014/main" xmlns="" id="{EBAEEE49-8918-C0EB-F441-F1CFF0856C05}"/>
              </a:ext>
            </a:extLst>
          </p:cNvPr>
          <p:cNvSpPr>
            <a:spLocks noGrp="1"/>
          </p:cNvSpPr>
          <p:nvPr>
            <p:ph type="sldNum" sz="quarter" idx="12"/>
          </p:nvPr>
        </p:nvSpPr>
        <p:spPr/>
        <p:txBody>
          <a:bodyPr/>
          <a:lstStyle/>
          <a:p>
            <a:r>
              <a:rPr lang="en-US" dirty="0"/>
              <a:t>Slide Number: </a:t>
            </a:r>
            <a:fld id="{BECDEB80-DBCE-406A-80BF-FEBEE692EE79}" type="slidenum">
              <a:rPr lang="en-US" smtClean="0"/>
              <a:t>37</a:t>
            </a:fld>
            <a:endParaRPr lang="en-US" dirty="0"/>
          </a:p>
        </p:txBody>
      </p:sp>
    </p:spTree>
    <p:extLst>
      <p:ext uri="{BB962C8B-B14F-4D97-AF65-F5344CB8AC3E}">
        <p14:creationId xmlns:p14="http://schemas.microsoft.com/office/powerpoint/2010/main" val="144859526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26231"/>
            <a:ext cx="8229600" cy="715962"/>
          </a:xfrm>
        </p:spPr>
        <p:txBody>
          <a:bodyPr>
            <a:normAutofit fontScale="90000"/>
          </a:bodyPr>
          <a:lstStyle/>
          <a:p>
            <a:r>
              <a:rPr lang="en-US" b="1" dirty="0">
                <a:latin typeface="Times New Roman" panose="02020603050405020304" pitchFamily="18" charset="0"/>
                <a:cs typeface="Times New Roman" panose="02020603050405020304" pitchFamily="18" charset="0"/>
              </a:rPr>
              <a:t>References</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69963817"/>
              </p:ext>
            </p:extLst>
          </p:nvPr>
        </p:nvGraphicFramePr>
        <p:xfrm>
          <a:off x="838200" y="990600"/>
          <a:ext cx="7581900" cy="5212080"/>
        </p:xfrm>
        <a:graphic>
          <a:graphicData uri="http://schemas.openxmlformats.org/drawingml/2006/table">
            <a:tbl>
              <a:tblPr firstRow="1" bandRow="1">
                <a:tableStyleId>{2D5ABB26-0587-4C30-8999-92F81FD0307C}</a:tableStyleId>
              </a:tblPr>
              <a:tblGrid>
                <a:gridCol w="457200"/>
                <a:gridCol w="7124700"/>
              </a:tblGrid>
              <a:tr h="370840">
                <a:tc>
                  <a:txBody>
                    <a:bodyPr/>
                    <a:lstStyle/>
                    <a:p>
                      <a:r>
                        <a:rPr lang="en-US" sz="1600" kern="1200" dirty="0" smtClean="0">
                          <a:effectLst/>
                          <a:latin typeface="Times New Roman" pitchFamily="18" charset="0"/>
                          <a:cs typeface="Times New Roman" pitchFamily="18" charset="0"/>
                        </a:rPr>
                        <a:t>[1] </a:t>
                      </a:r>
                      <a:endParaRPr lang="en-IN" sz="1600" dirty="0">
                        <a:latin typeface="Times New Roman" pitchFamily="18" charset="0"/>
                        <a:cs typeface="Times New Roman" pitchFamily="18" charset="0"/>
                      </a:endParaRPr>
                    </a:p>
                  </a:txBody>
                  <a:tcPr/>
                </a:tc>
                <a:tc>
                  <a:txBody>
                    <a:bodyPr/>
                    <a:lstStyle/>
                    <a:p>
                      <a:r>
                        <a:rPr lang="en-US" sz="1600" kern="1200" dirty="0" smtClean="0">
                          <a:effectLst/>
                          <a:latin typeface="Times New Roman" pitchFamily="18" charset="0"/>
                          <a:cs typeface="Times New Roman" pitchFamily="18" charset="0"/>
                        </a:rPr>
                        <a:t>Yuan Cao, Yuan </a:t>
                      </a:r>
                      <a:r>
                        <a:rPr lang="en-US" sz="1600" kern="1200" dirty="0" err="1" smtClean="0">
                          <a:effectLst/>
                          <a:latin typeface="Times New Roman" pitchFamily="18" charset="0"/>
                          <a:cs typeface="Times New Roman" pitchFamily="18" charset="0"/>
                        </a:rPr>
                        <a:t>Gao</a:t>
                      </a:r>
                      <a:r>
                        <a:rPr lang="en-US" sz="1600" kern="1200" dirty="0" smtClean="0">
                          <a:effectLst/>
                          <a:latin typeface="Times New Roman" pitchFamily="18" charset="0"/>
                          <a:cs typeface="Times New Roman" pitchFamily="18" charset="0"/>
                        </a:rPr>
                        <a:t>, </a:t>
                      </a:r>
                      <a:r>
                        <a:rPr lang="en-US" sz="1600" kern="1200" dirty="0" err="1" smtClean="0">
                          <a:effectLst/>
                          <a:latin typeface="Times New Roman" pitchFamily="18" charset="0"/>
                          <a:cs typeface="Times New Roman" pitchFamily="18" charset="0"/>
                        </a:rPr>
                        <a:t>Rongjun</a:t>
                      </a:r>
                      <a:r>
                        <a:rPr lang="en-US" sz="1600" kern="1200" dirty="0" smtClean="0">
                          <a:effectLst/>
                          <a:latin typeface="Times New Roman" pitchFamily="18" charset="0"/>
                          <a:cs typeface="Times New Roman" pitchFamily="18" charset="0"/>
                        </a:rPr>
                        <a:t> Tan, </a:t>
                      </a:r>
                      <a:r>
                        <a:rPr lang="en-US" sz="1600" kern="1200" dirty="0" err="1" smtClean="0">
                          <a:effectLst/>
                          <a:latin typeface="Times New Roman" pitchFamily="18" charset="0"/>
                          <a:cs typeface="Times New Roman" pitchFamily="18" charset="0"/>
                        </a:rPr>
                        <a:t>Qingbang</a:t>
                      </a:r>
                      <a:r>
                        <a:rPr lang="en-US" sz="1600" kern="1200" dirty="0" smtClean="0">
                          <a:effectLst/>
                          <a:latin typeface="Times New Roman" pitchFamily="18" charset="0"/>
                          <a:cs typeface="Times New Roman" pitchFamily="18" charset="0"/>
                        </a:rPr>
                        <a:t> Han and </a:t>
                      </a:r>
                      <a:r>
                        <a:rPr lang="en-US" sz="1600" kern="1200" dirty="0" err="1" smtClean="0">
                          <a:effectLst/>
                          <a:latin typeface="Times New Roman" pitchFamily="18" charset="0"/>
                          <a:cs typeface="Times New Roman" pitchFamily="18" charset="0"/>
                        </a:rPr>
                        <a:t>Zhuotao</a:t>
                      </a:r>
                      <a:r>
                        <a:rPr lang="en-US" sz="1600" kern="1200" dirty="0" smtClean="0">
                          <a:effectLst/>
                          <a:latin typeface="Times New Roman" pitchFamily="18" charset="0"/>
                          <a:cs typeface="Times New Roman" pitchFamily="18" charset="0"/>
                        </a:rPr>
                        <a:t> Liu, “Understanding Internet DDoS Mitigation from Academic and Industrial Perspectives”, IEEE Access, Volume 6, 2018. </a:t>
                      </a:r>
                      <a:endParaRPr lang="en-IN" sz="1600" dirty="0">
                        <a:latin typeface="Times New Roman" pitchFamily="18" charset="0"/>
                        <a:cs typeface="Times New Roman" pitchFamily="18" charset="0"/>
                      </a:endParaRPr>
                    </a:p>
                  </a:txBody>
                  <a:tcPr/>
                </a:tc>
              </a:tr>
              <a:tr h="370840">
                <a:tc>
                  <a:txBody>
                    <a:bodyPr/>
                    <a:lstStyle/>
                    <a:p>
                      <a:r>
                        <a:rPr lang="en-US" sz="1600" kern="1200" dirty="0" smtClean="0">
                          <a:effectLst/>
                          <a:latin typeface="Times New Roman" pitchFamily="18" charset="0"/>
                          <a:cs typeface="Times New Roman" pitchFamily="18" charset="0"/>
                        </a:rPr>
                        <a:t>[2] </a:t>
                      </a:r>
                      <a:endParaRPr lang="en-IN" sz="1600" dirty="0">
                        <a:latin typeface="Times New Roman" pitchFamily="18" charset="0"/>
                        <a:cs typeface="Times New Roman" pitchFamily="18" charset="0"/>
                      </a:endParaRPr>
                    </a:p>
                  </a:txBody>
                  <a:tcPr/>
                </a:tc>
                <a:tc>
                  <a:txBody>
                    <a:bodyPr/>
                    <a:lstStyle/>
                    <a:p>
                      <a:r>
                        <a:rPr lang="en-US" sz="1600" kern="1200" dirty="0" smtClean="0">
                          <a:effectLst/>
                          <a:latin typeface="Times New Roman" pitchFamily="18" charset="0"/>
                          <a:cs typeface="Times New Roman" pitchFamily="18" charset="0"/>
                        </a:rPr>
                        <a:t>Luis A. Trejo, Victor </a:t>
                      </a:r>
                      <a:r>
                        <a:rPr lang="en-US" sz="1600" kern="1200" dirty="0" err="1" smtClean="0">
                          <a:effectLst/>
                          <a:latin typeface="Times New Roman" pitchFamily="18" charset="0"/>
                          <a:cs typeface="Times New Roman" pitchFamily="18" charset="0"/>
                        </a:rPr>
                        <a:t>Ferman</a:t>
                      </a:r>
                      <a:r>
                        <a:rPr lang="en-US" sz="1600" kern="1200" dirty="0" smtClean="0">
                          <a:effectLst/>
                          <a:latin typeface="Times New Roman" pitchFamily="18" charset="0"/>
                          <a:cs typeface="Times New Roman" pitchFamily="18" charset="0"/>
                        </a:rPr>
                        <a:t>, Miguel Angel Medina-</a:t>
                      </a:r>
                      <a:r>
                        <a:rPr lang="en-US" sz="1600" kern="1200" dirty="0" err="1" smtClean="0">
                          <a:effectLst/>
                          <a:latin typeface="Times New Roman" pitchFamily="18" charset="0"/>
                          <a:cs typeface="Times New Roman" pitchFamily="18" charset="0"/>
                        </a:rPr>
                        <a:t>pérez</a:t>
                      </a:r>
                      <a:r>
                        <a:rPr lang="en-US" sz="1600" kern="1200" dirty="0" smtClean="0">
                          <a:effectLst/>
                          <a:latin typeface="Times New Roman" pitchFamily="18" charset="0"/>
                          <a:cs typeface="Times New Roman" pitchFamily="18" charset="0"/>
                        </a:rPr>
                        <a:t>, Fernando Miguel Arredondo </a:t>
                      </a:r>
                      <a:r>
                        <a:rPr lang="en-US" sz="1600" kern="1200" dirty="0" err="1" smtClean="0">
                          <a:effectLst/>
                          <a:latin typeface="Times New Roman" pitchFamily="18" charset="0"/>
                          <a:cs typeface="Times New Roman" pitchFamily="18" charset="0"/>
                        </a:rPr>
                        <a:t>Giacinti</a:t>
                      </a:r>
                      <a:r>
                        <a:rPr lang="en-US" sz="1600" kern="1200" dirty="0" smtClean="0">
                          <a:effectLst/>
                          <a:latin typeface="Times New Roman" pitchFamily="18" charset="0"/>
                          <a:cs typeface="Times New Roman" pitchFamily="18" charset="0"/>
                        </a:rPr>
                        <a:t>, </a:t>
                      </a:r>
                      <a:r>
                        <a:rPr lang="en-US" sz="1600" kern="1200" dirty="0" err="1" smtClean="0">
                          <a:effectLst/>
                          <a:latin typeface="Times New Roman" pitchFamily="18" charset="0"/>
                          <a:cs typeface="Times New Roman" pitchFamily="18" charset="0"/>
                        </a:rPr>
                        <a:t>Raúl</a:t>
                      </a:r>
                      <a:r>
                        <a:rPr lang="en-US" sz="1600" kern="1200" dirty="0" smtClean="0">
                          <a:effectLst/>
                          <a:latin typeface="Times New Roman" pitchFamily="18" charset="0"/>
                          <a:cs typeface="Times New Roman" pitchFamily="18" charset="0"/>
                        </a:rPr>
                        <a:t> </a:t>
                      </a:r>
                      <a:r>
                        <a:rPr lang="en-US" sz="1600" kern="1200" dirty="0" err="1" smtClean="0">
                          <a:effectLst/>
                          <a:latin typeface="Times New Roman" pitchFamily="18" charset="0"/>
                          <a:cs typeface="Times New Roman" pitchFamily="18" charset="0"/>
                        </a:rPr>
                        <a:t>Monroy</a:t>
                      </a:r>
                      <a:r>
                        <a:rPr lang="en-US" sz="1600" kern="1200" dirty="0" smtClean="0">
                          <a:effectLst/>
                          <a:latin typeface="Times New Roman" pitchFamily="18" charset="0"/>
                          <a:cs typeface="Times New Roman" pitchFamily="18" charset="0"/>
                        </a:rPr>
                        <a:t>, And Jose E. Ramirez-</a:t>
                      </a:r>
                      <a:r>
                        <a:rPr lang="en-US" sz="1600" kern="1200" dirty="0" err="1" smtClean="0">
                          <a:effectLst/>
                          <a:latin typeface="Times New Roman" pitchFamily="18" charset="0"/>
                          <a:cs typeface="Times New Roman" pitchFamily="18" charset="0"/>
                        </a:rPr>
                        <a:t>marquez</a:t>
                      </a:r>
                      <a:r>
                        <a:rPr lang="en-US" sz="1600" kern="1200" dirty="0" smtClean="0">
                          <a:effectLst/>
                          <a:latin typeface="Times New Roman" pitchFamily="18" charset="0"/>
                          <a:cs typeface="Times New Roman" pitchFamily="18" charset="0"/>
                        </a:rPr>
                        <a:t>, “DNS-ADVP: A Machine Learning Anomaly Detection and Visual Platform to Protect Top-Level Domain Name Servers Against DDoS Attacks”, IEEE Access, VOLUME 7, 2019. </a:t>
                      </a:r>
                      <a:endParaRPr lang="en-IN" sz="1600" dirty="0">
                        <a:latin typeface="Times New Roman" pitchFamily="18" charset="0"/>
                        <a:cs typeface="Times New Roman" pitchFamily="18" charset="0"/>
                      </a:endParaRPr>
                    </a:p>
                  </a:txBody>
                  <a:tcPr/>
                </a:tc>
              </a:tr>
              <a:tr h="370840">
                <a:tc>
                  <a:txBody>
                    <a:bodyPr/>
                    <a:lstStyle/>
                    <a:p>
                      <a:r>
                        <a:rPr lang="en-US" sz="1600" kern="1200" dirty="0" smtClean="0">
                          <a:effectLst/>
                          <a:latin typeface="Times New Roman" pitchFamily="18" charset="0"/>
                          <a:cs typeface="Times New Roman" pitchFamily="18" charset="0"/>
                        </a:rPr>
                        <a:t>[3] </a:t>
                      </a:r>
                      <a:endParaRPr lang="en-IN" sz="1600" dirty="0">
                        <a:latin typeface="Times New Roman" pitchFamily="18" charset="0"/>
                        <a:cs typeface="Times New Roman" pitchFamily="18"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kern="1200" dirty="0" err="1" smtClean="0">
                          <a:effectLst/>
                          <a:latin typeface="Times New Roman" pitchFamily="18" charset="0"/>
                          <a:cs typeface="Times New Roman" pitchFamily="18" charset="0"/>
                        </a:rPr>
                        <a:t>Xuyang</a:t>
                      </a:r>
                      <a:r>
                        <a:rPr lang="en-US" sz="1600" kern="1200" dirty="0" smtClean="0">
                          <a:effectLst/>
                          <a:latin typeface="Times New Roman" pitchFamily="18" charset="0"/>
                          <a:cs typeface="Times New Roman" pitchFamily="18" charset="0"/>
                        </a:rPr>
                        <a:t> Jing, </a:t>
                      </a:r>
                      <a:r>
                        <a:rPr lang="en-US" sz="1600" kern="1200" dirty="0" err="1" smtClean="0">
                          <a:effectLst/>
                          <a:latin typeface="Times New Roman" pitchFamily="18" charset="0"/>
                          <a:cs typeface="Times New Roman" pitchFamily="18" charset="0"/>
                        </a:rPr>
                        <a:t>Zheng</a:t>
                      </a:r>
                      <a:r>
                        <a:rPr lang="en-US" sz="1600" kern="1200" dirty="0" smtClean="0">
                          <a:effectLst/>
                          <a:latin typeface="Times New Roman" pitchFamily="18" charset="0"/>
                          <a:cs typeface="Times New Roman" pitchFamily="18" charset="0"/>
                        </a:rPr>
                        <a:t> Yan and </a:t>
                      </a:r>
                      <a:r>
                        <a:rPr lang="en-US" sz="1600" kern="1200" dirty="0" err="1" smtClean="0">
                          <a:effectLst/>
                          <a:latin typeface="Times New Roman" pitchFamily="18" charset="0"/>
                          <a:cs typeface="Times New Roman" pitchFamily="18" charset="0"/>
                        </a:rPr>
                        <a:t>Witold</a:t>
                      </a:r>
                      <a:r>
                        <a:rPr lang="en-US" sz="1600" kern="1200" dirty="0" smtClean="0">
                          <a:effectLst/>
                          <a:latin typeface="Times New Roman" pitchFamily="18" charset="0"/>
                          <a:cs typeface="Times New Roman" pitchFamily="18" charset="0"/>
                        </a:rPr>
                        <a:t> </a:t>
                      </a:r>
                      <a:r>
                        <a:rPr lang="en-US" sz="1600" kern="1200" dirty="0" err="1" smtClean="0">
                          <a:effectLst/>
                          <a:latin typeface="Times New Roman" pitchFamily="18" charset="0"/>
                          <a:cs typeface="Times New Roman" pitchFamily="18" charset="0"/>
                        </a:rPr>
                        <a:t>Pedrycz</a:t>
                      </a:r>
                      <a:r>
                        <a:rPr lang="en-US" sz="1600" kern="1200" dirty="0" smtClean="0">
                          <a:effectLst/>
                          <a:latin typeface="Times New Roman" pitchFamily="18" charset="0"/>
                          <a:cs typeface="Times New Roman" pitchFamily="18" charset="0"/>
                        </a:rPr>
                        <a:t>, “Security Data Collection and Data Analytics in the Internet: A Survey”, IEEE Communications Surveys &amp; Tutorials, Vol. 21, No. 1, First Quarter 2019. </a:t>
                      </a:r>
                      <a:endParaRPr lang="en-IN" sz="1600" kern="1200" dirty="0" smtClean="0">
                        <a:effectLst/>
                        <a:latin typeface="Times New Roman" pitchFamily="18" charset="0"/>
                        <a:cs typeface="Times New Roman" pitchFamily="18" charset="0"/>
                      </a:endParaRPr>
                    </a:p>
                  </a:txBody>
                  <a:tcPr/>
                </a:tc>
              </a:tr>
              <a:tr h="1432560">
                <a:tc>
                  <a:txBody>
                    <a:bodyPr/>
                    <a:lstStyle/>
                    <a:p>
                      <a:r>
                        <a:rPr lang="en-US" sz="1600" kern="1200" dirty="0" smtClean="0">
                          <a:effectLst/>
                          <a:latin typeface="Times New Roman" pitchFamily="18" charset="0"/>
                          <a:cs typeface="Times New Roman" pitchFamily="18" charset="0"/>
                        </a:rPr>
                        <a:t>[4] </a:t>
                      </a:r>
                      <a:endParaRPr lang="en-IN" sz="1600" dirty="0">
                        <a:latin typeface="Times New Roman" pitchFamily="18" charset="0"/>
                        <a:cs typeface="Times New Roman" pitchFamily="18" charset="0"/>
                      </a:endParaRPr>
                    </a:p>
                  </a:txBody>
                  <a:tcPr/>
                </a:tc>
                <a:tc>
                  <a:txBody>
                    <a:bodyPr/>
                    <a:lstStyle/>
                    <a:p>
                      <a:r>
                        <a:rPr lang="en-US" sz="1600" kern="1200" dirty="0" err="1" smtClean="0">
                          <a:effectLst/>
                          <a:latin typeface="Times New Roman" pitchFamily="18" charset="0"/>
                          <a:cs typeface="Times New Roman" pitchFamily="18" charset="0"/>
                        </a:rPr>
                        <a:t>Qiao</a:t>
                      </a:r>
                      <a:r>
                        <a:rPr lang="en-US" sz="1600" kern="1200" dirty="0" smtClean="0">
                          <a:effectLst/>
                          <a:latin typeface="Times New Roman" pitchFamily="18" charset="0"/>
                          <a:cs typeface="Times New Roman" pitchFamily="18" charset="0"/>
                        </a:rPr>
                        <a:t> Yan, F. Richard Yu, Senior Member, IEEE, </a:t>
                      </a:r>
                      <a:r>
                        <a:rPr lang="en-US" sz="1600" kern="1200" dirty="0" err="1" smtClean="0">
                          <a:effectLst/>
                          <a:latin typeface="Times New Roman" pitchFamily="18" charset="0"/>
                          <a:cs typeface="Times New Roman" pitchFamily="18" charset="0"/>
                        </a:rPr>
                        <a:t>Qingxiang</a:t>
                      </a:r>
                      <a:r>
                        <a:rPr lang="en-US" sz="1600" kern="1200" dirty="0" smtClean="0">
                          <a:effectLst/>
                          <a:latin typeface="Times New Roman" pitchFamily="18" charset="0"/>
                          <a:cs typeface="Times New Roman" pitchFamily="18" charset="0"/>
                        </a:rPr>
                        <a:t> Gong, and </a:t>
                      </a:r>
                      <a:r>
                        <a:rPr lang="en-US" sz="1600" kern="1200" dirty="0" err="1" smtClean="0">
                          <a:effectLst/>
                          <a:latin typeface="Times New Roman" pitchFamily="18" charset="0"/>
                          <a:cs typeface="Times New Roman" pitchFamily="18" charset="0"/>
                        </a:rPr>
                        <a:t>Jianqiang</a:t>
                      </a:r>
                      <a:r>
                        <a:rPr lang="en-US" sz="1600" kern="1200" dirty="0" smtClean="0">
                          <a:effectLst/>
                          <a:latin typeface="Times New Roman" pitchFamily="18" charset="0"/>
                          <a:cs typeface="Times New Roman" pitchFamily="18" charset="0"/>
                        </a:rPr>
                        <a:t> Li, “Software-Defined Networking (SDN) and Distributed Denial of Service (DDoS) Attacks in Cloud Computing Environments: A Survey, Some Research Issues, and Challenges”, IEEE Communications Surveys &amp; Tutorials, Vol. 18, No. 1, First Quarter 2016. </a:t>
                      </a:r>
                      <a:endParaRPr lang="en-IN" sz="1600" dirty="0">
                        <a:latin typeface="Times New Roman" pitchFamily="18" charset="0"/>
                        <a:cs typeface="Times New Roman" pitchFamily="18" charset="0"/>
                      </a:endParaRPr>
                    </a:p>
                  </a:txBody>
                  <a:tcPr/>
                </a:tc>
              </a:tr>
              <a:tr h="370840">
                <a:tc>
                  <a:txBody>
                    <a:bodyPr/>
                    <a:lstStyle/>
                    <a:p>
                      <a:r>
                        <a:rPr lang="en-US" sz="1600" kern="1200" dirty="0" smtClean="0">
                          <a:solidFill>
                            <a:schemeClr val="tx1"/>
                          </a:solidFill>
                          <a:effectLst/>
                          <a:latin typeface="Times New Roman" pitchFamily="18" charset="0"/>
                          <a:ea typeface="+mn-ea"/>
                          <a:cs typeface="Times New Roman" pitchFamily="18" charset="0"/>
                        </a:rPr>
                        <a:t>[5] </a:t>
                      </a:r>
                      <a:endParaRPr lang="en-IN" sz="1600" dirty="0">
                        <a:latin typeface="Times New Roman" pitchFamily="18" charset="0"/>
                        <a:cs typeface="Times New Roman" pitchFamily="18" charset="0"/>
                      </a:endParaRPr>
                    </a:p>
                  </a:txBody>
                  <a:tcPr/>
                </a:tc>
                <a:tc>
                  <a:txBody>
                    <a:bodyPr/>
                    <a:lstStyle/>
                    <a:p>
                      <a:r>
                        <a:rPr lang="en-US" sz="1600" kern="1200" dirty="0" smtClean="0">
                          <a:solidFill>
                            <a:schemeClr val="tx1"/>
                          </a:solidFill>
                          <a:effectLst/>
                          <a:latin typeface="Times New Roman" pitchFamily="18" charset="0"/>
                          <a:ea typeface="+mn-ea"/>
                          <a:cs typeface="Times New Roman" pitchFamily="18" charset="0"/>
                        </a:rPr>
                        <a:t>Mohammad A. </a:t>
                      </a:r>
                      <a:r>
                        <a:rPr lang="en-US" sz="1600" kern="1200" dirty="0" err="1" smtClean="0">
                          <a:solidFill>
                            <a:schemeClr val="tx1"/>
                          </a:solidFill>
                          <a:effectLst/>
                          <a:latin typeface="Times New Roman" pitchFamily="18" charset="0"/>
                          <a:ea typeface="+mn-ea"/>
                          <a:cs typeface="Times New Roman" pitchFamily="18" charset="0"/>
                        </a:rPr>
                        <a:t>Aladaileh</a:t>
                      </a:r>
                      <a:r>
                        <a:rPr lang="en-US" sz="1600" kern="1200" dirty="0" smtClean="0">
                          <a:solidFill>
                            <a:schemeClr val="tx1"/>
                          </a:solidFill>
                          <a:effectLst/>
                          <a:latin typeface="Times New Roman" pitchFamily="18" charset="0"/>
                          <a:ea typeface="+mn-ea"/>
                          <a:cs typeface="Times New Roman" pitchFamily="18" charset="0"/>
                        </a:rPr>
                        <a:t> , Mohammed Anbar, </a:t>
                      </a:r>
                      <a:r>
                        <a:rPr lang="en-US" sz="1600" kern="1200" dirty="0" err="1" smtClean="0">
                          <a:solidFill>
                            <a:schemeClr val="tx1"/>
                          </a:solidFill>
                          <a:effectLst/>
                          <a:latin typeface="Times New Roman" pitchFamily="18" charset="0"/>
                          <a:ea typeface="+mn-ea"/>
                          <a:cs typeface="Times New Roman" pitchFamily="18" charset="0"/>
                        </a:rPr>
                        <a:t>Iznan</a:t>
                      </a:r>
                      <a:r>
                        <a:rPr lang="en-US" sz="1600" kern="1200" dirty="0" smtClean="0">
                          <a:solidFill>
                            <a:schemeClr val="tx1"/>
                          </a:solidFill>
                          <a:effectLst/>
                          <a:latin typeface="Times New Roman" pitchFamily="18" charset="0"/>
                          <a:ea typeface="+mn-ea"/>
                          <a:cs typeface="Times New Roman" pitchFamily="18" charset="0"/>
                        </a:rPr>
                        <a:t> H. </a:t>
                      </a:r>
                      <a:r>
                        <a:rPr lang="en-US" sz="1600" kern="1200" dirty="0" err="1" smtClean="0">
                          <a:solidFill>
                            <a:schemeClr val="tx1"/>
                          </a:solidFill>
                          <a:effectLst/>
                          <a:latin typeface="Times New Roman" pitchFamily="18" charset="0"/>
                          <a:ea typeface="+mn-ea"/>
                          <a:cs typeface="Times New Roman" pitchFamily="18" charset="0"/>
                        </a:rPr>
                        <a:t>Hasbullah</a:t>
                      </a:r>
                      <a:r>
                        <a:rPr lang="en-US" sz="1600" kern="1200" dirty="0" smtClean="0">
                          <a:solidFill>
                            <a:schemeClr val="tx1"/>
                          </a:solidFill>
                          <a:effectLst/>
                          <a:latin typeface="Times New Roman" pitchFamily="18" charset="0"/>
                          <a:ea typeface="+mn-ea"/>
                          <a:cs typeface="Times New Roman" pitchFamily="18" charset="0"/>
                        </a:rPr>
                        <a:t> , Yung-</a:t>
                      </a:r>
                      <a:r>
                        <a:rPr lang="en-US" sz="1600" kern="1200" dirty="0" err="1" smtClean="0">
                          <a:solidFill>
                            <a:schemeClr val="tx1"/>
                          </a:solidFill>
                          <a:effectLst/>
                          <a:latin typeface="Times New Roman" pitchFamily="18" charset="0"/>
                          <a:ea typeface="+mn-ea"/>
                          <a:cs typeface="Times New Roman" pitchFamily="18" charset="0"/>
                        </a:rPr>
                        <a:t>wey</a:t>
                      </a:r>
                      <a:r>
                        <a:rPr lang="en-US" sz="1600" kern="1200" dirty="0" smtClean="0">
                          <a:solidFill>
                            <a:schemeClr val="tx1"/>
                          </a:solidFill>
                          <a:effectLst/>
                          <a:latin typeface="Times New Roman" pitchFamily="18" charset="0"/>
                          <a:ea typeface="+mn-ea"/>
                          <a:cs typeface="Times New Roman" pitchFamily="18" charset="0"/>
                        </a:rPr>
                        <a:t> Chong, And </a:t>
                      </a:r>
                      <a:r>
                        <a:rPr lang="en-US" sz="1600" kern="1200" dirty="0" err="1" smtClean="0">
                          <a:solidFill>
                            <a:schemeClr val="tx1"/>
                          </a:solidFill>
                          <a:effectLst/>
                          <a:latin typeface="Times New Roman" pitchFamily="18" charset="0"/>
                          <a:ea typeface="+mn-ea"/>
                          <a:cs typeface="Times New Roman" pitchFamily="18" charset="0"/>
                        </a:rPr>
                        <a:t>Yousef</a:t>
                      </a:r>
                      <a:r>
                        <a:rPr lang="en-US" sz="1600" kern="1200" dirty="0" smtClean="0">
                          <a:solidFill>
                            <a:schemeClr val="tx1"/>
                          </a:solidFill>
                          <a:effectLst/>
                          <a:latin typeface="Times New Roman" pitchFamily="18" charset="0"/>
                          <a:ea typeface="+mn-ea"/>
                          <a:cs typeface="Times New Roman" pitchFamily="18" charset="0"/>
                        </a:rPr>
                        <a:t> K. </a:t>
                      </a:r>
                      <a:r>
                        <a:rPr lang="en-US" sz="1600" kern="1200" dirty="0" err="1" smtClean="0">
                          <a:solidFill>
                            <a:schemeClr val="tx1"/>
                          </a:solidFill>
                          <a:effectLst/>
                          <a:latin typeface="Times New Roman" pitchFamily="18" charset="0"/>
                          <a:ea typeface="+mn-ea"/>
                          <a:cs typeface="Times New Roman" pitchFamily="18" charset="0"/>
                        </a:rPr>
                        <a:t>Sanjalawe</a:t>
                      </a:r>
                      <a:r>
                        <a:rPr lang="en-US" sz="1600" kern="1200" dirty="0" smtClean="0">
                          <a:solidFill>
                            <a:schemeClr val="tx1"/>
                          </a:solidFill>
                          <a:effectLst/>
                          <a:latin typeface="Times New Roman" pitchFamily="18" charset="0"/>
                          <a:ea typeface="+mn-ea"/>
                          <a:cs typeface="Times New Roman" pitchFamily="18" charset="0"/>
                        </a:rPr>
                        <a:t>, “Detection Techniques of Distributed Denial of Service Attacks on Software-Defined Networking Controller–A Review”, IEEE Access, Volume 8, 2020. </a:t>
                      </a:r>
                      <a:endParaRPr lang="en-IN" sz="1600" dirty="0">
                        <a:latin typeface="Times New Roman" pitchFamily="18" charset="0"/>
                        <a:cs typeface="Times New Roman" pitchFamily="18" charset="0"/>
                      </a:endParaRPr>
                    </a:p>
                  </a:txBody>
                  <a:tcPr/>
                </a:tc>
              </a:tr>
            </a:tbl>
          </a:graphicData>
        </a:graphic>
      </p:graphicFrame>
      <p:sp>
        <p:nvSpPr>
          <p:cNvPr id="8" name="Footer Placeholder 3"/>
          <p:cNvSpPr>
            <a:spLocks noGrp="1"/>
          </p:cNvSpPr>
          <p:nvPr>
            <p:ph type="ftr" sz="quarter" idx="11"/>
          </p:nvPr>
        </p:nvSpPr>
        <p:spPr>
          <a:xfrm>
            <a:off x="3124200" y="6356350"/>
            <a:ext cx="2895600" cy="365125"/>
          </a:xfrm>
        </p:spPr>
        <p:txBody>
          <a:bodyPr/>
          <a:lstStyle/>
          <a:p>
            <a:r>
              <a:rPr lang="en-US"/>
              <a:t>DEPARTMENT OF COMPUTER SCIENCE AND ENGINEERING – CYBER SECURITY</a:t>
            </a:r>
            <a:endParaRPr lang="en-US" dirty="0"/>
          </a:p>
        </p:txBody>
      </p:sp>
      <p:sp>
        <p:nvSpPr>
          <p:cNvPr id="7" name="Date Placeholder 6">
            <a:extLst>
              <a:ext uri="{FF2B5EF4-FFF2-40B4-BE49-F238E27FC236}">
                <a16:creationId xmlns:a16="http://schemas.microsoft.com/office/drawing/2014/main" xmlns="" id="{1D03F99A-22FE-9CF3-8AAB-F18A29FEE39C}"/>
              </a:ext>
            </a:extLst>
          </p:cNvPr>
          <p:cNvSpPr>
            <a:spLocks noGrp="1"/>
          </p:cNvSpPr>
          <p:nvPr>
            <p:ph type="dt" sz="half" idx="10"/>
          </p:nvPr>
        </p:nvSpPr>
        <p:spPr/>
        <p:txBody>
          <a:bodyPr/>
          <a:lstStyle/>
          <a:p>
            <a:r>
              <a:rPr lang="en-US" dirty="0"/>
              <a:t>Date : </a:t>
            </a:r>
            <a:fld id="{2E6372FE-77B9-4B12-B26E-D1C8DD1BF2BD}" type="datetime1">
              <a:rPr lang="en-US" smtClean="0"/>
              <a:t>5/13/2024</a:t>
            </a:fld>
            <a:endParaRPr lang="en-US" dirty="0"/>
          </a:p>
        </p:txBody>
      </p:sp>
      <p:sp>
        <p:nvSpPr>
          <p:cNvPr id="9" name="Slide Number Placeholder 8">
            <a:extLst>
              <a:ext uri="{FF2B5EF4-FFF2-40B4-BE49-F238E27FC236}">
                <a16:creationId xmlns:a16="http://schemas.microsoft.com/office/drawing/2014/main" xmlns="" id="{F96ABCE9-BA59-8084-05E8-C3B9B33AE738}"/>
              </a:ext>
            </a:extLst>
          </p:cNvPr>
          <p:cNvSpPr>
            <a:spLocks noGrp="1"/>
          </p:cNvSpPr>
          <p:nvPr>
            <p:ph type="sldNum" sz="quarter" idx="12"/>
          </p:nvPr>
        </p:nvSpPr>
        <p:spPr/>
        <p:txBody>
          <a:bodyPr/>
          <a:lstStyle/>
          <a:p>
            <a:r>
              <a:rPr lang="en-US" dirty="0"/>
              <a:t>Slide Number: </a:t>
            </a:r>
            <a:fld id="{BECDEB80-DBCE-406A-80BF-FEBEE692EE79}" type="slidenum">
              <a:rPr lang="en-US" smtClean="0"/>
              <a:t>38</a:t>
            </a:fld>
            <a:endParaRPr lang="en-US" dirty="0"/>
          </a:p>
        </p:txBody>
      </p:sp>
    </p:spTree>
    <p:extLst>
      <p:ext uri="{BB962C8B-B14F-4D97-AF65-F5344CB8AC3E}">
        <p14:creationId xmlns:p14="http://schemas.microsoft.com/office/powerpoint/2010/main" val="75512857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715962"/>
          </a:xfrm>
        </p:spPr>
        <p:txBody>
          <a:bodyPr>
            <a:normAutofit fontScale="90000"/>
          </a:bodyPr>
          <a:lstStyle/>
          <a:p>
            <a:r>
              <a:rPr lang="en-US" b="1" dirty="0">
                <a:latin typeface="Times New Roman" panose="02020603050405020304" pitchFamily="18" charset="0"/>
                <a:cs typeface="Times New Roman" panose="02020603050405020304" pitchFamily="18" charset="0"/>
              </a:rPr>
              <a:t>References</a:t>
            </a:r>
          </a:p>
        </p:txBody>
      </p:sp>
      <p:sp>
        <p:nvSpPr>
          <p:cNvPr id="8" name="Footer Placeholder 3"/>
          <p:cNvSpPr>
            <a:spLocks noGrp="1"/>
          </p:cNvSpPr>
          <p:nvPr>
            <p:ph type="ftr" sz="quarter" idx="11"/>
          </p:nvPr>
        </p:nvSpPr>
        <p:spPr>
          <a:xfrm>
            <a:off x="3124200" y="6356350"/>
            <a:ext cx="2895600" cy="365125"/>
          </a:xfrm>
        </p:spPr>
        <p:txBody>
          <a:bodyPr/>
          <a:lstStyle/>
          <a:p>
            <a:r>
              <a:rPr lang="en-US"/>
              <a:t>DEPARTMENT OF COMPUTER SCIENCE AND ENGINEERING – CYBER SECURITY</a:t>
            </a:r>
            <a:endParaRPr lang="en-US" dirty="0"/>
          </a:p>
        </p:txBody>
      </p:sp>
      <p:sp>
        <p:nvSpPr>
          <p:cNvPr id="7" name="Date Placeholder 6">
            <a:extLst>
              <a:ext uri="{FF2B5EF4-FFF2-40B4-BE49-F238E27FC236}">
                <a16:creationId xmlns:a16="http://schemas.microsoft.com/office/drawing/2014/main" xmlns="" id="{1D03F99A-22FE-9CF3-8AAB-F18A29FEE39C}"/>
              </a:ext>
            </a:extLst>
          </p:cNvPr>
          <p:cNvSpPr>
            <a:spLocks noGrp="1"/>
          </p:cNvSpPr>
          <p:nvPr>
            <p:ph type="dt" sz="half" idx="10"/>
          </p:nvPr>
        </p:nvSpPr>
        <p:spPr/>
        <p:txBody>
          <a:bodyPr/>
          <a:lstStyle/>
          <a:p>
            <a:r>
              <a:rPr lang="en-US" dirty="0"/>
              <a:t>Date : </a:t>
            </a:r>
            <a:fld id="{2E6372FE-77B9-4B12-B26E-D1C8DD1BF2BD}" type="datetime1">
              <a:rPr lang="en-US" smtClean="0"/>
              <a:t>5/13/2024</a:t>
            </a:fld>
            <a:endParaRPr lang="en-US" dirty="0"/>
          </a:p>
        </p:txBody>
      </p:sp>
      <p:sp>
        <p:nvSpPr>
          <p:cNvPr id="9" name="Slide Number Placeholder 8">
            <a:extLst>
              <a:ext uri="{FF2B5EF4-FFF2-40B4-BE49-F238E27FC236}">
                <a16:creationId xmlns:a16="http://schemas.microsoft.com/office/drawing/2014/main" xmlns="" id="{F96ABCE9-BA59-8084-05E8-C3B9B33AE738}"/>
              </a:ext>
            </a:extLst>
          </p:cNvPr>
          <p:cNvSpPr>
            <a:spLocks noGrp="1"/>
          </p:cNvSpPr>
          <p:nvPr>
            <p:ph type="sldNum" sz="quarter" idx="12"/>
          </p:nvPr>
        </p:nvSpPr>
        <p:spPr/>
        <p:txBody>
          <a:bodyPr/>
          <a:lstStyle/>
          <a:p>
            <a:r>
              <a:rPr lang="en-US" dirty="0"/>
              <a:t>Slide Number: </a:t>
            </a:r>
            <a:fld id="{BECDEB80-DBCE-406A-80BF-FEBEE692EE79}" type="slidenum">
              <a:rPr lang="en-US" smtClean="0"/>
              <a:t>39</a:t>
            </a:fld>
            <a:endParaRPr lang="en-US" dirty="0"/>
          </a:p>
        </p:txBody>
      </p:sp>
      <p:graphicFrame>
        <p:nvGraphicFramePr>
          <p:cNvPr id="11" name="Content Placeholder 10"/>
          <p:cNvGraphicFramePr>
            <a:graphicFrameLocks noGrp="1"/>
          </p:cNvGraphicFramePr>
          <p:nvPr>
            <p:ph idx="1"/>
            <p:extLst>
              <p:ext uri="{D42A27DB-BD31-4B8C-83A1-F6EECF244321}">
                <p14:modId xmlns:p14="http://schemas.microsoft.com/office/powerpoint/2010/main" val="1867866138"/>
              </p:ext>
            </p:extLst>
          </p:nvPr>
        </p:nvGraphicFramePr>
        <p:xfrm>
          <a:off x="838200" y="1143000"/>
          <a:ext cx="7467600" cy="4602480"/>
        </p:xfrm>
        <a:graphic>
          <a:graphicData uri="http://schemas.openxmlformats.org/drawingml/2006/table">
            <a:tbl>
              <a:tblPr firstRow="1" bandRow="1">
                <a:tableStyleId>{2D5ABB26-0587-4C30-8999-92F81FD0307C}</a:tableStyleId>
              </a:tblPr>
              <a:tblGrid>
                <a:gridCol w="609600"/>
                <a:gridCol w="6858000"/>
              </a:tblGrid>
              <a:tr h="370840">
                <a:tc>
                  <a:txBody>
                    <a:bodyPr/>
                    <a:lstStyle/>
                    <a:p>
                      <a:r>
                        <a:rPr lang="en-US" sz="1600" dirty="0" smtClean="0"/>
                        <a:t>[6]</a:t>
                      </a:r>
                      <a:endParaRPr lang="en-IN" sz="1600" dirty="0">
                        <a:latin typeface="Times New Roman" pitchFamily="18" charset="0"/>
                        <a:cs typeface="Times New Roman" pitchFamily="18"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kern="1200" dirty="0" smtClean="0">
                          <a:effectLst/>
                        </a:rPr>
                        <a:t>Muhammad </a:t>
                      </a:r>
                      <a:r>
                        <a:rPr lang="en-US" sz="1600" kern="1200" dirty="0" err="1" smtClean="0">
                          <a:effectLst/>
                        </a:rPr>
                        <a:t>Faraz</a:t>
                      </a:r>
                      <a:r>
                        <a:rPr lang="en-US" sz="1600" kern="1200" dirty="0" smtClean="0">
                          <a:effectLst/>
                        </a:rPr>
                        <a:t> </a:t>
                      </a:r>
                      <a:r>
                        <a:rPr lang="en-US" sz="1600" kern="1200" dirty="0" err="1" smtClean="0">
                          <a:effectLst/>
                        </a:rPr>
                        <a:t>Hyder</a:t>
                      </a:r>
                      <a:r>
                        <a:rPr lang="en-US" sz="1600" kern="1200" dirty="0" smtClean="0">
                          <a:effectLst/>
                        </a:rPr>
                        <a:t> and </a:t>
                      </a:r>
                      <a:r>
                        <a:rPr lang="en-US" sz="1600" kern="1200" dirty="0" err="1" smtClean="0">
                          <a:effectLst/>
                        </a:rPr>
                        <a:t>Tasbiha</a:t>
                      </a:r>
                      <a:r>
                        <a:rPr lang="en-US" sz="1600" kern="1200" dirty="0" smtClean="0">
                          <a:effectLst/>
                        </a:rPr>
                        <a:t> Fatima, “Towards Crossfire Distributed Denial of Service Attack Protection Using Intent-Based Moving Target Defense Over Software-Defined Networking”, Digital Object 10.1109/ACCESS.2021.3103845 , IEEE Access, Volume 9, 2021.</a:t>
                      </a:r>
                      <a:endParaRPr lang="en-IN" sz="1600" b="1" kern="1200" dirty="0" smtClean="0">
                        <a:solidFill>
                          <a:schemeClr val="lt1"/>
                        </a:solidFill>
                        <a:effectLst/>
                        <a:latin typeface="Times New Roman" pitchFamily="18" charset="0"/>
                        <a:ea typeface="+mn-ea"/>
                        <a:cs typeface="Times New Roman" pitchFamily="18" charset="0"/>
                      </a:endParaRPr>
                    </a:p>
                  </a:txBody>
                  <a:tcPr/>
                </a:tc>
              </a:tr>
              <a:tr h="370840">
                <a:tc>
                  <a:txBody>
                    <a:bodyPr/>
                    <a:lstStyle/>
                    <a:p>
                      <a:r>
                        <a:rPr lang="en-US" sz="1600" dirty="0" smtClean="0"/>
                        <a:t>[7]</a:t>
                      </a:r>
                      <a:endParaRPr lang="en-IN" sz="1600" dirty="0">
                        <a:latin typeface="Times New Roman" pitchFamily="18" charset="0"/>
                        <a:cs typeface="Times New Roman" pitchFamily="18" charset="0"/>
                      </a:endParaRPr>
                    </a:p>
                  </a:txBody>
                  <a:tcPr/>
                </a:tc>
                <a:tc>
                  <a:txBody>
                    <a:bodyPr/>
                    <a:lstStyle/>
                    <a:p>
                      <a:r>
                        <a:rPr lang="en-US" sz="1600" kern="1200" dirty="0" err="1" smtClean="0">
                          <a:effectLst/>
                        </a:rPr>
                        <a:t>Marinos</a:t>
                      </a:r>
                      <a:r>
                        <a:rPr lang="en-US" sz="1600" kern="1200" dirty="0" smtClean="0">
                          <a:effectLst/>
                        </a:rPr>
                        <a:t> </a:t>
                      </a:r>
                      <a:r>
                        <a:rPr lang="en-US" sz="1600" kern="1200" dirty="0" err="1" smtClean="0">
                          <a:effectLst/>
                        </a:rPr>
                        <a:t>Dimolianis</a:t>
                      </a:r>
                      <a:r>
                        <a:rPr lang="en-US" sz="1600" kern="1200" dirty="0" smtClean="0">
                          <a:effectLst/>
                        </a:rPr>
                        <a:t>, Adam </a:t>
                      </a:r>
                      <a:r>
                        <a:rPr lang="en-US" sz="1600" kern="1200" dirty="0" err="1" smtClean="0">
                          <a:effectLst/>
                        </a:rPr>
                        <a:t>Pavlidis</a:t>
                      </a:r>
                      <a:r>
                        <a:rPr lang="en-US" sz="1600" kern="1200" dirty="0" smtClean="0">
                          <a:effectLst/>
                        </a:rPr>
                        <a:t> , and </a:t>
                      </a:r>
                      <a:r>
                        <a:rPr lang="en-US" sz="1600" kern="1200" dirty="0" err="1" smtClean="0">
                          <a:effectLst/>
                        </a:rPr>
                        <a:t>Vasilis</a:t>
                      </a:r>
                      <a:r>
                        <a:rPr lang="en-US" sz="1600" kern="1200" dirty="0" smtClean="0">
                          <a:effectLst/>
                        </a:rPr>
                        <a:t> </a:t>
                      </a:r>
                      <a:r>
                        <a:rPr lang="en-US" sz="1600" kern="1200" dirty="0" err="1" smtClean="0">
                          <a:effectLst/>
                        </a:rPr>
                        <a:t>Maglaris</a:t>
                      </a:r>
                      <a:r>
                        <a:rPr lang="en-US" sz="1600" kern="1200" dirty="0" smtClean="0">
                          <a:effectLst/>
                        </a:rPr>
                        <a:t>, “Signature-Based Traffic Classification and Mitigation for DDoS Attacks Using Programmable Network Data Planes”, IEEE ACCESS, Volume 9, 2021. </a:t>
                      </a:r>
                      <a:endParaRPr lang="en-IN" sz="1600" dirty="0">
                        <a:latin typeface="Times New Roman" pitchFamily="18" charset="0"/>
                        <a:cs typeface="Times New Roman" pitchFamily="18" charset="0"/>
                      </a:endParaRPr>
                    </a:p>
                  </a:txBody>
                  <a:tcPr/>
                </a:tc>
              </a:tr>
              <a:tr h="370840">
                <a:tc>
                  <a:txBody>
                    <a:bodyPr/>
                    <a:lstStyle/>
                    <a:p>
                      <a:r>
                        <a:rPr lang="en-US" sz="1600" dirty="0" smtClean="0"/>
                        <a:t>[8]</a:t>
                      </a:r>
                      <a:endParaRPr lang="en-IN" sz="1600" dirty="0">
                        <a:latin typeface="Times New Roman" pitchFamily="18" charset="0"/>
                        <a:cs typeface="Times New Roman" pitchFamily="18" charset="0"/>
                      </a:endParaRPr>
                    </a:p>
                  </a:txBody>
                  <a:tcPr/>
                </a:tc>
                <a:tc>
                  <a:txBody>
                    <a:bodyPr/>
                    <a:lstStyle/>
                    <a:p>
                      <a:r>
                        <a:rPr lang="en-US" sz="1600" kern="1200" dirty="0" err="1" smtClean="0">
                          <a:effectLst/>
                        </a:rPr>
                        <a:t>Nivedita</a:t>
                      </a:r>
                      <a:r>
                        <a:rPr lang="en-US" sz="1600" kern="1200" dirty="0" smtClean="0">
                          <a:effectLst/>
                        </a:rPr>
                        <a:t> Mishra and </a:t>
                      </a:r>
                      <a:r>
                        <a:rPr lang="en-US" sz="1600" kern="1200" dirty="0" err="1" smtClean="0">
                          <a:effectLst/>
                        </a:rPr>
                        <a:t>Sharnil</a:t>
                      </a:r>
                      <a:r>
                        <a:rPr lang="en-US" sz="1600" kern="1200" dirty="0" smtClean="0">
                          <a:effectLst/>
                        </a:rPr>
                        <a:t> </a:t>
                      </a:r>
                      <a:r>
                        <a:rPr lang="en-US" sz="1600" kern="1200" dirty="0" err="1" smtClean="0">
                          <a:effectLst/>
                        </a:rPr>
                        <a:t>Pandya</a:t>
                      </a:r>
                      <a:r>
                        <a:rPr lang="en-US" sz="1600" kern="1200" dirty="0" smtClean="0">
                          <a:effectLst/>
                        </a:rPr>
                        <a:t>, “Internet of Things Applications, Security Challenges, Attacks, Intrusion Detection, and Future Visions: A Systematic Review”, IEEE Access, Volume 8, 2021. </a:t>
                      </a:r>
                      <a:endParaRPr lang="en-IN" sz="1600" dirty="0">
                        <a:latin typeface="Times New Roman" pitchFamily="18" charset="0"/>
                        <a:cs typeface="Times New Roman" pitchFamily="18" charset="0"/>
                      </a:endParaRPr>
                    </a:p>
                  </a:txBody>
                  <a:tcPr/>
                </a:tc>
              </a:tr>
              <a:tr h="370840">
                <a:tc>
                  <a:txBody>
                    <a:bodyPr/>
                    <a:lstStyle/>
                    <a:p>
                      <a:r>
                        <a:rPr lang="en-US" sz="1600" dirty="0" smtClean="0"/>
                        <a:t>[9]</a:t>
                      </a:r>
                      <a:endParaRPr lang="en-IN" sz="1600" dirty="0">
                        <a:latin typeface="Times New Roman" pitchFamily="18" charset="0"/>
                        <a:cs typeface="Times New Roman" pitchFamily="18"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kern="1200" dirty="0" err="1" smtClean="0">
                          <a:effectLst/>
                        </a:rPr>
                        <a:t>Vinícius</a:t>
                      </a:r>
                      <a:r>
                        <a:rPr lang="en-US" sz="1600" kern="1200" dirty="0" smtClean="0">
                          <a:effectLst/>
                        </a:rPr>
                        <a:t> De Miranda Rios, Pedro R. M. </a:t>
                      </a:r>
                      <a:r>
                        <a:rPr lang="en-US" sz="1600" kern="1200" dirty="0" err="1" smtClean="0">
                          <a:effectLst/>
                        </a:rPr>
                        <a:t>Inácio</a:t>
                      </a:r>
                      <a:r>
                        <a:rPr lang="en-US" sz="1600" kern="1200" dirty="0" smtClean="0">
                          <a:effectLst/>
                        </a:rPr>
                        <a:t>, Damien </a:t>
                      </a:r>
                      <a:r>
                        <a:rPr lang="en-US" sz="1600" kern="1200" dirty="0" err="1" smtClean="0">
                          <a:effectLst/>
                        </a:rPr>
                        <a:t>Magoni</a:t>
                      </a:r>
                      <a:r>
                        <a:rPr lang="en-US" sz="1600" kern="1200" dirty="0" smtClean="0">
                          <a:effectLst/>
                        </a:rPr>
                        <a:t> and </a:t>
                      </a:r>
                      <a:r>
                        <a:rPr lang="en-US" sz="1600" kern="1200" dirty="0" err="1" smtClean="0">
                          <a:effectLst/>
                        </a:rPr>
                        <a:t>Mário</a:t>
                      </a:r>
                      <a:r>
                        <a:rPr lang="en-US" sz="1600" kern="1200" dirty="0" smtClean="0">
                          <a:effectLst/>
                        </a:rPr>
                        <a:t> M. </a:t>
                      </a:r>
                      <a:r>
                        <a:rPr lang="en-US" sz="1600" kern="1200" dirty="0" err="1" smtClean="0">
                          <a:effectLst/>
                        </a:rPr>
                        <a:t>Freire</a:t>
                      </a:r>
                      <a:r>
                        <a:rPr lang="en-US" sz="1600" kern="1200" dirty="0" smtClean="0">
                          <a:effectLst/>
                        </a:rPr>
                        <a:t>, “Detection and Mitigation of Low-Rate Denial-of-Service Attacks: A Survey”, IEEE ACCESS, Volume 10, 2022</a:t>
                      </a:r>
                      <a:endParaRPr lang="en-IN" sz="1600" kern="1200" dirty="0" smtClean="0">
                        <a:solidFill>
                          <a:schemeClr val="dk1"/>
                        </a:solidFill>
                        <a:effectLst/>
                        <a:latin typeface="Times New Roman" pitchFamily="18" charset="0"/>
                        <a:ea typeface="+mn-ea"/>
                        <a:cs typeface="Times New Roman" pitchFamily="18" charset="0"/>
                      </a:endParaRPr>
                    </a:p>
                  </a:txBody>
                  <a:tcPr/>
                </a:tc>
              </a:tr>
              <a:tr h="370840">
                <a:tc>
                  <a:txBody>
                    <a:bodyPr/>
                    <a:lstStyle/>
                    <a:p>
                      <a:r>
                        <a:rPr lang="en-US" sz="1600" dirty="0" smtClean="0"/>
                        <a:t>[10]</a:t>
                      </a:r>
                      <a:endParaRPr lang="en-IN" sz="1600" dirty="0">
                        <a:latin typeface="Times New Roman" pitchFamily="18" charset="0"/>
                        <a:cs typeface="Times New Roman" pitchFamily="18" charset="0"/>
                      </a:endParaRPr>
                    </a:p>
                  </a:txBody>
                  <a:tcPr/>
                </a:tc>
                <a:tc>
                  <a:txBody>
                    <a:bodyPr/>
                    <a:lstStyle/>
                    <a:p>
                      <a:r>
                        <a:rPr lang="en-US" sz="1600" kern="1200" dirty="0" err="1" smtClean="0">
                          <a:effectLst/>
                        </a:rPr>
                        <a:t>Matteo</a:t>
                      </a:r>
                      <a:r>
                        <a:rPr lang="en-US" sz="1600" kern="1200" dirty="0" smtClean="0">
                          <a:effectLst/>
                        </a:rPr>
                        <a:t> </a:t>
                      </a:r>
                      <a:r>
                        <a:rPr lang="en-US" sz="1600" kern="1200" dirty="0" err="1" smtClean="0">
                          <a:effectLst/>
                        </a:rPr>
                        <a:t>Repetto</a:t>
                      </a:r>
                      <a:r>
                        <a:rPr lang="en-US" sz="1600" kern="1200" dirty="0" smtClean="0">
                          <a:effectLst/>
                        </a:rPr>
                        <a:t> , </a:t>
                      </a:r>
                      <a:r>
                        <a:rPr lang="en-US" sz="1600" kern="1200" dirty="0" err="1" smtClean="0">
                          <a:effectLst/>
                        </a:rPr>
                        <a:t>Gianmarco</a:t>
                      </a:r>
                      <a:r>
                        <a:rPr lang="en-US" sz="1600" kern="1200" dirty="0" smtClean="0">
                          <a:effectLst/>
                        </a:rPr>
                        <a:t> Bruno , </a:t>
                      </a:r>
                      <a:r>
                        <a:rPr lang="en-US" sz="1600" kern="1200" dirty="0" err="1" smtClean="0">
                          <a:effectLst/>
                        </a:rPr>
                        <a:t>Jalolliddin</a:t>
                      </a:r>
                      <a:r>
                        <a:rPr lang="en-US" sz="1600" kern="1200" dirty="0" smtClean="0">
                          <a:effectLst/>
                        </a:rPr>
                        <a:t> </a:t>
                      </a:r>
                      <a:r>
                        <a:rPr lang="en-US" sz="1600" kern="1200" dirty="0" err="1" smtClean="0">
                          <a:effectLst/>
                        </a:rPr>
                        <a:t>Yusupov</a:t>
                      </a:r>
                      <a:r>
                        <a:rPr lang="en-US" sz="1600" kern="1200" dirty="0" smtClean="0">
                          <a:effectLst/>
                        </a:rPr>
                        <a:t> , </a:t>
                      </a:r>
                      <a:r>
                        <a:rPr lang="en-US" sz="1600" kern="1200" dirty="0" err="1" smtClean="0">
                          <a:effectLst/>
                        </a:rPr>
                        <a:t>Guerino</a:t>
                      </a:r>
                      <a:r>
                        <a:rPr lang="en-US" sz="1600" kern="1200" dirty="0" smtClean="0">
                          <a:effectLst/>
                        </a:rPr>
                        <a:t> </a:t>
                      </a:r>
                      <a:r>
                        <a:rPr lang="en-US" sz="1600" kern="1200" dirty="0" err="1" smtClean="0">
                          <a:effectLst/>
                        </a:rPr>
                        <a:t>Lamanna</a:t>
                      </a:r>
                      <a:r>
                        <a:rPr lang="en-US" sz="1600" kern="1200" dirty="0" smtClean="0">
                          <a:effectLst/>
                        </a:rPr>
                        <a:t> , Benjamin </a:t>
                      </a:r>
                      <a:r>
                        <a:rPr lang="en-US" sz="1600" kern="1200" dirty="0" err="1" smtClean="0">
                          <a:effectLst/>
                        </a:rPr>
                        <a:t>Ertl</a:t>
                      </a:r>
                      <a:r>
                        <a:rPr lang="en-US" sz="1600" kern="1200" dirty="0" smtClean="0">
                          <a:effectLst/>
                        </a:rPr>
                        <a:t> , and Alessandro </a:t>
                      </a:r>
                      <a:r>
                        <a:rPr lang="en-US" sz="1600" kern="1200" dirty="0" err="1" smtClean="0">
                          <a:effectLst/>
                        </a:rPr>
                        <a:t>Carrega</a:t>
                      </a:r>
                      <a:r>
                        <a:rPr lang="en-US" sz="1600" kern="1200" dirty="0" smtClean="0">
                          <a:effectLst/>
                        </a:rPr>
                        <a:t>, “Automating Mitigation of Amplification Attacks in NFV Services”, IEEE Transactions On Network And Service Management, Vol. 19, No. 3, September 2022.</a:t>
                      </a:r>
                      <a:endParaRPr lang="en-IN" sz="1600" dirty="0">
                        <a:latin typeface="Times New Roman" pitchFamily="18" charset="0"/>
                        <a:cs typeface="Times New Roman" pitchFamily="18" charset="0"/>
                      </a:endParaRPr>
                    </a:p>
                  </a:txBody>
                  <a:tcPr/>
                </a:tc>
              </a:tr>
            </a:tbl>
          </a:graphicData>
        </a:graphic>
      </p:graphicFrame>
    </p:spTree>
    <p:extLst>
      <p:ext uri="{BB962C8B-B14F-4D97-AF65-F5344CB8AC3E}">
        <p14:creationId xmlns:p14="http://schemas.microsoft.com/office/powerpoint/2010/main" val="280025057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26231"/>
            <a:ext cx="8229600" cy="715962"/>
          </a:xfrm>
        </p:spPr>
        <p:txBody>
          <a:bodyPr>
            <a:normAutofit fontScale="90000"/>
          </a:bodyPr>
          <a:lstStyle/>
          <a:p>
            <a:r>
              <a:rPr lang="en-US" b="1" dirty="0">
                <a:latin typeface="Times New Roman" panose="02020603050405020304" pitchFamily="18" charset="0"/>
                <a:cs typeface="Times New Roman" panose="02020603050405020304" pitchFamily="18" charset="0"/>
              </a:rPr>
              <a:t>References</a:t>
            </a:r>
          </a:p>
        </p:txBody>
      </p:sp>
      <p:sp>
        <p:nvSpPr>
          <p:cNvPr id="8" name="Footer Placeholder 3"/>
          <p:cNvSpPr>
            <a:spLocks noGrp="1"/>
          </p:cNvSpPr>
          <p:nvPr>
            <p:ph type="ftr" sz="quarter" idx="11"/>
          </p:nvPr>
        </p:nvSpPr>
        <p:spPr>
          <a:xfrm>
            <a:off x="3124200" y="6356350"/>
            <a:ext cx="2895600" cy="365125"/>
          </a:xfrm>
        </p:spPr>
        <p:txBody>
          <a:bodyPr/>
          <a:lstStyle/>
          <a:p>
            <a:r>
              <a:rPr lang="en-US"/>
              <a:t>DEPARTMENT OF COMPUTER SCIENCE AND ENGINEERING – CYBER SECURITY</a:t>
            </a:r>
            <a:endParaRPr lang="en-US" dirty="0"/>
          </a:p>
        </p:txBody>
      </p:sp>
      <p:sp>
        <p:nvSpPr>
          <p:cNvPr id="7" name="Date Placeholder 6">
            <a:extLst>
              <a:ext uri="{FF2B5EF4-FFF2-40B4-BE49-F238E27FC236}">
                <a16:creationId xmlns:a16="http://schemas.microsoft.com/office/drawing/2014/main" xmlns="" id="{1D03F99A-22FE-9CF3-8AAB-F18A29FEE39C}"/>
              </a:ext>
            </a:extLst>
          </p:cNvPr>
          <p:cNvSpPr>
            <a:spLocks noGrp="1"/>
          </p:cNvSpPr>
          <p:nvPr>
            <p:ph type="dt" sz="half" idx="10"/>
          </p:nvPr>
        </p:nvSpPr>
        <p:spPr/>
        <p:txBody>
          <a:bodyPr/>
          <a:lstStyle/>
          <a:p>
            <a:r>
              <a:rPr lang="en-US" dirty="0"/>
              <a:t>Date : </a:t>
            </a:r>
            <a:fld id="{2E6372FE-77B9-4B12-B26E-D1C8DD1BF2BD}" type="datetime1">
              <a:rPr lang="en-US" smtClean="0"/>
              <a:t>5/13/2024</a:t>
            </a:fld>
            <a:endParaRPr lang="en-US" dirty="0"/>
          </a:p>
        </p:txBody>
      </p:sp>
      <p:sp>
        <p:nvSpPr>
          <p:cNvPr id="9" name="Slide Number Placeholder 8">
            <a:extLst>
              <a:ext uri="{FF2B5EF4-FFF2-40B4-BE49-F238E27FC236}">
                <a16:creationId xmlns:a16="http://schemas.microsoft.com/office/drawing/2014/main" xmlns="" id="{F96ABCE9-BA59-8084-05E8-C3B9B33AE738}"/>
              </a:ext>
            </a:extLst>
          </p:cNvPr>
          <p:cNvSpPr>
            <a:spLocks noGrp="1"/>
          </p:cNvSpPr>
          <p:nvPr>
            <p:ph type="sldNum" sz="quarter" idx="12"/>
          </p:nvPr>
        </p:nvSpPr>
        <p:spPr/>
        <p:txBody>
          <a:bodyPr/>
          <a:lstStyle/>
          <a:p>
            <a:r>
              <a:rPr lang="en-US" dirty="0"/>
              <a:t>Slide Number: </a:t>
            </a:r>
            <a:fld id="{BECDEB80-DBCE-406A-80BF-FEBEE692EE79}" type="slidenum">
              <a:rPr lang="en-US" smtClean="0"/>
              <a:t>40</a:t>
            </a:fld>
            <a:endParaRPr lang="en-US" dirty="0"/>
          </a:p>
        </p:txBody>
      </p:sp>
      <p:graphicFrame>
        <p:nvGraphicFramePr>
          <p:cNvPr id="6" name="Content Placeholder 5"/>
          <p:cNvGraphicFramePr>
            <a:graphicFrameLocks noGrp="1"/>
          </p:cNvGraphicFramePr>
          <p:nvPr>
            <p:ph idx="1"/>
            <p:extLst>
              <p:ext uri="{D42A27DB-BD31-4B8C-83A1-F6EECF244321}">
                <p14:modId xmlns:p14="http://schemas.microsoft.com/office/powerpoint/2010/main" val="976671943"/>
              </p:ext>
            </p:extLst>
          </p:nvPr>
        </p:nvGraphicFramePr>
        <p:xfrm>
          <a:off x="533400" y="1219200"/>
          <a:ext cx="8229600" cy="4617720"/>
        </p:xfrm>
        <a:graphic>
          <a:graphicData uri="http://schemas.openxmlformats.org/drawingml/2006/table">
            <a:tbl>
              <a:tblPr firstRow="1" bandRow="1">
                <a:tableStyleId>{2D5ABB26-0587-4C30-8999-92F81FD0307C}</a:tableStyleId>
              </a:tblPr>
              <a:tblGrid>
                <a:gridCol w="685800"/>
                <a:gridCol w="7543800"/>
              </a:tblGrid>
              <a:tr h="370840">
                <a:tc>
                  <a:txBody>
                    <a:bodyPr/>
                    <a:lstStyle/>
                    <a:p>
                      <a:r>
                        <a:rPr lang="en-US" sz="1600" dirty="0" smtClean="0"/>
                        <a:t>[11]</a:t>
                      </a:r>
                      <a:endParaRPr lang="en-IN" sz="1600" dirty="0">
                        <a:latin typeface="Times New Roman" pitchFamily="18" charset="0"/>
                        <a:cs typeface="Times New Roman" pitchFamily="18" charset="0"/>
                      </a:endParaRPr>
                    </a:p>
                  </a:txBody>
                  <a:tcPr/>
                </a:tc>
                <a:tc>
                  <a:txBody>
                    <a:bodyPr/>
                    <a:lstStyle/>
                    <a:p>
                      <a:r>
                        <a:rPr lang="en-US" sz="1600" kern="1200" dirty="0" err="1" smtClean="0">
                          <a:effectLst/>
                        </a:rPr>
                        <a:t>Farag</a:t>
                      </a:r>
                      <a:r>
                        <a:rPr lang="en-US" sz="1600" kern="1200" dirty="0" smtClean="0">
                          <a:effectLst/>
                        </a:rPr>
                        <a:t> </a:t>
                      </a:r>
                      <a:r>
                        <a:rPr lang="en-US" sz="1600" kern="1200" dirty="0" err="1" smtClean="0">
                          <a:effectLst/>
                        </a:rPr>
                        <a:t>Azzedin</a:t>
                      </a:r>
                      <a:r>
                        <a:rPr lang="en-US" sz="1600" kern="1200" dirty="0" smtClean="0">
                          <a:effectLst/>
                        </a:rPr>
                        <a:t>, “Mitigating Denial of Service Attacks in RPL-Based IoT Environments: Trust-Based Approach”, IEEE Access, Volume 11, 2023. </a:t>
                      </a:r>
                      <a:endParaRPr lang="en-IN" sz="1600" dirty="0">
                        <a:latin typeface="Times New Roman" pitchFamily="18" charset="0"/>
                        <a:cs typeface="Times New Roman" pitchFamily="18" charset="0"/>
                      </a:endParaRPr>
                    </a:p>
                  </a:txBody>
                  <a:tcPr/>
                </a:tc>
              </a:tr>
              <a:tr h="370840">
                <a:tc>
                  <a:txBody>
                    <a:bodyPr/>
                    <a:lstStyle/>
                    <a:p>
                      <a:r>
                        <a:rPr lang="en-US" sz="1600" dirty="0" smtClean="0"/>
                        <a:t>[12]</a:t>
                      </a:r>
                      <a:endParaRPr lang="en-IN" sz="1600" dirty="0">
                        <a:latin typeface="Times New Roman" pitchFamily="18" charset="0"/>
                        <a:cs typeface="Times New Roman" pitchFamily="18" charset="0"/>
                      </a:endParaRPr>
                    </a:p>
                  </a:txBody>
                  <a:tcPr/>
                </a:tc>
                <a:tc>
                  <a:txBody>
                    <a:bodyPr/>
                    <a:lstStyle/>
                    <a:p>
                      <a:r>
                        <a:rPr lang="en-US" sz="1600" kern="1200" dirty="0" smtClean="0">
                          <a:effectLst/>
                        </a:rPr>
                        <a:t>R. </a:t>
                      </a:r>
                      <a:r>
                        <a:rPr lang="en-US" sz="1600" kern="1200" dirty="0" err="1" smtClean="0">
                          <a:effectLst/>
                        </a:rPr>
                        <a:t>Karthiga</a:t>
                      </a:r>
                      <a:r>
                        <a:rPr lang="en-US" sz="1600" kern="1200" dirty="0" smtClean="0">
                          <a:effectLst/>
                        </a:rPr>
                        <a:t>; Praveen Kumar E; S </a:t>
                      </a:r>
                      <a:r>
                        <a:rPr lang="en-US" sz="1600" kern="1200" dirty="0" err="1" smtClean="0">
                          <a:effectLst/>
                        </a:rPr>
                        <a:t>Kumari</a:t>
                      </a:r>
                      <a:r>
                        <a:rPr lang="en-US" sz="1600" kern="1200" dirty="0" smtClean="0">
                          <a:effectLst/>
                        </a:rPr>
                        <a:t>; Kala </a:t>
                      </a:r>
                      <a:r>
                        <a:rPr lang="en-US" sz="1600" kern="1200" dirty="0" err="1" smtClean="0">
                          <a:effectLst/>
                        </a:rPr>
                        <a:t>Priyadarshini</a:t>
                      </a:r>
                      <a:r>
                        <a:rPr lang="en-US" sz="1600" kern="1200" dirty="0" smtClean="0">
                          <a:effectLst/>
                        </a:rPr>
                        <a:t> G; V. </a:t>
                      </a:r>
                      <a:r>
                        <a:rPr lang="en-US" sz="1600" kern="1200" dirty="0" err="1" smtClean="0">
                          <a:effectLst/>
                        </a:rPr>
                        <a:t>Sureka</a:t>
                      </a:r>
                      <a:r>
                        <a:rPr lang="en-US" sz="1600" kern="1200" dirty="0" smtClean="0">
                          <a:effectLst/>
                        </a:rPr>
                        <a:t>; V </a:t>
                      </a:r>
                      <a:r>
                        <a:rPr lang="en-US" sz="1600" kern="1200" dirty="0" err="1" smtClean="0">
                          <a:effectLst/>
                        </a:rPr>
                        <a:t>Samuthira</a:t>
                      </a:r>
                      <a:r>
                        <a:rPr lang="en-US" sz="1600" kern="1200" dirty="0" smtClean="0">
                          <a:effectLst/>
                        </a:rPr>
                        <a:t> </a:t>
                      </a:r>
                      <a:r>
                        <a:rPr lang="en-US" sz="1600" kern="1200" dirty="0" err="1" smtClean="0">
                          <a:effectLst/>
                        </a:rPr>
                        <a:t>Pandi</a:t>
                      </a:r>
                      <a:r>
                        <a:rPr lang="en-US" sz="1600" kern="1200" dirty="0" smtClean="0">
                          <a:effectLst/>
                        </a:rPr>
                        <a:t>,”A Logical Cyber Security Enabled Methodology Design for Identifying Distributed Denial of Service Attacks Using Enhanced Learning Principles”, International Conference on Sustainable Communication Networks and Application(ICSCNA), 2023.</a:t>
                      </a:r>
                      <a:endParaRPr lang="en-IN" sz="1600" dirty="0">
                        <a:latin typeface="Times New Roman" pitchFamily="18" charset="0"/>
                        <a:cs typeface="Times New Roman" pitchFamily="18" charset="0"/>
                      </a:endParaRPr>
                    </a:p>
                  </a:txBody>
                  <a:tcPr/>
                </a:tc>
              </a:tr>
              <a:tr h="370840">
                <a:tc>
                  <a:txBody>
                    <a:bodyPr/>
                    <a:lstStyle/>
                    <a:p>
                      <a:r>
                        <a:rPr lang="en-US" sz="1600" dirty="0" smtClean="0"/>
                        <a:t>[13]</a:t>
                      </a:r>
                      <a:endParaRPr lang="en-IN" sz="1600" dirty="0">
                        <a:latin typeface="Times New Roman" pitchFamily="18" charset="0"/>
                        <a:cs typeface="Times New Roman" pitchFamily="18" charset="0"/>
                      </a:endParaRPr>
                    </a:p>
                  </a:txBody>
                  <a:tcPr/>
                </a:tc>
                <a:tc>
                  <a:txBody>
                    <a:bodyPr/>
                    <a:lstStyle/>
                    <a:p>
                      <a:r>
                        <a:rPr lang="en-US" sz="1600" kern="1200" dirty="0" smtClean="0">
                          <a:effectLst/>
                        </a:rPr>
                        <a:t>Mohammed Amine </a:t>
                      </a:r>
                      <a:r>
                        <a:rPr lang="en-US" sz="1600" kern="1200" dirty="0" err="1" smtClean="0">
                          <a:effectLst/>
                        </a:rPr>
                        <a:t>Boudouaia</a:t>
                      </a:r>
                      <a:r>
                        <a:rPr lang="en-US" sz="1600" kern="1200" dirty="0" smtClean="0">
                          <a:effectLst/>
                        </a:rPr>
                        <a:t>; </a:t>
                      </a:r>
                      <a:r>
                        <a:rPr lang="en-US" sz="1600" kern="1200" dirty="0" err="1" smtClean="0">
                          <a:effectLst/>
                        </a:rPr>
                        <a:t>Abdelhafid</a:t>
                      </a:r>
                      <a:r>
                        <a:rPr lang="en-US" sz="1600" kern="1200" dirty="0" smtClean="0">
                          <a:effectLst/>
                        </a:rPr>
                        <a:t> </a:t>
                      </a:r>
                      <a:r>
                        <a:rPr lang="en-US" sz="1600" kern="1200" dirty="0" err="1" smtClean="0">
                          <a:effectLst/>
                        </a:rPr>
                        <a:t>Abouaissa</a:t>
                      </a:r>
                      <a:r>
                        <a:rPr lang="en-US" sz="1600" kern="1200" dirty="0" smtClean="0">
                          <a:effectLst/>
                        </a:rPr>
                        <a:t>; </a:t>
                      </a:r>
                      <a:r>
                        <a:rPr lang="en-US" sz="1600" kern="1200" dirty="0" err="1" smtClean="0">
                          <a:effectLst/>
                        </a:rPr>
                        <a:t>Ayoub</a:t>
                      </a:r>
                      <a:r>
                        <a:rPr lang="en-US" sz="1600" kern="1200" dirty="0" smtClean="0">
                          <a:effectLst/>
                        </a:rPr>
                        <a:t> </a:t>
                      </a:r>
                      <a:r>
                        <a:rPr lang="en-US" sz="1600" kern="1200" dirty="0" err="1" smtClean="0">
                          <a:effectLst/>
                        </a:rPr>
                        <a:t>Benayache</a:t>
                      </a:r>
                      <a:r>
                        <a:rPr lang="en-US" sz="1600" kern="1200" dirty="0" smtClean="0">
                          <a:effectLst/>
                        </a:rPr>
                        <a:t>; Pascal Lorenz, “Divide and Conquer-based Attack against RPL Routing Protocol” , IEEE Global, 2021. </a:t>
                      </a:r>
                      <a:endParaRPr lang="en-IN" sz="1600" dirty="0">
                        <a:latin typeface="Times New Roman" pitchFamily="18" charset="0"/>
                        <a:cs typeface="Times New Roman" pitchFamily="18" charset="0"/>
                      </a:endParaRPr>
                    </a:p>
                  </a:txBody>
                  <a:tcPr/>
                </a:tc>
              </a:tr>
              <a:tr h="370840">
                <a:tc>
                  <a:txBody>
                    <a:bodyPr/>
                    <a:lstStyle/>
                    <a:p>
                      <a:r>
                        <a:rPr lang="en-US" sz="1600" dirty="0" smtClean="0"/>
                        <a:t>[14]</a:t>
                      </a:r>
                      <a:endParaRPr lang="en-IN" sz="1600" dirty="0">
                        <a:latin typeface="Times New Roman" pitchFamily="18" charset="0"/>
                        <a:cs typeface="Times New Roman" pitchFamily="18"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kern="1200" dirty="0" err="1" smtClean="0">
                          <a:effectLst/>
                        </a:rPr>
                        <a:t>Raveendranadh</a:t>
                      </a:r>
                      <a:r>
                        <a:rPr lang="en-US" sz="1600" kern="1200" dirty="0" smtClean="0">
                          <a:effectLst/>
                        </a:rPr>
                        <a:t> </a:t>
                      </a:r>
                      <a:r>
                        <a:rPr lang="en-US" sz="1600" kern="1200" dirty="0" err="1" smtClean="0">
                          <a:effectLst/>
                        </a:rPr>
                        <a:t>Bokka</a:t>
                      </a:r>
                      <a:r>
                        <a:rPr lang="en-US" sz="1600" kern="1200" dirty="0" smtClean="0">
                          <a:effectLst/>
                        </a:rPr>
                        <a:t>; </a:t>
                      </a:r>
                      <a:r>
                        <a:rPr lang="en-US" sz="1600" kern="1200" dirty="0" err="1" smtClean="0">
                          <a:effectLst/>
                        </a:rPr>
                        <a:t>Tamilselvan</a:t>
                      </a:r>
                      <a:r>
                        <a:rPr lang="en-US" sz="1600" kern="1200" dirty="0" smtClean="0">
                          <a:effectLst/>
                        </a:rPr>
                        <a:t> </a:t>
                      </a:r>
                      <a:r>
                        <a:rPr lang="en-US" sz="1600" kern="1200" dirty="0" err="1" smtClean="0">
                          <a:effectLst/>
                        </a:rPr>
                        <a:t>Sadasivam</a:t>
                      </a:r>
                      <a:r>
                        <a:rPr lang="en-US" sz="1600" kern="1200" dirty="0" smtClean="0">
                          <a:effectLst/>
                        </a:rPr>
                        <a:t>, “DIS flooding attack Impact on the Performance of RPL Based Internet of Things Networks: Analysis” , IEEE Access, 2021. </a:t>
                      </a:r>
                      <a:endParaRPr lang="en-IN" sz="1600" kern="1200" dirty="0" smtClean="0">
                        <a:solidFill>
                          <a:schemeClr val="dk1"/>
                        </a:solidFill>
                        <a:effectLst/>
                        <a:latin typeface="Times New Roman" pitchFamily="18" charset="0"/>
                        <a:ea typeface="+mn-ea"/>
                        <a:cs typeface="Times New Roman" pitchFamily="18" charset="0"/>
                      </a:endParaRPr>
                    </a:p>
                  </a:txBody>
                  <a:tcPr/>
                </a:tc>
              </a:tr>
              <a:tr h="370840">
                <a:tc>
                  <a:txBody>
                    <a:bodyPr/>
                    <a:lstStyle/>
                    <a:p>
                      <a:r>
                        <a:rPr lang="en-US" sz="1600" dirty="0" smtClean="0"/>
                        <a:t>[15]</a:t>
                      </a:r>
                      <a:endParaRPr lang="en-IN" sz="1600" dirty="0">
                        <a:latin typeface="Times New Roman" pitchFamily="18" charset="0"/>
                        <a:cs typeface="Times New Roman" pitchFamily="18"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1600" kern="1200" dirty="0" err="1" smtClean="0">
                          <a:effectLst/>
                        </a:rPr>
                        <a:t>Sonam</a:t>
                      </a:r>
                      <a:r>
                        <a:rPr lang="en-IN" sz="1600" kern="1200" dirty="0" smtClean="0">
                          <a:effectLst/>
                        </a:rPr>
                        <a:t> </a:t>
                      </a:r>
                      <a:r>
                        <a:rPr lang="en-IN" sz="1600" kern="1200" dirty="0" err="1" smtClean="0">
                          <a:effectLst/>
                        </a:rPr>
                        <a:t>Goyal</a:t>
                      </a:r>
                      <a:r>
                        <a:rPr lang="en-IN" sz="1600" kern="1200" dirty="0" smtClean="0">
                          <a:effectLst/>
                        </a:rPr>
                        <a:t>; </a:t>
                      </a:r>
                      <a:r>
                        <a:rPr lang="en-IN" sz="1600" kern="1200" dirty="0" err="1" smtClean="0">
                          <a:effectLst/>
                        </a:rPr>
                        <a:t>Trilok</a:t>
                      </a:r>
                      <a:r>
                        <a:rPr lang="en-IN" sz="1600" kern="1200" dirty="0" smtClean="0">
                          <a:effectLst/>
                        </a:rPr>
                        <a:t> Chand, “Improved Trickle Algorithm for Routing Protocol for Low Power and Lossy Networks”, IEEE Access, Volume 18, 2017. </a:t>
                      </a:r>
                      <a:endParaRPr lang="en-IN" sz="1600" kern="1200" dirty="0" smtClean="0">
                        <a:solidFill>
                          <a:schemeClr val="dk1"/>
                        </a:solidFill>
                        <a:effectLst/>
                        <a:latin typeface="Times New Roman" pitchFamily="18" charset="0"/>
                        <a:ea typeface="+mn-ea"/>
                        <a:cs typeface="Times New Roman" pitchFamily="18" charset="0"/>
                      </a:endParaRPr>
                    </a:p>
                  </a:txBody>
                  <a:tcPr/>
                </a:tc>
              </a:tr>
              <a:tr h="655320">
                <a:tc>
                  <a:txBody>
                    <a:bodyPr/>
                    <a:lstStyle/>
                    <a:p>
                      <a:r>
                        <a:rPr lang="en-US" sz="1600" dirty="0" smtClean="0"/>
                        <a:t>[16]</a:t>
                      </a:r>
                      <a:endParaRPr lang="en-IN" sz="1600" dirty="0">
                        <a:latin typeface="Times New Roman" pitchFamily="18" charset="0"/>
                        <a:cs typeface="Times New Roman" pitchFamily="18" charset="0"/>
                      </a:endParaRPr>
                    </a:p>
                  </a:txBody>
                  <a:tcPr/>
                </a:tc>
                <a:tc>
                  <a:txBody>
                    <a:bodyPr/>
                    <a:lstStyle/>
                    <a:p>
                      <a:r>
                        <a:rPr lang="en-IN" sz="1600" kern="1200" dirty="0" smtClean="0">
                          <a:effectLst/>
                        </a:rPr>
                        <a:t>Source URL: www2.deloitte.com/content/dam/Deloitte/de/Documents/risk</a:t>
                      </a:r>
                      <a:r>
                        <a:rPr lang="en-IN" sz="1600" u="sng" kern="1200" dirty="0" smtClean="0">
                          <a:effectLst/>
                          <a:hlinkClick r:id="rId2"/>
                        </a:rPr>
                        <a:t>/</a:t>
                      </a:r>
                      <a:r>
                        <a:rPr lang="en-IN" sz="1600" kern="1200" dirty="0" smtClean="0">
                          <a:effectLst/>
                        </a:rPr>
                        <a:t>Deloitte-DDoS-Cyber-Risk.pdf  accessed on 26/02/2024.</a:t>
                      </a:r>
                    </a:p>
                  </a:txBody>
                  <a:tcPr/>
                </a:tc>
              </a:tr>
              <a:tr h="370840">
                <a:tc>
                  <a:txBody>
                    <a:bodyPr/>
                    <a:lstStyle/>
                    <a:p>
                      <a:r>
                        <a:rPr lang="en-US" sz="1600" dirty="0" smtClean="0"/>
                        <a:t>[17]</a:t>
                      </a:r>
                      <a:endParaRPr lang="en-US" sz="1600" dirty="0" smtClean="0">
                        <a:latin typeface="Times New Roman" pitchFamily="18" charset="0"/>
                        <a:cs typeface="Times New Roman" pitchFamily="18"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1600" kern="1200" dirty="0" smtClean="0">
                          <a:effectLst/>
                        </a:rPr>
                        <a:t>Source URL: https://www.getastra.com/blog/security-audit/ddos-attack-statistics  accessed on 26/02/2024.</a:t>
                      </a:r>
                      <a:endParaRPr lang="en-IN" sz="1600" kern="1200" dirty="0" smtClean="0">
                        <a:solidFill>
                          <a:schemeClr val="dk1"/>
                        </a:solidFill>
                        <a:effectLst/>
                        <a:latin typeface="Times New Roman" pitchFamily="18" charset="0"/>
                        <a:ea typeface="+mn-ea"/>
                        <a:cs typeface="Times New Roman" pitchFamily="18" charset="0"/>
                      </a:endParaRPr>
                    </a:p>
                  </a:txBody>
                  <a:tcPr/>
                </a:tc>
              </a:tr>
            </a:tbl>
          </a:graphicData>
        </a:graphic>
      </p:graphicFrame>
    </p:spTree>
    <p:extLst>
      <p:ext uri="{BB962C8B-B14F-4D97-AF65-F5344CB8AC3E}">
        <p14:creationId xmlns:p14="http://schemas.microsoft.com/office/powerpoint/2010/main" val="168056041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449580" y="152400"/>
            <a:ext cx="8229600" cy="715962"/>
          </a:xfrm>
        </p:spPr>
        <p:txBody>
          <a:bodyPr>
            <a:normAutofit fontScale="90000"/>
          </a:bodyPr>
          <a:lstStyle/>
          <a:p>
            <a:r>
              <a:rPr lang="en-US" b="1" dirty="0" smtClean="0">
                <a:latin typeface="Times New Roman" panose="02020603050405020304" pitchFamily="18" charset="0"/>
                <a:cs typeface="Times New Roman" panose="02020603050405020304" pitchFamily="18" charset="0"/>
              </a:rPr>
              <a:t>Proof of Publication</a:t>
            </a:r>
            <a:endParaRPr lang="en-US" b="1" dirty="0">
              <a:latin typeface="Times New Roman" panose="02020603050405020304" pitchFamily="18" charset="0"/>
              <a:cs typeface="Times New Roman" panose="02020603050405020304" pitchFamily="18" charset="0"/>
            </a:endParaRP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0224" y="1295400"/>
            <a:ext cx="7503552" cy="3886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 name="Footer Placeholder 3"/>
          <p:cNvSpPr>
            <a:spLocks noGrp="1"/>
          </p:cNvSpPr>
          <p:nvPr>
            <p:ph type="ftr" sz="quarter" idx="11"/>
          </p:nvPr>
        </p:nvSpPr>
        <p:spPr>
          <a:xfrm>
            <a:off x="3124200" y="6356350"/>
            <a:ext cx="2895600" cy="365125"/>
          </a:xfrm>
        </p:spPr>
        <p:txBody>
          <a:bodyPr/>
          <a:lstStyle/>
          <a:p>
            <a:r>
              <a:rPr lang="en-US"/>
              <a:t>DEPARTMENT OF COMPUTER SCIENCE AND ENGINEERING – CYBER SECURITY</a:t>
            </a:r>
            <a:endParaRPr lang="en-US" dirty="0"/>
          </a:p>
        </p:txBody>
      </p:sp>
      <p:sp>
        <p:nvSpPr>
          <p:cNvPr id="6" name="Date Placeholder 5">
            <a:extLst>
              <a:ext uri="{FF2B5EF4-FFF2-40B4-BE49-F238E27FC236}">
                <a16:creationId xmlns:a16="http://schemas.microsoft.com/office/drawing/2014/main" xmlns="" id="{D4E1DEBB-22E4-989D-F839-CCD8D4BF15C2}"/>
              </a:ext>
            </a:extLst>
          </p:cNvPr>
          <p:cNvSpPr>
            <a:spLocks noGrp="1"/>
          </p:cNvSpPr>
          <p:nvPr>
            <p:ph type="dt" sz="half" idx="10"/>
          </p:nvPr>
        </p:nvSpPr>
        <p:spPr/>
        <p:txBody>
          <a:bodyPr/>
          <a:lstStyle/>
          <a:p>
            <a:r>
              <a:rPr lang="en-US" dirty="0"/>
              <a:t>Date : </a:t>
            </a:r>
            <a:fld id="{4968011C-BA93-421A-A117-B251DDBC3599}" type="datetime1">
              <a:rPr lang="en-US" smtClean="0"/>
              <a:t>5/13/2024</a:t>
            </a:fld>
            <a:endParaRPr lang="en-US" dirty="0"/>
          </a:p>
        </p:txBody>
      </p:sp>
      <p:sp>
        <p:nvSpPr>
          <p:cNvPr id="7" name="Slide Number Placeholder 6">
            <a:extLst>
              <a:ext uri="{FF2B5EF4-FFF2-40B4-BE49-F238E27FC236}">
                <a16:creationId xmlns:a16="http://schemas.microsoft.com/office/drawing/2014/main" xmlns="" id="{04A96657-25F7-D6B6-A3BF-ED3226FFB2F7}"/>
              </a:ext>
            </a:extLst>
          </p:cNvPr>
          <p:cNvSpPr>
            <a:spLocks noGrp="1"/>
          </p:cNvSpPr>
          <p:nvPr>
            <p:ph type="sldNum" sz="quarter" idx="12"/>
          </p:nvPr>
        </p:nvSpPr>
        <p:spPr/>
        <p:txBody>
          <a:bodyPr/>
          <a:lstStyle/>
          <a:p>
            <a:r>
              <a:rPr lang="en-US" dirty="0"/>
              <a:t>Slide Number: </a:t>
            </a:r>
            <a:fld id="{BECDEB80-DBCE-406A-80BF-FEBEE692EE79}" type="slidenum">
              <a:rPr lang="en-US" smtClean="0"/>
              <a:t>41</a:t>
            </a:fld>
            <a:endParaRPr lang="en-US" dirty="0"/>
          </a:p>
        </p:txBody>
      </p:sp>
    </p:spTree>
    <p:extLst>
      <p:ext uri="{BB962C8B-B14F-4D97-AF65-F5344CB8AC3E}">
        <p14:creationId xmlns:p14="http://schemas.microsoft.com/office/powerpoint/2010/main" val="246992643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449580" y="152400"/>
            <a:ext cx="8229600" cy="715962"/>
          </a:xfrm>
        </p:spPr>
        <p:txBody>
          <a:bodyPr>
            <a:normAutofit fontScale="90000"/>
          </a:bodyPr>
          <a:lstStyle/>
          <a:p>
            <a:r>
              <a:rPr lang="en-US" b="1" dirty="0">
                <a:latin typeface="Times New Roman" panose="02020603050405020304" pitchFamily="18" charset="0"/>
                <a:cs typeface="Times New Roman" panose="02020603050405020304" pitchFamily="18" charset="0"/>
              </a:rPr>
              <a:t>Proof of Publication</a:t>
            </a:r>
            <a:endParaRPr lang="en-US" b="1" dirty="0">
              <a:latin typeface="Times New Roman" panose="02020603050405020304" pitchFamily="18" charset="0"/>
              <a:cs typeface="Times New Roman" panose="02020603050405020304" pitchFamily="18" charset="0"/>
            </a:endParaRPr>
          </a:p>
        </p:txBody>
      </p:sp>
      <p:pic>
        <p:nvPicPr>
          <p:cNvPr id="8"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1782" y="1219200"/>
            <a:ext cx="7088036" cy="3733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Footer Placeholder 3"/>
          <p:cNvSpPr>
            <a:spLocks noGrp="1"/>
          </p:cNvSpPr>
          <p:nvPr>
            <p:ph type="ftr" sz="quarter" idx="11"/>
          </p:nvPr>
        </p:nvSpPr>
        <p:spPr>
          <a:xfrm>
            <a:off x="3124200" y="6356350"/>
            <a:ext cx="2895600" cy="365125"/>
          </a:xfrm>
        </p:spPr>
        <p:txBody>
          <a:bodyPr/>
          <a:lstStyle/>
          <a:p>
            <a:r>
              <a:rPr lang="en-US"/>
              <a:t>DEPARTMENT OF COMPUTER SCIENCE AND ENGINEERING – CYBER SECURITY</a:t>
            </a:r>
            <a:endParaRPr lang="en-US" dirty="0"/>
          </a:p>
        </p:txBody>
      </p:sp>
      <p:sp>
        <p:nvSpPr>
          <p:cNvPr id="6" name="Date Placeholder 5">
            <a:extLst>
              <a:ext uri="{FF2B5EF4-FFF2-40B4-BE49-F238E27FC236}">
                <a16:creationId xmlns:a16="http://schemas.microsoft.com/office/drawing/2014/main" xmlns="" id="{E34230D7-1946-E267-C487-A3D2A9884259}"/>
              </a:ext>
            </a:extLst>
          </p:cNvPr>
          <p:cNvSpPr>
            <a:spLocks noGrp="1"/>
          </p:cNvSpPr>
          <p:nvPr>
            <p:ph type="dt" sz="half" idx="10"/>
          </p:nvPr>
        </p:nvSpPr>
        <p:spPr/>
        <p:txBody>
          <a:bodyPr/>
          <a:lstStyle/>
          <a:p>
            <a:r>
              <a:rPr lang="en-US" dirty="0"/>
              <a:t>Date : </a:t>
            </a:r>
            <a:fld id="{959533BC-92E2-422E-A586-8CCBED5D8F22}" type="datetime1">
              <a:rPr lang="en-US" smtClean="0"/>
              <a:t>5/13/2024</a:t>
            </a:fld>
            <a:endParaRPr lang="en-US" dirty="0"/>
          </a:p>
        </p:txBody>
      </p:sp>
      <p:sp>
        <p:nvSpPr>
          <p:cNvPr id="7" name="Slide Number Placeholder 6">
            <a:extLst>
              <a:ext uri="{FF2B5EF4-FFF2-40B4-BE49-F238E27FC236}">
                <a16:creationId xmlns:a16="http://schemas.microsoft.com/office/drawing/2014/main" xmlns="" id="{68E35542-18BE-4BC3-B412-0FE8891F7B13}"/>
              </a:ext>
            </a:extLst>
          </p:cNvPr>
          <p:cNvSpPr>
            <a:spLocks noGrp="1"/>
          </p:cNvSpPr>
          <p:nvPr>
            <p:ph type="sldNum" sz="quarter" idx="12"/>
          </p:nvPr>
        </p:nvSpPr>
        <p:spPr/>
        <p:txBody>
          <a:bodyPr/>
          <a:lstStyle/>
          <a:p>
            <a:r>
              <a:rPr lang="en-US" dirty="0"/>
              <a:t>Slide Number: </a:t>
            </a:r>
            <a:fld id="{BECDEB80-DBCE-406A-80BF-FEBEE692EE79}" type="slidenum">
              <a:rPr lang="en-US" smtClean="0"/>
              <a:t>42</a:t>
            </a:fld>
            <a:endParaRPr lang="en-US" dirty="0"/>
          </a:p>
        </p:txBody>
      </p:sp>
    </p:spTree>
    <p:extLst>
      <p:ext uri="{BB962C8B-B14F-4D97-AF65-F5344CB8AC3E}">
        <p14:creationId xmlns:p14="http://schemas.microsoft.com/office/powerpoint/2010/main" val="81124135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Metadata/LabelInfo.xml><?xml version="1.0" encoding="utf-8"?>
<clbl:labelList xmlns:clbl="http://schemas.microsoft.com/office/2020/mipLabelMetadata">
  <clbl:label id="{aeec8b56-cf92-4f4e-ae60-9935f5ad962f}" enabled="1" method="Standard" siteId="{d5d2540f-f60a-45ad-86a9-e2e792ee6669}" contentBits="0" removed="0"/>
</clbl:labelList>
</file>

<file path=docProps/app.xml><?xml version="1.0" encoding="utf-8"?>
<Properties xmlns="http://schemas.openxmlformats.org/officeDocument/2006/extended-properties" xmlns:vt="http://schemas.openxmlformats.org/officeDocument/2006/docPropsVTypes">
  <TotalTime>4993</TotalTime>
  <Words>5102</Words>
  <Application>Microsoft Office PowerPoint</Application>
  <PresentationFormat>On-screen Show (4:3)</PresentationFormat>
  <Paragraphs>572</Paragraphs>
  <Slides>42</Slides>
  <Notes>0</Notes>
  <HiddenSlides>0</HiddenSlides>
  <MMClips>0</MMClips>
  <ScaleCrop>false</ScaleCrop>
  <HeadingPairs>
    <vt:vector size="4" baseType="variant">
      <vt:variant>
        <vt:lpstr>Theme</vt:lpstr>
      </vt:variant>
      <vt:variant>
        <vt:i4>1</vt:i4>
      </vt:variant>
      <vt:variant>
        <vt:lpstr>Slide Titles</vt:lpstr>
      </vt:variant>
      <vt:variant>
        <vt:i4>42</vt:i4>
      </vt:variant>
    </vt:vector>
  </HeadingPairs>
  <TitlesOfParts>
    <vt:vector size="43" baseType="lpstr">
      <vt:lpstr>Office Theme</vt:lpstr>
      <vt:lpstr>SRM INSTITUTE OF SCIENCE AND TECHNOLOGY Ramapuram, Chennai – 600 089 DEPARTMENT OF COMPUTER SCIENCE AND ENGINEERING – CYBER SECURITY</vt:lpstr>
      <vt:lpstr>Agenda</vt:lpstr>
      <vt:lpstr>Abstract</vt:lpstr>
      <vt:lpstr>Scope</vt:lpstr>
      <vt:lpstr>Motivation</vt:lpstr>
      <vt:lpstr>PowerPoint Presentation</vt:lpstr>
      <vt:lpstr>Introduction </vt:lpstr>
      <vt:lpstr>Literature Survey </vt:lpstr>
      <vt:lpstr>Literature Survey</vt:lpstr>
      <vt:lpstr>Literature Survey</vt:lpstr>
      <vt:lpstr>Literature Survey</vt:lpstr>
      <vt:lpstr>Literature Survey</vt:lpstr>
      <vt:lpstr>Objectives</vt:lpstr>
      <vt:lpstr>Problem Statement</vt:lpstr>
      <vt:lpstr>Proposed Work</vt:lpstr>
      <vt:lpstr>PowerPoint Presentation</vt:lpstr>
      <vt:lpstr>Modules </vt:lpstr>
      <vt:lpstr>PowerPoint Presentation</vt:lpstr>
      <vt:lpstr>PowerPoint Presentation</vt:lpstr>
      <vt:lpstr>PowerPoint Presentation</vt:lpstr>
      <vt:lpstr>PowerPoint Presentation</vt:lpstr>
      <vt:lpstr>PowerPoint Presentation</vt:lpstr>
      <vt:lpstr>PowerPoint Presentation</vt:lpstr>
      <vt:lpstr>Software &amp; Hardware Requirements</vt:lpstr>
      <vt:lpstr>Software &amp; Hardware Requirements</vt:lpstr>
      <vt:lpstr>Implementation</vt:lpstr>
      <vt:lpstr>Implementation</vt:lpstr>
      <vt:lpstr>Implementation</vt:lpstr>
      <vt:lpstr>Implementation</vt:lpstr>
      <vt:lpstr>Implementation</vt:lpstr>
      <vt:lpstr>Results and Discussion</vt:lpstr>
      <vt:lpstr>Results and Discussion</vt:lpstr>
      <vt:lpstr>Results and Discussion</vt:lpstr>
      <vt:lpstr>Results and Discussion</vt:lpstr>
      <vt:lpstr>Results and Discussion</vt:lpstr>
      <vt:lpstr>Conclusion</vt:lpstr>
      <vt:lpstr>Future Work</vt:lpstr>
      <vt:lpstr>References</vt:lpstr>
      <vt:lpstr>References</vt:lpstr>
      <vt:lpstr>References</vt:lpstr>
      <vt:lpstr>Proof of Publication</vt:lpstr>
      <vt:lpstr>Proof of Publication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SRM INSTITUTE OF SCIENCE AND TECHNOLOGY Ramapuram Campus , Chennai – 600 089 DEPARTMENT OF COMPUTER SCIENCE AND ENGINEERING</dc:title>
  <dc:creator>DELL</dc:creator>
  <cp:lastModifiedBy>HITESH</cp:lastModifiedBy>
  <cp:revision>84</cp:revision>
  <dcterms:created xsi:type="dcterms:W3CDTF">2023-07-26T03:49:14Z</dcterms:created>
  <dcterms:modified xsi:type="dcterms:W3CDTF">2024-05-13T13:25:01Z</dcterms:modified>
</cp:coreProperties>
</file>